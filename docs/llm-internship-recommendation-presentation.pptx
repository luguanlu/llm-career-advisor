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2"/>
  </p:handoutMasterIdLst>
  <p:sldIdLst>
    <p:sldId id="256" r:id="rId3"/>
    <p:sldId id="257" r:id="rId5"/>
    <p:sldId id="302" r:id="rId6"/>
    <p:sldId id="321" r:id="rId7"/>
    <p:sldId id="323" r:id="rId8"/>
    <p:sldId id="320" r:id="rId9"/>
    <p:sldId id="305" r:id="rId10"/>
    <p:sldId id="337" r:id="rId11"/>
    <p:sldId id="338" r:id="rId12"/>
    <p:sldId id="339" r:id="rId13"/>
    <p:sldId id="340" r:id="rId14"/>
    <p:sldId id="312" r:id="rId15"/>
    <p:sldId id="343" r:id="rId16"/>
    <p:sldId id="342" r:id="rId17"/>
    <p:sldId id="308" r:id="rId18"/>
    <p:sldId id="336" r:id="rId19"/>
    <p:sldId id="341" r:id="rId20"/>
    <p:sldId id="327" r:id="rId21"/>
    <p:sldId id="329" r:id="rId22"/>
    <p:sldId id="334" r:id="rId23"/>
    <p:sldId id="328" r:id="rId24"/>
    <p:sldId id="353" r:id="rId25"/>
    <p:sldId id="354" r:id="rId26"/>
    <p:sldId id="332" r:id="rId27"/>
    <p:sldId id="344" r:id="rId28"/>
    <p:sldId id="345" r:id="rId29"/>
    <p:sldId id="346" r:id="rId30"/>
    <p:sldId id="347" r:id="rId31"/>
    <p:sldId id="355" r:id="rId32"/>
    <p:sldId id="348" r:id="rId33"/>
    <p:sldId id="311" r:id="rId34"/>
    <p:sldId id="356" r:id="rId35"/>
    <p:sldId id="333" r:id="rId36"/>
    <p:sldId id="349" r:id="rId37"/>
    <p:sldId id="350" r:id="rId38"/>
    <p:sldId id="351" r:id="rId39"/>
    <p:sldId id="352" r:id="rId40"/>
    <p:sldId id="317" r:id="rId41"/>
  </p:sldIdLst>
  <p:sldSz cx="9144000" cy="5143500" type="screen16x9"/>
  <p:notesSz cx="6858000" cy="9144000"/>
  <p:custDataLst>
    <p:tags r:id="rId46"/>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 userDrawn="1">
          <p15:clr>
            <a:srgbClr val="A4A3A4"/>
          </p15:clr>
        </p15:guide>
        <p15:guide id="2" pos="2900" userDrawn="1">
          <p15:clr>
            <a:srgbClr val="A4A3A4"/>
          </p15:clr>
        </p15:guide>
        <p15:guide id="3" orient="horz" pos="2119" userDrawn="1">
          <p15:clr>
            <a:srgbClr val="A4A3A4"/>
          </p15:clr>
        </p15:guide>
        <p15:guide id="4" pos="125" userDrawn="1">
          <p15:clr>
            <a:srgbClr val="A4A3A4"/>
          </p15:clr>
        </p15:guide>
        <p15:guide id="5" pos="2059" userDrawn="1">
          <p15:clr>
            <a:srgbClr val="A4A3A4"/>
          </p15:clr>
        </p15:guide>
        <p15:guide id="6" orient="horz" pos="2703" userDrawn="1">
          <p15:clr>
            <a:srgbClr val="A4A3A4"/>
          </p15:clr>
        </p15:guide>
        <p15:guide id="7" pos="5677" userDrawn="1">
          <p15:clr>
            <a:srgbClr val="A4A3A4"/>
          </p15:clr>
        </p15:guide>
        <p15:guide id="8" orient="horz" pos="16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0" autoAdjust="0"/>
    <p:restoredTop sz="94280" autoAdjust="0"/>
  </p:normalViewPr>
  <p:slideViewPr>
    <p:cSldViewPr snapToGrid="0" showGuides="1">
      <p:cViewPr>
        <p:scale>
          <a:sx n="90" d="100"/>
          <a:sy n="90" d="100"/>
        </p:scale>
        <p:origin x="-840" y="-174"/>
      </p:cViewPr>
      <p:guideLst>
        <p:guide orient="horz" pos="24"/>
        <p:guide pos="2900"/>
        <p:guide orient="horz" pos="2119"/>
        <p:guide pos="125"/>
        <p:guide pos="2059"/>
        <p:guide orient="horz" pos="2703"/>
        <p:guide pos="5677"/>
        <p:guide orient="horz" pos="1622"/>
      </p:guideLst>
    </p:cSldViewPr>
  </p:slideViewPr>
  <p:notesTextViewPr>
    <p:cViewPr>
      <p:scale>
        <a:sx n="1" d="1"/>
        <a:sy n="1" d="1"/>
      </p:scale>
      <p:origin x="0" y="0"/>
    </p:cViewPr>
  </p:notesTextViewPr>
  <p:notesViewPr>
    <p:cSldViewPr snapToGrid="0">
      <p:cViewPr varScale="1">
        <p:scale>
          <a:sx n="65" d="100"/>
          <a:sy n="65" d="100"/>
        </p:scale>
        <p:origin x="2174" y="4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98885A-1B81-4E7F-B793-12A31F916A3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B0C853-DC6C-4924-B1F2-08CE44BD350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77FC2F-FDF9-4A3A-8E00-C9FCC9B036D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6C439-5B31-42A4-9D65-F2D199E8886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Picture Placeholder 7"/>
          <p:cNvSpPr>
            <a:spLocks noGrp="1"/>
          </p:cNvSpPr>
          <p:nvPr>
            <p:ph type="pic" sz="quarter" idx="15"/>
          </p:nvPr>
        </p:nvSpPr>
        <p:spPr>
          <a:xfrm>
            <a:off x="6947804" y="2440221"/>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947805" y="1232722"/>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Picture Placeholder 7"/>
          <p:cNvSpPr>
            <a:spLocks noGrp="1"/>
          </p:cNvSpPr>
          <p:nvPr>
            <p:ph type="pic" sz="quarter" idx="17"/>
          </p:nvPr>
        </p:nvSpPr>
        <p:spPr>
          <a:xfrm>
            <a:off x="4816928" y="1232722"/>
            <a:ext cx="2000251" cy="24051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4816928" y="3759568"/>
            <a:ext cx="2000251" cy="10858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7" name="Picture Placeholder 7"/>
          <p:cNvSpPr>
            <a:spLocks noGrp="1"/>
          </p:cNvSpPr>
          <p:nvPr>
            <p:ph type="pic" sz="quarter" idx="17"/>
          </p:nvPr>
        </p:nvSpPr>
        <p:spPr>
          <a:xfrm>
            <a:off x="134396" y="921223"/>
            <a:ext cx="2980593" cy="2022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3114989" y="921223"/>
            <a:ext cx="5894615" cy="20229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4" name="Picture Placeholder 7"/>
          <p:cNvSpPr>
            <a:spLocks noGrp="1"/>
          </p:cNvSpPr>
          <p:nvPr>
            <p:ph type="pic" sz="quarter" idx="14"/>
          </p:nvPr>
        </p:nvSpPr>
        <p:spPr>
          <a:xfrm>
            <a:off x="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Picture Placeholder 7"/>
          <p:cNvSpPr>
            <a:spLocks noGrp="1"/>
          </p:cNvSpPr>
          <p:nvPr>
            <p:ph type="pic" sz="quarter" idx="15"/>
          </p:nvPr>
        </p:nvSpPr>
        <p:spPr>
          <a:xfrm>
            <a:off x="307848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6"/>
          </p:nvPr>
        </p:nvSpPr>
        <p:spPr>
          <a:xfrm>
            <a:off x="6156960" y="1388880"/>
            <a:ext cx="2987040" cy="1650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矩形 6"/>
          <p:cNvSpPr/>
          <p:nvPr userDrawn="1"/>
        </p:nvSpPr>
        <p:spPr>
          <a:xfrm>
            <a:off x="0" y="3168309"/>
            <a:ext cx="2987040" cy="15398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3078480" y="3168310"/>
            <a:ext cx="2987040" cy="15398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156959" y="3168309"/>
            <a:ext cx="2987040" cy="15398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6" name="Picture Placeholder 7"/>
          <p:cNvSpPr>
            <a:spLocks noGrp="1"/>
          </p:cNvSpPr>
          <p:nvPr>
            <p:ph type="pic" sz="quarter" idx="16"/>
          </p:nvPr>
        </p:nvSpPr>
        <p:spPr>
          <a:xfrm>
            <a:off x="188941"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8" name="Picture Placeholder 7"/>
          <p:cNvSpPr>
            <a:spLocks noGrp="1"/>
          </p:cNvSpPr>
          <p:nvPr>
            <p:ph type="pic" sz="quarter" idx="18"/>
          </p:nvPr>
        </p:nvSpPr>
        <p:spPr>
          <a:xfrm>
            <a:off x="188942"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9"/>
          </p:nvPr>
        </p:nvSpPr>
        <p:spPr>
          <a:xfrm>
            <a:off x="4658304" y="3071520"/>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0" name="Picture Placeholder 7"/>
          <p:cNvSpPr>
            <a:spLocks noGrp="1"/>
          </p:cNvSpPr>
          <p:nvPr>
            <p:ph type="pic" sz="quarter" idx="20"/>
          </p:nvPr>
        </p:nvSpPr>
        <p:spPr>
          <a:xfrm>
            <a:off x="4658305" y="1466655"/>
            <a:ext cx="2227684" cy="14210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2537924"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2537924"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7028278" y="1466655"/>
            <a:ext cx="1978090" cy="1421081"/>
          </a:xfrm>
          <a:prstGeom prst="rect">
            <a:avLst/>
          </a:prstGeom>
          <a:solidFill>
            <a:schemeClr val="accent2"/>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7028278" y="3071520"/>
            <a:ext cx="1978090" cy="1421081"/>
          </a:xfrm>
          <a:prstGeom prst="rect">
            <a:avLst/>
          </a:prstGeom>
          <a:solidFill>
            <a:schemeClr val="accent3"/>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Date Placeholder 4"/>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Date Placeholder 6"/>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E9D91E25-9CE8-4AFD-B4D8-4BFE903D8E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CBECEF1-1935-4692-9C86-5FD89D9EDF4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9D91E25-9CE8-4AFD-B4D8-4BFE903D8EB4}" type="datetimeFigureOut">
              <a:rPr lang="zh-CN" altLang="en-US" smtClean="0"/>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ACBECEF1-1935-4692-9C86-5FD89D9EDF4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矩形 2"/>
          <p:cNvSpPr/>
          <p:nvPr/>
        </p:nvSpPr>
        <p:spPr>
          <a:xfrm>
            <a:off x="2514006" y="-50165"/>
            <a:ext cx="3755938" cy="51435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691119"/>
            <a:ext cx="8587946" cy="3767051"/>
          </a:xfrm>
          <a:prstGeom prst="rect">
            <a:avLst/>
          </a:prstGeom>
          <a:solidFill>
            <a:schemeClr val="bg1"/>
          </a:solidFill>
          <a:ln w="19050">
            <a:solidFill>
              <a:schemeClr val="bg1">
                <a:lumMod val="85000"/>
              </a:schemeClr>
            </a:solid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402365" y="2034713"/>
            <a:ext cx="7979195" cy="1295062"/>
          </a:xfrm>
          <a:prstGeom prst="rect">
            <a:avLst/>
          </a:prstGeom>
          <a:noFill/>
          <a:ln>
            <a:noFill/>
          </a:ln>
        </p:spPr>
        <p:txBody>
          <a:bodyPr wrap="square">
            <a:no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2600" b="1" smtClean="0">
                <a:solidFill>
                  <a:srgbClr val="212834"/>
                </a:solidFill>
                <a:latin typeface="+mj-ea"/>
                <a:ea typeface="+mj-ea"/>
                <a:sym typeface="Calibri" panose="020F0502020204030204" pitchFamily="34" charset="0"/>
              </a:rPr>
              <a:t>Fine-tuning a LLM Internship Recommendation Explanation and Skill Gap Analysis for Statistics-related jobs</a:t>
            </a:r>
            <a:endParaRPr lang="zh-CN" altLang="en-US">
              <a:latin typeface="+mj-ea"/>
              <a:ea typeface="+mj-ea"/>
              <a:sym typeface="Calibri" panose="020F0502020204030204" pitchFamily="34" charset="0"/>
            </a:endParaRPr>
          </a:p>
        </p:txBody>
      </p:sp>
      <p:cxnSp>
        <p:nvCxnSpPr>
          <p:cNvPr id="65" name="直接连接符 64"/>
          <p:cNvCxnSpPr/>
          <p:nvPr/>
        </p:nvCxnSpPr>
        <p:spPr>
          <a:xfrm>
            <a:off x="661875" y="3443303"/>
            <a:ext cx="750056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8" name="文本框 6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68816" y="3497142"/>
            <a:ext cx="8468009" cy="737235"/>
          </a:xfrm>
          <a:prstGeom prst="rect">
            <a:avLst/>
          </a:prstGeom>
          <a:noFill/>
          <a:ln>
            <a:noFill/>
          </a:ln>
        </p:spPr>
        <p:txBody>
          <a:bodyPr wrap="square">
            <a:no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zh-CN" altLang="en-US" sz="1400" smtClean="0">
                <a:solidFill>
                  <a:srgbClr val="212834"/>
                </a:solidFill>
                <a:latin typeface="黑体" panose="02010609060101010101" charset="-122"/>
                <a:ea typeface="黑体" panose="02010609060101010101" charset="-122"/>
                <a:sym typeface="Calibri" panose="020F0502020204030204" pitchFamily="34" charset="0"/>
              </a:rPr>
              <a:t>   ● 小组成员：</a:t>
            </a:r>
            <a:r>
              <a:rPr lang="zh-CN" altLang="en-US" sz="1400" smtClean="0">
                <a:solidFill>
                  <a:srgbClr val="212834"/>
                </a:solidFill>
                <a:latin typeface="黑体" panose="02010609060101010101" charset="-122"/>
                <a:ea typeface="黑体" panose="02010609060101010101" charset="-122"/>
                <a:sym typeface="Calibri" panose="020F0502020204030204" pitchFamily="34" charset="0"/>
              </a:rPr>
              <a:t>吴炎彤</a:t>
            </a:r>
            <a:r>
              <a:rPr lang="en-US" altLang="zh-CN" sz="1400" smtClean="0">
                <a:solidFill>
                  <a:srgbClr val="212834"/>
                </a:solidFill>
                <a:latin typeface="黑体" panose="02010609060101010101" charset="-122"/>
                <a:ea typeface="黑体" panose="02010609060101010101" charset="-122"/>
                <a:sym typeface="Calibri" panose="020F0502020204030204" pitchFamily="34" charset="0"/>
              </a:rPr>
              <a:t>,</a:t>
            </a:r>
            <a:r>
              <a:rPr lang="zh-CN" altLang="en-US" sz="1400" smtClean="0">
                <a:solidFill>
                  <a:srgbClr val="212834"/>
                </a:solidFill>
                <a:latin typeface="黑体" panose="02010609060101010101" charset="-122"/>
                <a:ea typeface="黑体" panose="02010609060101010101" charset="-122"/>
                <a:sym typeface="Calibri" panose="020F0502020204030204" pitchFamily="34" charset="0"/>
              </a:rPr>
              <a:t>陈泳伶</a:t>
            </a:r>
            <a:r>
              <a:rPr lang="en-US" altLang="zh-CN" sz="1400" smtClean="0">
                <a:solidFill>
                  <a:srgbClr val="212834"/>
                </a:solidFill>
                <a:latin typeface="黑体" panose="02010609060101010101" charset="-122"/>
                <a:ea typeface="黑体" panose="02010609060101010101" charset="-122"/>
                <a:sym typeface="Calibri" panose="020F0502020204030204" pitchFamily="34" charset="0"/>
              </a:rPr>
              <a:t>,</a:t>
            </a:r>
            <a:r>
              <a:rPr lang="zh-CN" altLang="en-US" sz="1400" smtClean="0">
                <a:solidFill>
                  <a:srgbClr val="212834"/>
                </a:solidFill>
                <a:latin typeface="黑体" panose="02010609060101010101" charset="-122"/>
                <a:ea typeface="黑体" panose="02010609060101010101" charset="-122"/>
                <a:sym typeface="Calibri" panose="020F0502020204030204" pitchFamily="34" charset="0"/>
              </a:rPr>
              <a:t>陆冠行</a:t>
            </a:r>
            <a:r>
              <a:rPr lang="en-US" altLang="zh-CN" sz="1400" smtClean="0">
                <a:solidFill>
                  <a:srgbClr val="212834"/>
                </a:solidFill>
                <a:latin typeface="黑体" panose="02010609060101010101" charset="-122"/>
                <a:ea typeface="黑体" panose="02010609060101010101" charset="-122"/>
                <a:sym typeface="Calibri" panose="020F0502020204030204" pitchFamily="34" charset="0"/>
              </a:rPr>
              <a:t>,</a:t>
            </a:r>
            <a:r>
              <a:rPr lang="zh-CN" altLang="en-US" sz="1400" smtClean="0">
                <a:solidFill>
                  <a:srgbClr val="212834"/>
                </a:solidFill>
                <a:latin typeface="黑体" panose="02010609060101010101" charset="-122"/>
                <a:ea typeface="黑体" panose="02010609060101010101" charset="-122"/>
                <a:sym typeface="Calibri" panose="020F0502020204030204" pitchFamily="34" charset="0"/>
              </a:rPr>
              <a:t>李明泽</a:t>
            </a:r>
            <a:endParaRPr lang="zh-CN" altLang="en-US" sz="1400" smtClean="0">
              <a:solidFill>
                <a:srgbClr val="212834"/>
              </a:solidFill>
              <a:latin typeface="黑体" panose="02010609060101010101" charset="-122"/>
              <a:ea typeface="黑体" panose="02010609060101010101" charset="-122"/>
              <a:sym typeface="Calibri" panose="020F0502020204030204" pitchFamily="34" charset="0"/>
            </a:endParaRPr>
          </a:p>
          <a:p>
            <a:pPr algn="ctr" defTabSz="514350" fontAlgn="base">
              <a:spcBef>
                <a:spcPct val="0"/>
              </a:spcBef>
              <a:spcAft>
                <a:spcPct val="0"/>
              </a:spcAft>
              <a:tabLst>
                <a:tab pos="2149475" algn="l"/>
              </a:tabLst>
            </a:pPr>
            <a:endParaRPr lang="zh-CN" altLang="en-US" sz="1400" smtClean="0">
              <a:solidFill>
                <a:srgbClr val="212834"/>
              </a:solidFill>
              <a:latin typeface="黑体" panose="02010609060101010101" charset="-122"/>
              <a:ea typeface="黑体" panose="02010609060101010101" charset="-122"/>
              <a:sym typeface="Calibri" panose="020F0502020204030204" pitchFamily="34" charset="0"/>
            </a:endParaRPr>
          </a:p>
        </p:txBody>
      </p:sp>
      <p:grpSp>
        <p:nvGrpSpPr>
          <p:cNvPr id="21" name="组合 20"/>
          <p:cNvGrpSpPr/>
          <p:nvPr/>
        </p:nvGrpSpPr>
        <p:grpSpPr>
          <a:xfrm>
            <a:off x="3831320" y="862986"/>
            <a:ext cx="1121307" cy="1120067"/>
            <a:chOff x="3851276" y="1292225"/>
            <a:chExt cx="1435100" cy="1433513"/>
          </a:xfrm>
          <a:solidFill>
            <a:schemeClr val="accent1"/>
          </a:solidFill>
        </p:grpSpPr>
        <p:sp>
          <p:nvSpPr>
            <p:cNvPr id="22"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3"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4"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5"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6"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7"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8"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9"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30"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31"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259015" cy="51435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238743" y="2109787"/>
            <a:ext cx="1937739" cy="45720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514350" fontAlgn="base">
              <a:spcBef>
                <a:spcPct val="0"/>
              </a:spcBef>
              <a:spcAft>
                <a:spcPct val="0"/>
              </a:spcAft>
              <a:tabLst>
                <a:tab pos="2149475" algn="l"/>
              </a:tabLst>
            </a:pPr>
            <a:r>
              <a:rPr lang="en-US" altLang="zh-CN" sz="2400">
                <a:solidFill>
                  <a:schemeClr val="bg1"/>
                </a:solidFill>
                <a:latin typeface="+mj-ea"/>
                <a:ea typeface="+mj-ea"/>
                <a:sym typeface="Calibri" panose="020F0502020204030204" pitchFamily="34" charset="0"/>
              </a:rPr>
              <a:t>CONTENTS</a:t>
            </a:r>
            <a:endParaRPr lang="en-US" altLang="zh-CN" sz="2400">
              <a:solidFill>
                <a:schemeClr val="bg1"/>
              </a:solidFill>
              <a:latin typeface="+mj-ea"/>
              <a:ea typeface="+mj-ea"/>
              <a:sym typeface="Calibri" panose="020F0502020204030204" pitchFamily="34" charset="0"/>
            </a:endParaRPr>
          </a:p>
        </p:txBody>
      </p:sp>
      <p:cxnSp>
        <p:nvCxnSpPr>
          <p:cNvPr id="7" name="直接连接符 6"/>
          <p:cNvCxnSpPr/>
          <p:nvPr/>
        </p:nvCxnSpPr>
        <p:spPr>
          <a:xfrm>
            <a:off x="345390" y="2571760"/>
            <a:ext cx="1622464"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4848556" y="936038"/>
            <a:ext cx="2560320" cy="678036"/>
            <a:chOff x="4850949" y="936038"/>
            <a:chExt cx="2560320" cy="678036"/>
          </a:xfrm>
        </p:grpSpPr>
        <p:sp>
          <p:nvSpPr>
            <p:cNvPr id="37" name="文本框 6"/>
            <p:cNvSpPr txBox="1">
              <a:spLocks noChangeArrowheads="1"/>
            </p:cNvSpPr>
            <p:nvPr/>
          </p:nvSpPr>
          <p:spPr bwMode="auto">
            <a:xfrm>
              <a:off x="4850949" y="936038"/>
              <a:ext cx="256032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a:solidFill>
                    <a:schemeClr val="tx1">
                      <a:lumMod val="95000"/>
                      <a:lumOff val="5000"/>
                    </a:schemeClr>
                  </a:solidFill>
                  <a:latin typeface="+mj-ea"/>
                  <a:ea typeface="+mj-ea"/>
                </a:rPr>
                <a:t>Overall Project Overview</a:t>
              </a:r>
              <a:endParaRPr lang="zh-CN" altLang="en-US" sz="1600">
                <a:solidFill>
                  <a:schemeClr val="tx1">
                    <a:lumMod val="95000"/>
                    <a:lumOff val="5000"/>
                  </a:schemeClr>
                </a:solidFill>
                <a:latin typeface="+mj-ea"/>
                <a:ea typeface="+mj-ea"/>
              </a:endParaRPr>
            </a:p>
          </p:txBody>
        </p:sp>
        <p:sp>
          <p:nvSpPr>
            <p:cNvPr id="38" name="矩形 37"/>
            <p:cNvSpPr/>
            <p:nvPr/>
          </p:nvSpPr>
          <p:spPr>
            <a:xfrm>
              <a:off x="4912238" y="1200054"/>
              <a:ext cx="2110740" cy="414020"/>
            </a:xfrm>
            <a:prstGeom prst="rect">
              <a:avLst/>
            </a:prstGeom>
          </p:spPr>
          <p:txBody>
            <a:bodyPr wrap="none">
              <a:spAutoFit/>
            </a:bodyPr>
            <a:lstStyle/>
            <a:p>
              <a:pPr lvl="0" algn="l"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charset="0"/>
                </a:rPr>
                <a:t>1</a:t>
              </a:r>
              <a:r>
                <a:rPr lang="en-US" altLang="zh-CN" sz="1050">
                  <a:solidFill>
                    <a:schemeClr val="tx1">
                      <a:lumMod val="95000"/>
                      <a:lumOff val="5000"/>
                    </a:schemeClr>
                  </a:solidFill>
                  <a:latin typeface="Calibri Light" panose="020F0302020204030204" pitchFamily="34" charset="0"/>
                  <a:ea typeface="方正兰亭黑_GBK" charset="0"/>
                  <a:cs typeface="Arial" panose="020B0604020202020204" pitchFamily="34" charset="0"/>
                </a:rPr>
                <a:t>.</a:t>
              </a:r>
              <a:r>
                <a:rPr lang="en-US" altLang="zh-CN" sz="1050">
                  <a:solidFill>
                    <a:schemeClr val="tx1">
                      <a:lumMod val="95000"/>
                      <a:lumOff val="5000"/>
                    </a:schemeClr>
                  </a:solidFill>
                  <a:latin typeface="Calibri Light" panose="020F0302020204030204" pitchFamily="34" charset="0"/>
                  <a:ea typeface="方正兰亭黑_GBK"/>
                </a:rPr>
                <a:t>Background and Motivation</a:t>
              </a:r>
              <a:endParaRPr lang="en-US" altLang="zh-CN" sz="1050">
                <a:solidFill>
                  <a:schemeClr val="tx1">
                    <a:lumMod val="95000"/>
                    <a:lumOff val="5000"/>
                  </a:schemeClr>
                </a:solidFill>
                <a:latin typeface="Calibri Light" panose="020F0302020204030204" pitchFamily="34" charset="0"/>
                <a:ea typeface="方正兰亭黑_GBK"/>
              </a:endParaRPr>
            </a:p>
            <a:p>
              <a:pPr lvl="0" algn="l"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charset="0"/>
                </a:rPr>
                <a:t>2.</a:t>
              </a:r>
              <a:r>
                <a:rPr lang="en-US" altLang="zh-CN" sz="1050">
                  <a:solidFill>
                    <a:schemeClr val="tx1">
                      <a:lumMod val="95000"/>
                      <a:lumOff val="5000"/>
                    </a:schemeClr>
                  </a:solidFill>
                  <a:latin typeface="Calibri Light" panose="020F0302020204030204" pitchFamily="34" charset="0"/>
                  <a:ea typeface="方正兰亭黑_GBK"/>
                </a:rPr>
                <a:t>Expected Implementation Path</a:t>
              </a:r>
              <a:endParaRPr lang="en-US" altLang="zh-CN" sz="1050">
                <a:solidFill>
                  <a:schemeClr val="tx1">
                    <a:lumMod val="95000"/>
                    <a:lumOff val="5000"/>
                  </a:schemeClr>
                </a:solidFill>
                <a:latin typeface="Calibri Light" panose="020F0302020204030204" pitchFamily="34" charset="0"/>
                <a:ea typeface="方正兰亭黑_GBK"/>
              </a:endParaRPr>
            </a:p>
          </p:txBody>
        </p:sp>
      </p:grpSp>
      <p:sp>
        <p:nvSpPr>
          <p:cNvPr id="39" name="椭圆 38"/>
          <p:cNvSpPr/>
          <p:nvPr/>
        </p:nvSpPr>
        <p:spPr>
          <a:xfrm>
            <a:off x="4455275" y="1018169"/>
            <a:ext cx="379869" cy="379869"/>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t>1</a:t>
            </a:r>
            <a:endParaRPr lang="en-US" altLang="zh-CN"/>
          </a:p>
        </p:txBody>
      </p:sp>
      <p:grpSp>
        <p:nvGrpSpPr>
          <p:cNvPr id="40" name="组合 39"/>
          <p:cNvGrpSpPr/>
          <p:nvPr/>
        </p:nvGrpSpPr>
        <p:grpSpPr>
          <a:xfrm>
            <a:off x="4835158" y="1978715"/>
            <a:ext cx="2415276" cy="696885"/>
            <a:chOff x="4837551" y="887134"/>
            <a:chExt cx="2415276" cy="696885"/>
          </a:xfrm>
        </p:grpSpPr>
        <p:sp>
          <p:nvSpPr>
            <p:cNvPr id="41" name="文本框 6"/>
            <p:cNvSpPr txBox="1">
              <a:spLocks noChangeArrowheads="1"/>
            </p:cNvSpPr>
            <p:nvPr/>
          </p:nvSpPr>
          <p:spPr bwMode="auto">
            <a:xfrm>
              <a:off x="4837551" y="887134"/>
              <a:ext cx="239458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a:solidFill>
                    <a:schemeClr val="tx1">
                      <a:lumMod val="95000"/>
                      <a:lumOff val="5000"/>
                    </a:schemeClr>
                  </a:solidFill>
                  <a:latin typeface="+mj-ea"/>
                  <a:ea typeface="+mj-ea"/>
                </a:rPr>
                <a:t>Database Construction</a:t>
              </a:r>
              <a:endParaRPr lang="en-US" altLang="zh-CN" sz="1600">
                <a:solidFill>
                  <a:schemeClr val="tx1">
                    <a:lumMod val="95000"/>
                    <a:lumOff val="5000"/>
                  </a:schemeClr>
                </a:solidFill>
                <a:latin typeface="+mj-ea"/>
                <a:ea typeface="+mj-ea"/>
              </a:endParaRPr>
            </a:p>
          </p:txBody>
        </p:sp>
        <p:sp>
          <p:nvSpPr>
            <p:cNvPr id="42" name="矩形 41"/>
            <p:cNvSpPr/>
            <p:nvPr/>
          </p:nvSpPr>
          <p:spPr>
            <a:xfrm>
              <a:off x="4912217" y="1169999"/>
              <a:ext cx="2340610" cy="414020"/>
            </a:xfrm>
            <a:prstGeom prst="rect">
              <a:avLst/>
            </a:prstGeom>
          </p:spPr>
          <p:txBody>
            <a:bodyPr wrap="none">
              <a:spAutoFit/>
            </a:bodyPr>
            <a:lstStyle/>
            <a:p>
              <a:pPr lvl="0" algn="l" fontAlgn="base">
                <a:spcBef>
                  <a:spcPct val="0"/>
                </a:spcBef>
                <a:spcAft>
                  <a:spcPct val="0"/>
                </a:spcAft>
                <a:defRPr/>
              </a:pPr>
              <a:r>
                <a:rPr lang="en-US" altLang="zh-CN" sz="1050">
                  <a:solidFill>
                    <a:schemeClr val="tx1"/>
                  </a:solidFill>
                  <a:latin typeface="Calibri Light" panose="020F0302020204030204" pitchFamily="34" charset="0"/>
                  <a:ea typeface="方正兰亭黑_GBK"/>
                </a:rPr>
                <a:t>1</a:t>
              </a:r>
              <a:r>
                <a:rPr lang="en-US" altLang="zh-CN" sz="1050">
                  <a:solidFill>
                    <a:schemeClr val="tx1"/>
                  </a:solidFill>
                  <a:latin typeface="Calibri Light" panose="020F0302020204030204" pitchFamily="34" charset="0"/>
                  <a:ea typeface="方正兰亭黑_GBK"/>
                  <a:cs typeface="Arial" panose="020B0604020202020204" pitchFamily="34" charset="0"/>
                </a:rPr>
                <a:t>.</a:t>
              </a:r>
              <a:r>
                <a:rPr lang="en-US" altLang="zh-CN" sz="1050">
                  <a:solidFill>
                    <a:schemeClr val="tx1"/>
                  </a:solidFill>
                  <a:latin typeface="Calibri Light" panose="020F0302020204030204" pitchFamily="34" charset="0"/>
                  <a:ea typeface="方正兰亭黑_GBK"/>
                </a:rPr>
                <a:t>Data Crawling and Data Cleaning</a:t>
              </a:r>
              <a:endParaRPr lang="en-US" altLang="zh-CN" sz="1050">
                <a:solidFill>
                  <a:schemeClr val="tx1"/>
                </a:solidFill>
                <a:latin typeface="Calibri Light" panose="020F0302020204030204" pitchFamily="34" charset="0"/>
                <a:ea typeface="方正兰亭黑_GBK"/>
              </a:endParaRPr>
            </a:p>
            <a:p>
              <a:pPr lvl="0" algn="l" fontAlgn="base">
                <a:spcBef>
                  <a:spcPct val="0"/>
                </a:spcBef>
                <a:spcAft>
                  <a:spcPct val="0"/>
                </a:spcAft>
                <a:defRPr/>
              </a:pPr>
              <a:r>
                <a:rPr lang="en-US" altLang="zh-CN" sz="1050">
                  <a:solidFill>
                    <a:schemeClr val="tx1"/>
                  </a:solidFill>
                  <a:latin typeface="Calibri Light" panose="020F0302020204030204" pitchFamily="34" charset="0"/>
                  <a:ea typeface="方正兰亭黑_GBK" charset="0"/>
                </a:rPr>
                <a:t>2.SFT Dataset Construction Pipeline</a:t>
              </a:r>
              <a:endParaRPr lang="en-US" altLang="zh-CN" sz="1050">
                <a:solidFill>
                  <a:schemeClr val="tx1"/>
                </a:solidFill>
                <a:latin typeface="Calibri Light" panose="020F0302020204030204" pitchFamily="34" charset="0"/>
                <a:ea typeface="方正兰亭黑_GBK" charset="0"/>
              </a:endParaRPr>
            </a:p>
          </p:txBody>
        </p:sp>
      </p:grpSp>
      <p:sp>
        <p:nvSpPr>
          <p:cNvPr id="43" name="椭圆 42"/>
          <p:cNvSpPr/>
          <p:nvPr/>
        </p:nvSpPr>
        <p:spPr>
          <a:xfrm>
            <a:off x="4455275" y="2109750"/>
            <a:ext cx="379869" cy="379869"/>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t>2</a:t>
            </a:r>
            <a:endParaRPr lang="en-US" altLang="zh-CN"/>
          </a:p>
        </p:txBody>
      </p:sp>
      <p:grpSp>
        <p:nvGrpSpPr>
          <p:cNvPr id="44" name="组合 43"/>
          <p:cNvGrpSpPr/>
          <p:nvPr/>
        </p:nvGrpSpPr>
        <p:grpSpPr>
          <a:xfrm>
            <a:off x="4785721" y="3100023"/>
            <a:ext cx="4408805" cy="667142"/>
            <a:chOff x="4788114" y="974400"/>
            <a:chExt cx="4408805" cy="667142"/>
          </a:xfrm>
        </p:grpSpPr>
        <p:sp>
          <p:nvSpPr>
            <p:cNvPr id="45" name="文本框 6"/>
            <p:cNvSpPr txBox="1">
              <a:spLocks noChangeArrowheads="1"/>
            </p:cNvSpPr>
            <p:nvPr/>
          </p:nvSpPr>
          <p:spPr bwMode="auto">
            <a:xfrm>
              <a:off x="4788114" y="974400"/>
              <a:ext cx="440880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a:solidFill>
                    <a:schemeClr val="tx1">
                      <a:lumMod val="95000"/>
                      <a:lumOff val="5000"/>
                    </a:schemeClr>
                  </a:solidFill>
                  <a:latin typeface="+mj-ea"/>
                  <a:ea typeface="+mj-ea"/>
                </a:rPr>
                <a:t>Model Training and Hyperparameter Tuning</a:t>
              </a:r>
              <a:endParaRPr lang="en-US" altLang="zh-CN" sz="1600">
                <a:solidFill>
                  <a:schemeClr val="tx1">
                    <a:lumMod val="95000"/>
                    <a:lumOff val="5000"/>
                  </a:schemeClr>
                </a:solidFill>
                <a:latin typeface="+mj-ea"/>
                <a:ea typeface="+mj-ea"/>
              </a:endParaRPr>
            </a:p>
          </p:txBody>
        </p:sp>
        <p:sp>
          <p:nvSpPr>
            <p:cNvPr id="46" name="矩形 45"/>
            <p:cNvSpPr/>
            <p:nvPr/>
          </p:nvSpPr>
          <p:spPr>
            <a:xfrm>
              <a:off x="4912217" y="1226252"/>
              <a:ext cx="2460669" cy="415290"/>
            </a:xfrm>
            <a:prstGeom prst="rect">
              <a:avLst/>
            </a:prstGeom>
          </p:spPr>
          <p:txBody>
            <a:bodyPr wrap="square">
              <a:noAutofit/>
            </a:bodyPr>
            <a:lstStyle/>
            <a:p>
              <a:pPr lvl="0" algn="l"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1.Model Comparison and Evaluation</a:t>
              </a:r>
              <a:endParaRPr lang="en-US" altLang="zh-CN" sz="1050">
                <a:solidFill>
                  <a:schemeClr val="tx1">
                    <a:lumMod val="95000"/>
                    <a:lumOff val="5000"/>
                  </a:schemeClr>
                </a:solidFill>
                <a:latin typeface="Calibri Light" panose="020F0302020204030204" pitchFamily="34" charset="0"/>
                <a:ea typeface="方正兰亭黑_GBK"/>
              </a:endParaRPr>
            </a:p>
            <a:p>
              <a:pPr lvl="0" algn="l"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2.</a:t>
              </a:r>
              <a:r>
                <a:rPr lang="en-US" altLang="zh-CN" sz="1050">
                  <a:ea typeface="方正兰亭黑_GBK"/>
                  <a:sym typeface="+mn-ea"/>
                </a:rPr>
                <a:t>Model Comparison and Evaluation</a:t>
              </a:r>
              <a:endParaRPr lang="en-US" altLang="zh-CN" sz="1050">
                <a:solidFill>
                  <a:schemeClr val="tx1">
                    <a:lumMod val="95000"/>
                    <a:lumOff val="5000"/>
                  </a:schemeClr>
                </a:solidFill>
                <a:latin typeface="Calibri Light" panose="020F0302020204030204" pitchFamily="34" charset="0"/>
                <a:ea typeface="方正兰亭黑_GBK"/>
              </a:endParaRPr>
            </a:p>
            <a:p>
              <a:pPr lvl="0" algn="l"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a:rPr>
                <a:t>3.Hyperparameter Tuninng</a:t>
              </a:r>
              <a:endParaRPr lang="en-US" altLang="zh-CN" sz="1050">
                <a:solidFill>
                  <a:schemeClr val="tx1">
                    <a:lumMod val="95000"/>
                    <a:lumOff val="5000"/>
                  </a:schemeClr>
                </a:solidFill>
                <a:latin typeface="Calibri Light" panose="020F0302020204030204" pitchFamily="34" charset="0"/>
                <a:ea typeface="方正兰亭黑_GBK"/>
              </a:endParaRPr>
            </a:p>
            <a:p>
              <a:pPr lvl="0" algn="l" fontAlgn="base">
                <a:spcBef>
                  <a:spcPct val="0"/>
                </a:spcBef>
                <a:spcAft>
                  <a:spcPct val="0"/>
                </a:spcAft>
                <a:defRPr/>
              </a:pPr>
              <a:endParaRPr lang="en-US" altLang="zh-CN" sz="1050">
                <a:solidFill>
                  <a:schemeClr val="tx1">
                    <a:lumMod val="95000"/>
                    <a:lumOff val="5000"/>
                  </a:schemeClr>
                </a:solidFill>
                <a:latin typeface="Calibri Light" panose="020F0302020204030204" pitchFamily="34" charset="0"/>
                <a:ea typeface="方正兰亭黑_GBK"/>
              </a:endParaRPr>
            </a:p>
          </p:txBody>
        </p:sp>
      </p:grpSp>
      <p:sp>
        <p:nvSpPr>
          <p:cNvPr id="47" name="椭圆 46"/>
          <p:cNvSpPr/>
          <p:nvPr/>
        </p:nvSpPr>
        <p:spPr>
          <a:xfrm>
            <a:off x="4455275" y="3143792"/>
            <a:ext cx="379869" cy="379869"/>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t>3</a:t>
            </a:r>
            <a:endParaRPr lang="en-US" altLang="zh-CN"/>
          </a:p>
        </p:txBody>
      </p:sp>
      <p:grpSp>
        <p:nvGrpSpPr>
          <p:cNvPr id="48" name="组合 47"/>
          <p:cNvGrpSpPr/>
          <p:nvPr/>
        </p:nvGrpSpPr>
        <p:grpSpPr>
          <a:xfrm>
            <a:off x="4848557" y="4043494"/>
            <a:ext cx="4039629" cy="763808"/>
            <a:chOff x="4850950" y="936038"/>
            <a:chExt cx="4039629" cy="763808"/>
          </a:xfrm>
        </p:grpSpPr>
        <p:sp>
          <p:nvSpPr>
            <p:cNvPr id="49" name="文本框 6"/>
            <p:cNvSpPr txBox="1">
              <a:spLocks noChangeArrowheads="1"/>
            </p:cNvSpPr>
            <p:nvPr/>
          </p:nvSpPr>
          <p:spPr bwMode="auto">
            <a:xfrm>
              <a:off x="4850950" y="936038"/>
              <a:ext cx="327533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a:latin typeface="+mj-ea"/>
                  <a:ea typeface="+mj-ea"/>
                  <a:cs typeface="Arial" panose="020B0604020202020204" pitchFamily="34" charset="0"/>
                </a:rPr>
                <a:t>Comparison and Ablation Study</a:t>
              </a:r>
              <a:endParaRPr lang="en-US" altLang="zh-CN" sz="1600">
                <a:latin typeface="+mj-ea"/>
                <a:ea typeface="+mj-ea"/>
                <a:cs typeface="Arial" panose="020B0604020202020204" pitchFamily="34" charset="0"/>
              </a:endParaRPr>
            </a:p>
          </p:txBody>
        </p:sp>
        <p:sp>
          <p:nvSpPr>
            <p:cNvPr id="50" name="矩形 49"/>
            <p:cNvSpPr/>
            <p:nvPr/>
          </p:nvSpPr>
          <p:spPr>
            <a:xfrm>
              <a:off x="4912217" y="1226253"/>
              <a:ext cx="3978362" cy="473593"/>
            </a:xfrm>
            <a:prstGeom prst="rect">
              <a:avLst/>
            </a:prstGeom>
          </p:spPr>
          <p:txBody>
            <a:bodyPr wrap="square">
              <a:noAutofit/>
            </a:bodyPr>
            <a:lstStyle/>
            <a:p>
              <a:pPr lvl="0" fontAlgn="base">
                <a:spcBef>
                  <a:spcPct val="0"/>
                </a:spcBef>
                <a:spcAft>
                  <a:spcPct val="0"/>
                </a:spcAft>
                <a:defRPr/>
              </a:pPr>
              <a:r>
                <a:rPr lang="en-US" altLang="zh-CN" sz="1050">
                  <a:solidFill>
                    <a:schemeClr val="tx1">
                      <a:lumMod val="95000"/>
                      <a:lumOff val="5000"/>
                    </a:schemeClr>
                  </a:solidFill>
                  <a:latin typeface="Calibri Light" panose="020F0302020204030204" pitchFamily="34" charset="0"/>
                  <a:ea typeface="方正兰亭黑_GBK" charset="0"/>
                </a:rPr>
                <a:t>Taguchi Orthogonal Design</a:t>
              </a:r>
              <a:endParaRPr lang="en-US" altLang="zh-CN">
                <a:latin typeface="Calibri Light" panose="020F0302020204030204" pitchFamily="34" charset="0"/>
                <a:ea typeface="方正兰亭黑_GBK" charset="0"/>
              </a:endParaRPr>
            </a:p>
          </p:txBody>
        </p:sp>
      </p:grpSp>
      <p:sp>
        <p:nvSpPr>
          <p:cNvPr id="51" name="椭圆 50"/>
          <p:cNvSpPr/>
          <p:nvPr/>
        </p:nvSpPr>
        <p:spPr>
          <a:xfrm>
            <a:off x="4455275" y="4125625"/>
            <a:ext cx="379869" cy="379869"/>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t>4</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749128"/>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14855" y="2088158"/>
            <a:ext cx="9114359" cy="7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3600" b="1">
                <a:solidFill>
                  <a:schemeClr val="accent1"/>
                </a:solidFill>
                <a:latin typeface="+mj-ea"/>
                <a:ea typeface="+mj-ea"/>
              </a:rPr>
              <a:t>Overall Project Overview</a:t>
            </a:r>
            <a:endParaRPr lang="zh-CN" altLang="en-US">
              <a:latin typeface="+mj-ea"/>
              <a:ea typeface="+mj-ea"/>
            </a:endParaRPr>
          </a:p>
        </p:txBody>
      </p:sp>
      <p:sp>
        <p:nvSpPr>
          <p:cNvPr id="22" name="矩形 21"/>
          <p:cNvSpPr/>
          <p:nvPr/>
        </p:nvSpPr>
        <p:spPr>
          <a:xfrm>
            <a:off x="3148345" y="2750772"/>
            <a:ext cx="3877797" cy="737235"/>
          </a:xfrm>
          <a:prstGeom prst="rect">
            <a:avLst/>
          </a:prstGeom>
        </p:spPr>
        <p:txBody>
          <a:bodyPr wrap="square">
            <a:spAutoFit/>
          </a:bodyPr>
          <a:lstStyle/>
          <a:p>
            <a:pPr marL="0" marR="0" lvl="0" indent="0" algn="l" defTabSz="914400" eaLnBrk="1" fontAlgn="auto" latinLnBrk="0" hangingPunct="1">
              <a:lnSpc>
                <a:spcPct val="150000"/>
              </a:lnSpc>
              <a:spcBef>
                <a:spcPct val="0"/>
              </a:spcBef>
              <a:spcAft>
                <a:spcPct val="0"/>
              </a:spcAft>
              <a:buClrTx/>
              <a:buSzTx/>
              <a:buFontTx/>
              <a:buNone/>
              <a:defRPr/>
            </a:pPr>
            <a:r>
              <a:rPr lang="zh-CN" altLang="en-US" sz="1400" b="1" kern="0" noProof="0">
                <a:ln>
                  <a:noFill/>
                </a:ln>
                <a:solidFill>
                  <a:schemeClr val="tx1">
                    <a:lumMod val="85000"/>
                    <a:lumOff val="15000"/>
                  </a:schemeClr>
                </a:solidFill>
                <a:effectLst/>
                <a:uLnTx/>
                <a:uFillTx/>
                <a:cs typeface="Arial" panose="020B0604020202020204" pitchFamily="34" charset="0"/>
              </a:rPr>
              <a:t>1.</a:t>
            </a:r>
            <a:r>
              <a:rPr kumimoji="0" lang="en-US" altLang="zh-CN" sz="1400" b="1" i="0" u="none" strike="noStrike" kern="0" cap="none" spc="0" normalizeH="0" baseline="0" noProof="0">
                <a:ln>
                  <a:noFill/>
                </a:ln>
                <a:solidFill>
                  <a:schemeClr val="tx1">
                    <a:lumMod val="85000"/>
                    <a:lumOff val="15000"/>
                  </a:schemeClr>
                </a:solidFill>
                <a:effectLst/>
                <a:uLnTx/>
                <a:uFillTx/>
                <a:cs typeface="Arial" panose="020B0604020202020204" pitchFamily="34" charset="0"/>
              </a:rPr>
              <a:t>Background and Motivation</a:t>
            </a:r>
            <a:endParaRPr kumimoji="0" lang="en-US" altLang="zh-CN" sz="1400" b="1" i="0" u="none" strike="noStrike" kern="0" cap="none" spc="0" normalizeH="0" baseline="0" noProof="0">
              <a:ln>
                <a:noFill/>
              </a:ln>
              <a:solidFill>
                <a:schemeClr val="tx1">
                  <a:lumMod val="85000"/>
                  <a:lumOff val="15000"/>
                </a:schemeClr>
              </a:solidFill>
              <a:effectLst/>
              <a:uLnTx/>
              <a:uFillTx/>
              <a:cs typeface="Arial" panose="020B0604020202020204" pitchFamily="34" charset="0"/>
            </a:endParaRPr>
          </a:p>
          <a:p>
            <a:pPr marL="0" marR="0" lvl="0" indent="0" algn="l" defTabSz="914400" eaLnBrk="1" fontAlgn="auto" latinLnBrk="0" hangingPunct="1">
              <a:lnSpc>
                <a:spcPct val="150000"/>
              </a:lnSpc>
              <a:spcBef>
                <a:spcPct val="0"/>
              </a:spcBef>
              <a:spcAft>
                <a:spcPct val="0"/>
              </a:spcAft>
              <a:buClrTx/>
              <a:buSzTx/>
              <a:buFontTx/>
              <a:buNone/>
              <a:defRPr/>
            </a:pPr>
            <a:r>
              <a:rPr lang="zh-CN" altLang="en-US" sz="1400" b="1" kern="0" noProof="0">
                <a:ln>
                  <a:noFill/>
                </a:ln>
                <a:solidFill>
                  <a:schemeClr val="tx1">
                    <a:lumMod val="85000"/>
                    <a:lumOff val="15000"/>
                  </a:schemeClr>
                </a:solidFill>
                <a:uLnTx/>
                <a:uFillTx/>
                <a:cs typeface="Arial" panose="020B0604020202020204" pitchFamily="34" charset="0"/>
              </a:rPr>
              <a:t>2.</a:t>
            </a:r>
            <a:r>
              <a:rPr lang="en-US" altLang="zh-CN" sz="1400" b="1" kern="0" noProof="0">
                <a:ln>
                  <a:noFill/>
                </a:ln>
                <a:solidFill>
                  <a:schemeClr val="tx1">
                    <a:lumMod val="85000"/>
                    <a:lumOff val="15000"/>
                  </a:schemeClr>
                </a:solidFill>
                <a:effectLst/>
                <a:uLnTx/>
                <a:uFillTx/>
                <a:cs typeface="Arial" panose="020B0604020202020204" pitchFamily="34" charset="0"/>
              </a:rPr>
              <a:t>Expected Implementation Path</a:t>
            </a:r>
            <a:endParaRPr kumimoji="0" lang="en-US" altLang="zh-CN" sz="1400" b="1" i="0" u="none" strike="noStrike" kern="0" cap="none" spc="0" normalizeH="0" baseline="0" noProof="0">
              <a:ln>
                <a:noFill/>
              </a:ln>
              <a:solidFill>
                <a:schemeClr val="tx1">
                  <a:lumMod val="85000"/>
                  <a:lumOff val="15000"/>
                </a:schemeClr>
              </a:solidFill>
              <a:effectLst/>
              <a:uLnTx/>
              <a:uFillTx/>
              <a:cs typeface="Arial" panose="020B0604020202020204" pitchFamily="34" charset="0"/>
            </a:endParaRPr>
          </a:p>
        </p:txBody>
      </p:sp>
      <p:cxnSp>
        <p:nvCxnSpPr>
          <p:cNvPr id="23" name="直接连接符 22"/>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6"/>
          <p:cNvSpPr txBox="1">
            <a:spLocks noChangeArrowheads="1"/>
          </p:cNvSpPr>
          <p:nvPr/>
        </p:nvSpPr>
        <p:spPr bwMode="auto">
          <a:xfrm>
            <a:off x="3047505" y="532883"/>
            <a:ext cx="30264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zh-CN" altLang="en-US" sz="1600" b="1">
                <a:solidFill>
                  <a:schemeClr val="tx1">
                    <a:lumMod val="85000"/>
                    <a:lumOff val="15000"/>
                  </a:schemeClr>
                </a:solidFill>
                <a:ea typeface="方正兰亭黑_GBK" charset="0"/>
              </a:rPr>
              <a:t>1</a:t>
            </a:r>
            <a:r>
              <a:rPr lang="en-US" altLang="zh-CN" sz="1600" b="1">
                <a:solidFill>
                  <a:schemeClr val="tx1">
                    <a:lumMod val="85000"/>
                    <a:lumOff val="15000"/>
                  </a:schemeClr>
                </a:solidFill>
                <a:ea typeface="方正兰亭黑_GBK" charset="0"/>
                <a:cs typeface="Arial" panose="020B0604020202020204" pitchFamily="34" charset="0"/>
              </a:rPr>
              <a:t>.</a:t>
            </a:r>
            <a:r>
              <a:rPr lang="en-US" altLang="zh-CN" sz="1600" b="1">
                <a:solidFill>
                  <a:schemeClr val="tx1">
                    <a:lumMod val="85000"/>
                    <a:lumOff val="15000"/>
                  </a:schemeClr>
                </a:solidFill>
                <a:ea typeface="方正兰亭黑_GBK"/>
              </a:rPr>
              <a:t>Background and Motivation</a:t>
            </a:r>
            <a:endParaRPr lang="en-US" altLang="zh-CN" sz="1600" b="1">
              <a:solidFill>
                <a:schemeClr val="tx1">
                  <a:lumMod val="85000"/>
                  <a:lumOff val="15000"/>
                </a:schemeClr>
              </a:solidFill>
              <a:ea typeface="方正兰亭黑_GBK"/>
            </a:endParaRPr>
          </a:p>
          <a:p>
            <a:pPr algn="l" fontAlgn="base">
              <a:spcBef>
                <a:spcPct val="0"/>
              </a:spcBef>
              <a:spcAft>
                <a:spcPct val="0"/>
              </a:spcAft>
              <a:defRPr/>
            </a:pPr>
            <a:endParaRPr lang="en-US" altLang="zh-CN" sz="1600" b="1">
              <a:solidFill>
                <a:schemeClr val="tx1">
                  <a:lumMod val="85000"/>
                  <a:lumOff val="15000"/>
                </a:schemeClr>
              </a:solidFill>
              <a:ea typeface="方正兰亭黑_GBK"/>
            </a:endParaRPr>
          </a:p>
        </p:txBody>
      </p:sp>
      <p:cxnSp>
        <p:nvCxnSpPr>
          <p:cNvPr id="75" name="直接连接符 74"/>
          <p:cNvCxnSpPr/>
          <p:nvPr/>
        </p:nvCxnSpPr>
        <p:spPr>
          <a:xfrm>
            <a:off x="4267265" y="870044"/>
            <a:ext cx="4466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84292" y="959224"/>
            <a:ext cx="537143" cy="537143"/>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8"/>
          <p:cNvSpPr/>
          <p:nvPr/>
        </p:nvSpPr>
        <p:spPr>
          <a:xfrm>
            <a:off x="680033" y="870061"/>
            <a:ext cx="8366840" cy="1210110"/>
          </a:xfrm>
          <a:prstGeom prst="rect">
            <a:avLst/>
          </a:prstGeom>
        </p:spPr>
        <p:txBody>
          <a:bodyPr wrap="square">
            <a:noAutofit/>
          </a:bodyPr>
          <a:lstStyle/>
          <a:p>
            <a:pPr>
              <a:lnSpc>
                <a:spcPct val="150000"/>
              </a:lnSpc>
              <a:spcBef>
                <a:spcPts val="600"/>
              </a:spcBef>
            </a:pPr>
            <a:r>
              <a:rPr lang="en-US" altLang="zh-CN" sz="1200" b="1">
                <a:cs typeface="Arial" panose="020B0604020202020204" pitchFamily="34" charset="0"/>
              </a:rPr>
              <a:t>Background: Junior students majoring in Statistics often face the problem of “too many positions, diverse career directions, and difficulty in matching suitable roles” when seeking jobs. When asking AI, they can usually only obtain general career directions, but AI cannot help them identify specific suitable positions or clearly point out how to improve their professional background.</a:t>
            </a:r>
            <a:endParaRPr lang="en-US" altLang="zh-CN" sz="1200" b="1">
              <a:cs typeface="Arial" panose="020B0604020202020204" pitchFamily="34" charset="0"/>
            </a:endParaRPr>
          </a:p>
        </p:txBody>
      </p:sp>
      <p:sp>
        <p:nvSpPr>
          <p:cNvPr id="5" name="文本框 5"/>
          <p:cNvSpPr txBox="1">
            <a:spLocks noChangeArrowheads="1"/>
          </p:cNvSpPr>
          <p:nvPr/>
        </p:nvSpPr>
        <p:spPr bwMode="auto">
          <a:xfrm>
            <a:off x="621412" y="10913"/>
            <a:ext cx="65563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2" indent="457200" algn="l" fontAlgn="base">
              <a:spcBef>
                <a:spcPct val="0"/>
              </a:spcBef>
              <a:spcAft>
                <a:spcPct val="0"/>
              </a:spcAft>
              <a:defRPr/>
            </a:pPr>
            <a:r>
              <a:rPr lang="en-US" altLang="zh-CN" sz="2800" b="1">
                <a:solidFill>
                  <a:schemeClr val="tx1">
                    <a:lumMod val="85000"/>
                    <a:lumOff val="15000"/>
                  </a:schemeClr>
                </a:solidFill>
                <a:latin typeface="+mj-ea"/>
                <a:ea typeface="+mj-ea"/>
              </a:rPr>
              <a:t>Overall Project Overview</a:t>
            </a:r>
            <a:endParaRPr lang="en-US" altLang="zh-CN" sz="2800" b="1">
              <a:solidFill>
                <a:schemeClr val="tx1">
                  <a:lumMod val="85000"/>
                  <a:lumOff val="15000"/>
                </a:schemeClr>
              </a:solidFill>
              <a:latin typeface="+mj-ea"/>
              <a:ea typeface="+mj-ea"/>
            </a:endParaRPr>
          </a:p>
        </p:txBody>
      </p:sp>
      <p:pic>
        <p:nvPicPr>
          <p:cNvPr id="2" name="图片 1" descr="post_object_image_2577310714"/>
          <p:cNvPicPr>
            <a:picLocks noChangeAspect="1"/>
          </p:cNvPicPr>
          <p:nvPr/>
        </p:nvPicPr>
        <p:blipFill>
          <a:blip r:embed="rId1"/>
          <a:stretch>
            <a:fillRect/>
          </a:stretch>
        </p:blipFill>
        <p:spPr>
          <a:xfrm>
            <a:off x="14278062" y="20130843"/>
            <a:ext cx="3868223" cy="4489493"/>
          </a:xfrm>
          <a:prstGeom prst="rect">
            <a:avLst/>
          </a:prstGeom>
        </p:spPr>
      </p:pic>
      <p:pic>
        <p:nvPicPr>
          <p:cNvPr id="3" name="图片 2" descr="post_object_image_825499886"/>
          <p:cNvPicPr>
            <a:picLocks noChangeAspect="1"/>
          </p:cNvPicPr>
          <p:nvPr/>
        </p:nvPicPr>
        <p:blipFill>
          <a:blip r:embed="rId2"/>
          <a:stretch>
            <a:fillRect/>
          </a:stretch>
        </p:blipFill>
        <p:spPr>
          <a:xfrm>
            <a:off x="84273" y="1859065"/>
            <a:ext cx="2765981" cy="3210222"/>
          </a:xfrm>
          <a:prstGeom prst="rect">
            <a:avLst/>
          </a:prstGeom>
        </p:spPr>
      </p:pic>
      <p:pic>
        <p:nvPicPr>
          <p:cNvPr id="8" name="图片 7" descr="post_object_image_908785803"/>
          <p:cNvPicPr>
            <a:picLocks noChangeAspect="1"/>
          </p:cNvPicPr>
          <p:nvPr/>
        </p:nvPicPr>
        <p:blipFill>
          <a:blip r:embed="rId3"/>
          <a:srcRect l="1606" r="3480" b="11092"/>
          <a:stretch>
            <a:fillRect/>
          </a:stretch>
        </p:blipFill>
        <p:spPr>
          <a:xfrm>
            <a:off x="2850252" y="1859065"/>
            <a:ext cx="3096505" cy="3079793"/>
          </a:xfrm>
          <a:prstGeom prst="rect">
            <a:avLst/>
          </a:prstGeom>
        </p:spPr>
      </p:pic>
      <p:pic>
        <p:nvPicPr>
          <p:cNvPr id="9" name="图片 8" descr="post_object_image_2355444279"/>
          <p:cNvPicPr>
            <a:picLocks noChangeAspect="1"/>
          </p:cNvPicPr>
          <p:nvPr/>
        </p:nvPicPr>
        <p:blipFill>
          <a:blip r:embed="rId4"/>
          <a:stretch>
            <a:fillRect/>
          </a:stretch>
        </p:blipFill>
        <p:spPr>
          <a:xfrm>
            <a:off x="5946772" y="1859065"/>
            <a:ext cx="3100122" cy="310742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6"/>
          <p:cNvSpPr txBox="1">
            <a:spLocks noChangeArrowheads="1"/>
          </p:cNvSpPr>
          <p:nvPr/>
        </p:nvSpPr>
        <p:spPr bwMode="auto">
          <a:xfrm>
            <a:off x="3047505" y="532883"/>
            <a:ext cx="30264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zh-CN" altLang="en-US" sz="1600" b="1">
                <a:solidFill>
                  <a:schemeClr val="tx1">
                    <a:lumMod val="85000"/>
                    <a:lumOff val="15000"/>
                  </a:schemeClr>
                </a:solidFill>
                <a:ea typeface="方正兰亭黑_GBK" charset="0"/>
              </a:rPr>
              <a:t>1</a:t>
            </a:r>
            <a:r>
              <a:rPr lang="en-US" altLang="zh-CN" sz="1600" b="1">
                <a:solidFill>
                  <a:schemeClr val="tx1">
                    <a:lumMod val="85000"/>
                    <a:lumOff val="15000"/>
                  </a:schemeClr>
                </a:solidFill>
                <a:ea typeface="方正兰亭黑_GBK" charset="0"/>
                <a:cs typeface="Arial" panose="020B0604020202020204" pitchFamily="34" charset="0"/>
              </a:rPr>
              <a:t>.</a:t>
            </a:r>
            <a:r>
              <a:rPr lang="en-US" altLang="zh-CN" sz="1600" b="1">
                <a:solidFill>
                  <a:schemeClr val="tx1">
                    <a:lumMod val="85000"/>
                    <a:lumOff val="15000"/>
                  </a:schemeClr>
                </a:solidFill>
                <a:ea typeface="方正兰亭黑_GBK"/>
              </a:rPr>
              <a:t>Background and Motivation</a:t>
            </a:r>
            <a:endParaRPr lang="en-US" altLang="zh-CN" sz="1600" b="1">
              <a:solidFill>
                <a:schemeClr val="tx1">
                  <a:lumMod val="85000"/>
                  <a:lumOff val="15000"/>
                </a:schemeClr>
              </a:solidFill>
              <a:ea typeface="方正兰亭黑_GBK"/>
            </a:endParaRPr>
          </a:p>
          <a:p>
            <a:pPr algn="l" fontAlgn="base">
              <a:spcBef>
                <a:spcPct val="0"/>
              </a:spcBef>
              <a:spcAft>
                <a:spcPct val="0"/>
              </a:spcAft>
              <a:defRPr/>
            </a:pPr>
            <a:endParaRPr lang="en-US" altLang="zh-CN" sz="1600" b="1">
              <a:solidFill>
                <a:schemeClr val="tx1">
                  <a:lumMod val="85000"/>
                  <a:lumOff val="15000"/>
                </a:schemeClr>
              </a:solidFill>
              <a:ea typeface="方正兰亭黑_GBK"/>
            </a:endParaRPr>
          </a:p>
        </p:txBody>
      </p:sp>
      <p:cxnSp>
        <p:nvCxnSpPr>
          <p:cNvPr id="75" name="直接连接符 74"/>
          <p:cNvCxnSpPr/>
          <p:nvPr/>
        </p:nvCxnSpPr>
        <p:spPr>
          <a:xfrm>
            <a:off x="4267265" y="870044"/>
            <a:ext cx="4466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84292" y="963819"/>
            <a:ext cx="537143" cy="537143"/>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矩形 21"/>
          <p:cNvSpPr/>
          <p:nvPr/>
        </p:nvSpPr>
        <p:spPr>
          <a:xfrm>
            <a:off x="673832" y="963853"/>
            <a:ext cx="8075961" cy="913190"/>
          </a:xfrm>
          <a:prstGeom prst="rect">
            <a:avLst/>
          </a:prstGeom>
        </p:spPr>
        <p:txBody>
          <a:bodyPr wrap="square">
            <a:noAutofit/>
          </a:bodyPr>
          <a:lstStyle/>
          <a:p>
            <a:pPr>
              <a:lnSpc>
                <a:spcPct val="150000"/>
              </a:lnSpc>
              <a:spcBef>
                <a:spcPts val="600"/>
              </a:spcBef>
            </a:pPr>
            <a:r>
              <a:rPr lang="en-US" altLang="zh-CN" sz="1400" b="1">
                <a:solidFill>
                  <a:schemeClr val="tx1">
                    <a:lumMod val="85000"/>
                    <a:lumOff val="15000"/>
                  </a:schemeClr>
                </a:solidFill>
              </a:rPr>
              <a:t>Motivation: Fine-tune a large language model for domain-specific tasks, making it better suited to internship recommendation and skill analysis. This helps Statistics students quickly find internship positions that match their needs and interests simply by interacting with AI, thereby improving job-search efficiency.</a:t>
            </a:r>
            <a:endParaRPr lang="en-US" altLang="zh-CN" sz="1400" b="1">
              <a:solidFill>
                <a:schemeClr val="tx1">
                  <a:lumMod val="85000"/>
                  <a:lumOff val="15000"/>
                </a:schemeClr>
              </a:solidFill>
            </a:endParaRPr>
          </a:p>
          <a:p>
            <a:pPr>
              <a:lnSpc>
                <a:spcPct val="150000"/>
              </a:lnSpc>
              <a:spcBef>
                <a:spcPts val="600"/>
              </a:spcBef>
            </a:pPr>
            <a:endParaRPr lang="en-US" altLang="zh-CN" sz="1400" b="1">
              <a:solidFill>
                <a:schemeClr val="tx1">
                  <a:lumMod val="85000"/>
                  <a:lumOff val="15000"/>
                </a:schemeClr>
              </a:solidFill>
            </a:endParaRPr>
          </a:p>
        </p:txBody>
      </p:sp>
      <p:sp>
        <p:nvSpPr>
          <p:cNvPr id="5" name="文本框 5"/>
          <p:cNvSpPr txBox="1">
            <a:spLocks noChangeArrowheads="1"/>
          </p:cNvSpPr>
          <p:nvPr/>
        </p:nvSpPr>
        <p:spPr bwMode="auto">
          <a:xfrm>
            <a:off x="621412" y="10913"/>
            <a:ext cx="65563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2" indent="457200" algn="l" fontAlgn="base">
              <a:spcBef>
                <a:spcPct val="0"/>
              </a:spcBef>
              <a:spcAft>
                <a:spcPct val="0"/>
              </a:spcAft>
              <a:defRPr/>
            </a:pPr>
            <a:r>
              <a:rPr lang="en-US" altLang="zh-CN" sz="2800" b="1">
                <a:solidFill>
                  <a:schemeClr val="tx1">
                    <a:lumMod val="85000"/>
                    <a:lumOff val="15000"/>
                  </a:schemeClr>
                </a:solidFill>
                <a:latin typeface="+mj-ea"/>
                <a:ea typeface="+mj-ea"/>
              </a:rPr>
              <a:t>Overall Project Overview</a:t>
            </a:r>
            <a:endParaRPr lang="en-US" altLang="zh-CN" sz="2800" b="1">
              <a:solidFill>
                <a:schemeClr val="tx1">
                  <a:lumMod val="85000"/>
                  <a:lumOff val="15000"/>
                </a:schemeClr>
              </a:solidFill>
              <a:latin typeface="+mj-ea"/>
              <a:ea typeface="+mj-ea"/>
            </a:endParaRPr>
          </a:p>
        </p:txBody>
      </p:sp>
      <p:pic>
        <p:nvPicPr>
          <p:cNvPr id="2" name="图片 1" descr="post_object_image_2577310714"/>
          <p:cNvPicPr>
            <a:picLocks noChangeAspect="1"/>
          </p:cNvPicPr>
          <p:nvPr/>
        </p:nvPicPr>
        <p:blipFill>
          <a:blip r:embed="rId1"/>
          <a:stretch>
            <a:fillRect/>
          </a:stretch>
        </p:blipFill>
        <p:spPr>
          <a:xfrm>
            <a:off x="14278062" y="20130843"/>
            <a:ext cx="3868223" cy="44894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6"/>
          <p:cNvSpPr txBox="1">
            <a:spLocks noChangeArrowheads="1"/>
          </p:cNvSpPr>
          <p:nvPr/>
        </p:nvSpPr>
        <p:spPr bwMode="auto">
          <a:xfrm>
            <a:off x="3041462" y="532883"/>
            <a:ext cx="331025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b="1">
                <a:solidFill>
                  <a:schemeClr val="tx1">
                    <a:lumMod val="85000"/>
                    <a:lumOff val="15000"/>
                  </a:schemeClr>
                </a:solidFill>
                <a:ea typeface="方正兰亭黑_GBK"/>
              </a:rPr>
              <a:t>2.Expected Implementation Path</a:t>
            </a:r>
            <a:endParaRPr lang="en-US" altLang="zh-CN" sz="1600" b="1">
              <a:solidFill>
                <a:schemeClr val="tx1">
                  <a:lumMod val="85000"/>
                  <a:lumOff val="15000"/>
                </a:schemeClr>
              </a:solidFill>
              <a:ea typeface="方正兰亭黑_GBK"/>
            </a:endParaRPr>
          </a:p>
        </p:txBody>
      </p:sp>
      <p:cxnSp>
        <p:nvCxnSpPr>
          <p:cNvPr id="75" name="直接连接符 74"/>
          <p:cNvCxnSpPr/>
          <p:nvPr/>
        </p:nvCxnSpPr>
        <p:spPr>
          <a:xfrm>
            <a:off x="4267265" y="870044"/>
            <a:ext cx="4466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5"/>
          <p:cNvSpPr txBox="1">
            <a:spLocks noChangeArrowheads="1"/>
          </p:cNvSpPr>
          <p:nvPr/>
        </p:nvSpPr>
        <p:spPr bwMode="auto">
          <a:xfrm>
            <a:off x="621412" y="10913"/>
            <a:ext cx="65563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2" indent="457200" algn="l" fontAlgn="base">
              <a:spcBef>
                <a:spcPct val="0"/>
              </a:spcBef>
              <a:spcAft>
                <a:spcPct val="0"/>
              </a:spcAft>
              <a:defRPr/>
            </a:pPr>
            <a:r>
              <a:rPr lang="en-US" altLang="zh-CN" sz="2800" b="1">
                <a:solidFill>
                  <a:schemeClr val="tx1">
                    <a:lumMod val="85000"/>
                    <a:lumOff val="15000"/>
                  </a:schemeClr>
                </a:solidFill>
                <a:latin typeface="+mj-ea"/>
                <a:ea typeface="+mj-ea"/>
              </a:rPr>
              <a:t>Overall Project Overview</a:t>
            </a:r>
            <a:endParaRPr lang="en-US" altLang="zh-CN" sz="2800" b="1">
              <a:solidFill>
                <a:schemeClr val="tx1">
                  <a:lumMod val="85000"/>
                  <a:lumOff val="15000"/>
                </a:schemeClr>
              </a:solidFill>
              <a:latin typeface="+mj-ea"/>
              <a:ea typeface="+mj-ea"/>
            </a:endParaRPr>
          </a:p>
        </p:txBody>
      </p:sp>
      <p:sp>
        <p:nvSpPr>
          <p:cNvPr id="37" name="Oval 6"/>
          <p:cNvSpPr>
            <a:spLocks noChangeArrowheads="1"/>
          </p:cNvSpPr>
          <p:nvPr/>
        </p:nvSpPr>
        <p:spPr bwMode="auto">
          <a:xfrm>
            <a:off x="1180991" y="2324501"/>
            <a:ext cx="984168" cy="992974"/>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38" name="Oval 7"/>
          <p:cNvSpPr>
            <a:spLocks noChangeArrowheads="1"/>
          </p:cNvSpPr>
          <p:nvPr/>
        </p:nvSpPr>
        <p:spPr bwMode="auto">
          <a:xfrm>
            <a:off x="3003147" y="2321101"/>
            <a:ext cx="984168" cy="992974"/>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0" name="Freeform 10"/>
          <p:cNvSpPr/>
          <p:nvPr/>
        </p:nvSpPr>
        <p:spPr bwMode="auto">
          <a:xfrm>
            <a:off x="679556" y="1812697"/>
            <a:ext cx="2034628" cy="1144300"/>
          </a:xfrm>
          <a:custGeom>
            <a:avLst/>
            <a:gdLst>
              <a:gd name="T0" fmla="*/ 583 w 597"/>
              <a:gd name="T1" fmla="*/ 291 h 333"/>
              <a:gd name="T2" fmla="*/ 291 w 597"/>
              <a:gd name="T3" fmla="*/ 0 h 333"/>
              <a:gd name="T4" fmla="*/ 0 w 597"/>
              <a:gd name="T5" fmla="*/ 291 h 333"/>
              <a:gd name="T6" fmla="*/ 49 w 597"/>
              <a:gd name="T7" fmla="*/ 291 h 333"/>
              <a:gd name="T8" fmla="*/ 291 w 597"/>
              <a:gd name="T9" fmla="*/ 49 h 333"/>
              <a:gd name="T10" fmla="*/ 534 w 597"/>
              <a:gd name="T11" fmla="*/ 291 h 333"/>
              <a:gd name="T12" fmla="*/ 520 w 597"/>
              <a:gd name="T13" fmla="*/ 291 h 333"/>
              <a:gd name="T14" fmla="*/ 559 w 597"/>
              <a:gd name="T15" fmla="*/ 333 h 333"/>
              <a:gd name="T16" fmla="*/ 597 w 597"/>
              <a:gd name="T17" fmla="*/ 291 h 333"/>
              <a:gd name="T18" fmla="*/ 583 w 597"/>
              <a:gd name="T19"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7" h="333">
                <a:moveTo>
                  <a:pt x="583" y="291"/>
                </a:moveTo>
                <a:cubicBezTo>
                  <a:pt x="583" y="130"/>
                  <a:pt x="453" y="0"/>
                  <a:pt x="291" y="0"/>
                </a:cubicBezTo>
                <a:cubicBezTo>
                  <a:pt x="130" y="0"/>
                  <a:pt x="0" y="130"/>
                  <a:pt x="0" y="291"/>
                </a:cubicBezTo>
                <a:cubicBezTo>
                  <a:pt x="49" y="291"/>
                  <a:pt x="49" y="291"/>
                  <a:pt x="49" y="291"/>
                </a:cubicBezTo>
                <a:cubicBezTo>
                  <a:pt x="49" y="157"/>
                  <a:pt x="158" y="49"/>
                  <a:pt x="291" y="49"/>
                </a:cubicBezTo>
                <a:cubicBezTo>
                  <a:pt x="425" y="49"/>
                  <a:pt x="534" y="157"/>
                  <a:pt x="534" y="291"/>
                </a:cubicBezTo>
                <a:cubicBezTo>
                  <a:pt x="520" y="291"/>
                  <a:pt x="520" y="291"/>
                  <a:pt x="520" y="291"/>
                </a:cubicBezTo>
                <a:cubicBezTo>
                  <a:pt x="559" y="333"/>
                  <a:pt x="559" y="333"/>
                  <a:pt x="559" y="333"/>
                </a:cubicBezTo>
                <a:cubicBezTo>
                  <a:pt x="597" y="291"/>
                  <a:pt x="597" y="291"/>
                  <a:pt x="597" y="291"/>
                </a:cubicBezTo>
                <a:lnTo>
                  <a:pt x="583"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1" name="Oval 11"/>
          <p:cNvSpPr>
            <a:spLocks noChangeArrowheads="1"/>
          </p:cNvSpPr>
          <p:nvPr/>
        </p:nvSpPr>
        <p:spPr bwMode="auto">
          <a:xfrm>
            <a:off x="4818504" y="2324501"/>
            <a:ext cx="985867" cy="992974"/>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2" name="Oval 13"/>
          <p:cNvSpPr>
            <a:spLocks noChangeArrowheads="1"/>
          </p:cNvSpPr>
          <p:nvPr/>
        </p:nvSpPr>
        <p:spPr bwMode="auto">
          <a:xfrm>
            <a:off x="6642360" y="2321101"/>
            <a:ext cx="984168" cy="992974"/>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3" name="Freeform 14"/>
          <p:cNvSpPr/>
          <p:nvPr/>
        </p:nvSpPr>
        <p:spPr bwMode="auto">
          <a:xfrm>
            <a:off x="4322168" y="1819514"/>
            <a:ext cx="2029527" cy="1144300"/>
          </a:xfrm>
          <a:custGeom>
            <a:avLst/>
            <a:gdLst>
              <a:gd name="T0" fmla="*/ 582 w 596"/>
              <a:gd name="T1" fmla="*/ 291 h 333"/>
              <a:gd name="T2" fmla="*/ 291 w 596"/>
              <a:gd name="T3" fmla="*/ 0 h 333"/>
              <a:gd name="T4" fmla="*/ 0 w 596"/>
              <a:gd name="T5" fmla="*/ 266 h 333"/>
              <a:gd name="T6" fmla="*/ 24 w 596"/>
              <a:gd name="T7" fmla="*/ 240 h 333"/>
              <a:gd name="T8" fmla="*/ 49 w 596"/>
              <a:gd name="T9" fmla="*/ 268 h 333"/>
              <a:gd name="T10" fmla="*/ 291 w 596"/>
              <a:gd name="T11" fmla="*/ 49 h 333"/>
              <a:gd name="T12" fmla="*/ 533 w 596"/>
              <a:gd name="T13" fmla="*/ 291 h 333"/>
              <a:gd name="T14" fmla="*/ 520 w 596"/>
              <a:gd name="T15" fmla="*/ 291 h 333"/>
              <a:gd name="T16" fmla="*/ 558 w 596"/>
              <a:gd name="T17" fmla="*/ 333 h 333"/>
              <a:gd name="T18" fmla="*/ 596 w 596"/>
              <a:gd name="T19" fmla="*/ 291 h 333"/>
              <a:gd name="T20" fmla="*/ 582 w 596"/>
              <a:gd name="T21" fmla="*/ 291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82" y="291"/>
                </a:moveTo>
                <a:cubicBezTo>
                  <a:pt x="582" y="130"/>
                  <a:pt x="452" y="0"/>
                  <a:pt x="291" y="0"/>
                </a:cubicBezTo>
                <a:cubicBezTo>
                  <a:pt x="138" y="0"/>
                  <a:pt x="13" y="117"/>
                  <a:pt x="0" y="266"/>
                </a:cubicBezTo>
                <a:cubicBezTo>
                  <a:pt x="24" y="240"/>
                  <a:pt x="24" y="240"/>
                  <a:pt x="24" y="240"/>
                </a:cubicBezTo>
                <a:cubicBezTo>
                  <a:pt x="49" y="268"/>
                  <a:pt x="49" y="268"/>
                  <a:pt x="49" y="268"/>
                </a:cubicBezTo>
                <a:cubicBezTo>
                  <a:pt x="61" y="145"/>
                  <a:pt x="165" y="49"/>
                  <a:pt x="291" y="49"/>
                </a:cubicBezTo>
                <a:cubicBezTo>
                  <a:pt x="425" y="49"/>
                  <a:pt x="533" y="157"/>
                  <a:pt x="533" y="291"/>
                </a:cubicBezTo>
                <a:cubicBezTo>
                  <a:pt x="520" y="291"/>
                  <a:pt x="520" y="291"/>
                  <a:pt x="520" y="291"/>
                </a:cubicBezTo>
                <a:cubicBezTo>
                  <a:pt x="558" y="333"/>
                  <a:pt x="558" y="333"/>
                  <a:pt x="558" y="333"/>
                </a:cubicBezTo>
                <a:cubicBezTo>
                  <a:pt x="596" y="291"/>
                  <a:pt x="596" y="291"/>
                  <a:pt x="596" y="291"/>
                </a:cubicBezTo>
                <a:lnTo>
                  <a:pt x="582" y="291"/>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4" name="Freeform 15"/>
          <p:cNvSpPr/>
          <p:nvPr/>
        </p:nvSpPr>
        <p:spPr bwMode="auto">
          <a:xfrm>
            <a:off x="2501713" y="2678163"/>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3" y="216"/>
                  <a:pt x="138"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5" name="Freeform 17"/>
          <p:cNvSpPr/>
          <p:nvPr/>
        </p:nvSpPr>
        <p:spPr bwMode="auto">
          <a:xfrm>
            <a:off x="6140925" y="2678163"/>
            <a:ext cx="2031228" cy="1144300"/>
          </a:xfrm>
          <a:custGeom>
            <a:avLst/>
            <a:gdLst>
              <a:gd name="T0" fmla="*/ 558 w 596"/>
              <a:gd name="T1" fmla="*/ 0 h 333"/>
              <a:gd name="T2" fmla="*/ 520 w 596"/>
              <a:gd name="T3" fmla="*/ 41 h 333"/>
              <a:gd name="T4" fmla="*/ 533 w 596"/>
              <a:gd name="T5" fmla="*/ 41 h 333"/>
              <a:gd name="T6" fmla="*/ 291 w 596"/>
              <a:gd name="T7" fmla="*/ 284 h 333"/>
              <a:gd name="T8" fmla="*/ 49 w 596"/>
              <a:gd name="T9" fmla="*/ 65 h 333"/>
              <a:gd name="T10" fmla="*/ 24 w 596"/>
              <a:gd name="T11" fmla="*/ 93 h 333"/>
              <a:gd name="T12" fmla="*/ 0 w 596"/>
              <a:gd name="T13" fmla="*/ 67 h 333"/>
              <a:gd name="T14" fmla="*/ 291 w 596"/>
              <a:gd name="T15" fmla="*/ 333 h 333"/>
              <a:gd name="T16" fmla="*/ 582 w 596"/>
              <a:gd name="T17" fmla="*/ 41 h 333"/>
              <a:gd name="T18" fmla="*/ 596 w 596"/>
              <a:gd name="T19" fmla="*/ 41 h 333"/>
              <a:gd name="T20" fmla="*/ 558 w 596"/>
              <a:gd name="T21"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6" h="333">
                <a:moveTo>
                  <a:pt x="558" y="0"/>
                </a:moveTo>
                <a:cubicBezTo>
                  <a:pt x="520" y="41"/>
                  <a:pt x="520" y="41"/>
                  <a:pt x="520" y="41"/>
                </a:cubicBezTo>
                <a:cubicBezTo>
                  <a:pt x="533" y="41"/>
                  <a:pt x="533" y="41"/>
                  <a:pt x="533" y="41"/>
                </a:cubicBezTo>
                <a:cubicBezTo>
                  <a:pt x="533" y="175"/>
                  <a:pt x="425" y="284"/>
                  <a:pt x="291" y="284"/>
                </a:cubicBezTo>
                <a:cubicBezTo>
                  <a:pt x="165" y="284"/>
                  <a:pt x="61" y="188"/>
                  <a:pt x="49" y="65"/>
                </a:cubicBezTo>
                <a:cubicBezTo>
                  <a:pt x="24" y="93"/>
                  <a:pt x="24" y="93"/>
                  <a:pt x="24" y="93"/>
                </a:cubicBezTo>
                <a:cubicBezTo>
                  <a:pt x="0" y="67"/>
                  <a:pt x="0" y="67"/>
                  <a:pt x="0" y="67"/>
                </a:cubicBezTo>
                <a:cubicBezTo>
                  <a:pt x="14" y="216"/>
                  <a:pt x="139" y="333"/>
                  <a:pt x="291" y="333"/>
                </a:cubicBezTo>
                <a:cubicBezTo>
                  <a:pt x="452" y="333"/>
                  <a:pt x="582" y="202"/>
                  <a:pt x="582" y="41"/>
                </a:cubicBezTo>
                <a:cubicBezTo>
                  <a:pt x="596" y="41"/>
                  <a:pt x="596" y="41"/>
                  <a:pt x="596" y="41"/>
                </a:cubicBezTo>
                <a:lnTo>
                  <a:pt x="558" y="0"/>
                </a:ln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7" name="矩形 46"/>
          <p:cNvSpPr/>
          <p:nvPr/>
        </p:nvSpPr>
        <p:spPr>
          <a:xfrm>
            <a:off x="413899" y="3867650"/>
            <a:ext cx="2414561" cy="1545590"/>
          </a:xfrm>
          <a:prstGeom prst="rect">
            <a:avLst/>
          </a:prstGeom>
        </p:spPr>
        <p:txBody>
          <a:bodyPr wrap="square">
            <a:spAutoFit/>
          </a:bodyPr>
          <a:lstStyle/>
          <a:p>
            <a:pPr algn="ctr">
              <a:lnSpc>
                <a:spcPct val="150000"/>
              </a:lnSpc>
            </a:pPr>
            <a:r>
              <a:rPr lang="en-US" altLang="zh-CN" sz="1050">
                <a:solidFill>
                  <a:schemeClr val="tx1"/>
                </a:solidFill>
              </a:rPr>
              <a:t>Crawl or manually collect data from the “Campus Recruitment / Internship Recruitment” pages of major companies such as Tencent, Alibaba, and ByteDance, and perform data preprocessing.</a:t>
            </a:r>
            <a:endParaRPr lang="en-US" altLang="zh-CN" sz="1050">
              <a:solidFill>
                <a:schemeClr val="tx1"/>
              </a:solidFill>
            </a:endParaRPr>
          </a:p>
        </p:txBody>
      </p:sp>
      <p:sp>
        <p:nvSpPr>
          <p:cNvPr id="49" name="矩形 48"/>
          <p:cNvSpPr/>
          <p:nvPr/>
        </p:nvSpPr>
        <p:spPr>
          <a:xfrm>
            <a:off x="2250521" y="1114273"/>
            <a:ext cx="2414561" cy="575945"/>
          </a:xfrm>
          <a:prstGeom prst="rect">
            <a:avLst/>
          </a:prstGeom>
        </p:spPr>
        <p:txBody>
          <a:bodyPr wrap="square">
            <a:spAutoFit/>
          </a:bodyPr>
          <a:lstStyle/>
          <a:p>
            <a:pPr algn="ctr">
              <a:lnSpc>
                <a:spcPct val="150000"/>
              </a:lnSpc>
            </a:pPr>
            <a:r>
              <a:rPr lang="en-US" altLang="zh-CN" sz="1050">
                <a:solidFill>
                  <a:schemeClr val="tx1"/>
                </a:solidFill>
              </a:rPr>
              <a:t>Convert the preprocessed .csv file into a .json file for fine-tuning.</a:t>
            </a:r>
            <a:endParaRPr lang="en-US" altLang="zh-CN" sz="1050">
              <a:solidFill>
                <a:schemeClr val="tx1"/>
              </a:solidFill>
            </a:endParaRPr>
          </a:p>
        </p:txBody>
      </p:sp>
      <p:sp>
        <p:nvSpPr>
          <p:cNvPr id="51" name="矩形 50"/>
          <p:cNvSpPr/>
          <p:nvPr/>
        </p:nvSpPr>
        <p:spPr>
          <a:xfrm>
            <a:off x="4227788" y="4083467"/>
            <a:ext cx="2414561" cy="1060450"/>
          </a:xfrm>
          <a:prstGeom prst="rect">
            <a:avLst/>
          </a:prstGeom>
        </p:spPr>
        <p:txBody>
          <a:bodyPr wrap="square">
            <a:spAutoFit/>
          </a:bodyPr>
          <a:lstStyle/>
          <a:p>
            <a:pPr algn="ctr">
              <a:lnSpc>
                <a:spcPct val="150000"/>
              </a:lnSpc>
            </a:pPr>
            <a:r>
              <a:rPr lang="en-US" altLang="zh-CN" sz="1050">
                <a:solidFill>
                  <a:schemeClr val="tx1"/>
                </a:solidFill>
              </a:rPr>
              <a:t>Use LLaMA-Factory to train Qwen, LLaMA3, and GLM4, and conduct a comparative analysis.</a:t>
            </a:r>
            <a:endParaRPr lang="en-US" altLang="zh-CN" sz="1050">
              <a:solidFill>
                <a:schemeClr val="tx1"/>
              </a:solidFill>
            </a:endParaRPr>
          </a:p>
          <a:p>
            <a:pPr algn="ctr">
              <a:lnSpc>
                <a:spcPct val="150000"/>
              </a:lnSpc>
            </a:pPr>
            <a:endParaRPr lang="en-US" altLang="zh-CN" sz="1050">
              <a:solidFill>
                <a:schemeClr val="tx1"/>
              </a:solidFill>
            </a:endParaRPr>
          </a:p>
        </p:txBody>
      </p:sp>
      <p:grpSp>
        <p:nvGrpSpPr>
          <p:cNvPr id="55" name="组合 54"/>
          <p:cNvGrpSpPr/>
          <p:nvPr/>
        </p:nvGrpSpPr>
        <p:grpSpPr>
          <a:xfrm>
            <a:off x="3293972" y="2631893"/>
            <a:ext cx="402518" cy="404299"/>
            <a:chOff x="5394325" y="2859088"/>
            <a:chExt cx="358775" cy="360362"/>
          </a:xfrm>
          <a:solidFill>
            <a:schemeClr val="bg1"/>
          </a:solidFill>
        </p:grpSpPr>
        <p:sp>
          <p:nvSpPr>
            <p:cNvPr id="56"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7"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8"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9"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0"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1"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2" name="组合 61"/>
          <p:cNvGrpSpPr/>
          <p:nvPr/>
        </p:nvGrpSpPr>
        <p:grpSpPr>
          <a:xfrm>
            <a:off x="5109959" y="2619510"/>
            <a:ext cx="402956" cy="402956"/>
            <a:chOff x="5394312" y="2141343"/>
            <a:chExt cx="359165" cy="359165"/>
          </a:xfrm>
          <a:solidFill>
            <a:schemeClr val="bg1"/>
          </a:solidFill>
        </p:grpSpPr>
        <p:sp>
          <p:nvSpPr>
            <p:cNvPr id="63"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4"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5"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66" name="AutoShape 112"/>
          <p:cNvSpPr/>
          <p:nvPr/>
        </p:nvSpPr>
        <p:spPr bwMode="auto">
          <a:xfrm>
            <a:off x="6932294" y="2616330"/>
            <a:ext cx="404300" cy="402518"/>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67" name="组合 66"/>
          <p:cNvGrpSpPr/>
          <p:nvPr/>
        </p:nvGrpSpPr>
        <p:grpSpPr>
          <a:xfrm>
            <a:off x="1457948" y="2633236"/>
            <a:ext cx="402956" cy="402956"/>
            <a:chOff x="2473104" y="2145028"/>
            <a:chExt cx="359165" cy="359165"/>
          </a:xfrm>
          <a:solidFill>
            <a:schemeClr val="bg1"/>
          </a:solidFill>
        </p:grpSpPr>
        <p:sp>
          <p:nvSpPr>
            <p:cNvPr id="6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9" name="Oval 8"/>
          <p:cNvSpPr>
            <a:spLocks noChangeArrowheads="1"/>
          </p:cNvSpPr>
          <p:nvPr/>
        </p:nvSpPr>
        <p:spPr bwMode="auto">
          <a:xfrm>
            <a:off x="685836" y="2898681"/>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46" name="Oval 8"/>
          <p:cNvSpPr>
            <a:spLocks noChangeArrowheads="1"/>
          </p:cNvSpPr>
          <p:nvPr/>
        </p:nvSpPr>
        <p:spPr bwMode="auto">
          <a:xfrm>
            <a:off x="7973945" y="2462264"/>
            <a:ext cx="154018" cy="15406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endParaRPr>
          </a:p>
        </p:txBody>
      </p:sp>
      <p:sp>
        <p:nvSpPr>
          <p:cNvPr id="2" name="文本框 1"/>
          <p:cNvSpPr txBox="1">
            <a:spLocks noChangeArrowheads="1"/>
          </p:cNvSpPr>
          <p:nvPr/>
        </p:nvSpPr>
        <p:spPr bwMode="auto">
          <a:xfrm>
            <a:off x="740594" y="3391955"/>
            <a:ext cx="1761172" cy="49149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en-US" altLang="zh-CN">
                <a:latin typeface="+mj-ea"/>
                <a:ea typeface="+mj-ea"/>
              </a:rPr>
              <a:t>Data Crawling and Data Cleaning</a:t>
            </a:r>
            <a:endParaRPr lang="en-US" altLang="zh-CN">
              <a:latin typeface="+mj-ea"/>
              <a:ea typeface="+mj-ea"/>
            </a:endParaRPr>
          </a:p>
        </p:txBody>
      </p:sp>
      <p:sp>
        <p:nvSpPr>
          <p:cNvPr id="3" name="文本框 2"/>
          <p:cNvSpPr txBox="1">
            <a:spLocks noChangeArrowheads="1"/>
          </p:cNvSpPr>
          <p:nvPr/>
        </p:nvSpPr>
        <p:spPr bwMode="auto">
          <a:xfrm>
            <a:off x="2602495" y="1683287"/>
            <a:ext cx="1761172" cy="49149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en-US" altLang="zh-CN">
                <a:latin typeface="+mj-ea"/>
                <a:ea typeface="+mj-ea"/>
              </a:rPr>
              <a:t>Fine-tuning Dataset Conversion</a:t>
            </a:r>
            <a:endParaRPr lang="en-US" altLang="zh-CN">
              <a:latin typeface="+mj-ea"/>
              <a:ea typeface="+mj-ea"/>
            </a:endParaRPr>
          </a:p>
        </p:txBody>
      </p:sp>
      <p:sp>
        <p:nvSpPr>
          <p:cNvPr id="7" name="文本框 6"/>
          <p:cNvSpPr txBox="1">
            <a:spLocks noChangeArrowheads="1"/>
          </p:cNvSpPr>
          <p:nvPr/>
        </p:nvSpPr>
        <p:spPr bwMode="auto">
          <a:xfrm>
            <a:off x="4492649" y="3391913"/>
            <a:ext cx="1761172" cy="69151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en-US" altLang="zh-CN">
                <a:latin typeface="+mj-ea"/>
                <a:ea typeface="+mj-ea"/>
                <a:cs typeface="Arial" panose="020B0604020202020204" pitchFamily="34" charset="0"/>
              </a:rPr>
              <a:t>Model Training and Hyperparameter Tuning</a:t>
            </a:r>
            <a:endParaRPr lang="en-US" altLang="zh-CN">
              <a:latin typeface="+mj-ea"/>
              <a:ea typeface="+mj-ea"/>
              <a:cs typeface="Arial" panose="020B0604020202020204" pitchFamily="34" charset="0"/>
            </a:endParaRPr>
          </a:p>
        </p:txBody>
      </p:sp>
      <p:sp>
        <p:nvSpPr>
          <p:cNvPr id="8" name="文本框 7"/>
          <p:cNvSpPr txBox="1">
            <a:spLocks noChangeArrowheads="1"/>
          </p:cNvSpPr>
          <p:nvPr/>
        </p:nvSpPr>
        <p:spPr bwMode="auto">
          <a:xfrm>
            <a:off x="6253821" y="1683271"/>
            <a:ext cx="1918320" cy="691515"/>
          </a:xfrm>
          <a:prstGeom prst="rect">
            <a:avLst/>
          </a:prstGeom>
          <a:noFill/>
          <a:ln>
            <a:noFill/>
          </a:ln>
        </p:spPr>
        <p:txBody>
          <a:bodyPr wrap="square">
            <a:no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en-US" altLang="zh-CN">
                <a:solidFill>
                  <a:schemeClr val="tx1"/>
                </a:solidFill>
                <a:latin typeface="+mj-ea"/>
                <a:ea typeface="+mj-ea"/>
              </a:rPr>
              <a:t>Comparison and Ablation Study</a:t>
            </a:r>
            <a:endParaRPr lang="en-US" altLang="zh-CN">
              <a:solidFill>
                <a:schemeClr val="tx1"/>
              </a:solidFill>
              <a:latin typeface="+mj-ea"/>
              <a:ea typeface="+mj-ea"/>
            </a:endParaRPr>
          </a:p>
        </p:txBody>
      </p:sp>
      <p:sp>
        <p:nvSpPr>
          <p:cNvPr id="9" name="矩形 8"/>
          <p:cNvSpPr/>
          <p:nvPr/>
        </p:nvSpPr>
        <p:spPr>
          <a:xfrm>
            <a:off x="6005778" y="1299019"/>
            <a:ext cx="2414561" cy="734233"/>
          </a:xfrm>
          <a:prstGeom prst="rect">
            <a:avLst/>
          </a:prstGeom>
        </p:spPr>
        <p:txBody>
          <a:bodyPr wrap="square">
            <a:noAutofit/>
          </a:bodyPr>
          <a:lstStyle/>
          <a:p>
            <a:pPr algn="ctr">
              <a:lnSpc>
                <a:spcPct val="150000"/>
              </a:lnSpc>
            </a:pPr>
            <a:r>
              <a:rPr lang="en-US" altLang="zh-CN" sz="1050">
                <a:solidFill>
                  <a:schemeClr val="tx1">
                    <a:lumMod val="95000"/>
                    <a:lumOff val="5000"/>
                  </a:schemeClr>
                </a:solidFill>
                <a:latin typeface="Calibri Light" panose="020F0302020204030204" pitchFamily="34" charset="0"/>
                <a:ea typeface="方正兰亭黑_GBK" charset="0"/>
                <a:sym typeface="+mn-ea"/>
              </a:rPr>
              <a:t>Taguchi Orthogonal Design</a:t>
            </a:r>
            <a:endParaRPr lang="en-US" altLang="zh-CN" sz="105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78062" y="747041"/>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1852697" y="2076281"/>
            <a:ext cx="58388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3600" b="1">
                <a:solidFill>
                  <a:schemeClr val="accent1"/>
                </a:solidFill>
                <a:latin typeface="+mj-ea"/>
                <a:ea typeface="+mj-ea"/>
              </a:rPr>
              <a:t>Database Construction</a:t>
            </a:r>
            <a:endParaRPr lang="en-US" altLang="zh-CN" sz="3600" b="1">
              <a:solidFill>
                <a:schemeClr val="accent1"/>
              </a:solidFill>
              <a:latin typeface="+mj-ea"/>
              <a:ea typeface="+mj-ea"/>
            </a:endParaRPr>
          </a:p>
        </p:txBody>
      </p:sp>
      <p:cxnSp>
        <p:nvCxnSpPr>
          <p:cNvPr id="23" name="直接连接符 22"/>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052282" y="2721441"/>
            <a:ext cx="3877797" cy="737235"/>
          </a:xfrm>
          <a:prstGeom prst="rect">
            <a:avLst/>
          </a:prstGeom>
        </p:spPr>
        <p:txBody>
          <a:bodyPr wrap="square">
            <a:spAutoFit/>
          </a:bodyPr>
          <a:lstStyle/>
          <a:p>
            <a:pPr marL="0" marR="0" lvl="0" indent="0" algn="l" defTabSz="914400" eaLnBrk="1" fontAlgn="auto" latinLnBrk="0" hangingPunct="1">
              <a:lnSpc>
                <a:spcPct val="150000"/>
              </a:lnSpc>
              <a:spcBef>
                <a:spcPct val="0"/>
              </a:spcBef>
              <a:spcAft>
                <a:spcPct val="0"/>
              </a:spcAft>
              <a:buClrTx/>
              <a:buSzTx/>
              <a:buFontTx/>
              <a:buNone/>
              <a:defRPr/>
            </a:pPr>
            <a:r>
              <a:rPr lang="en-US" altLang="zh-CN" sz="1400" b="1" kern="0" noProof="0">
                <a:ln>
                  <a:noFill/>
                </a:ln>
                <a:solidFill>
                  <a:schemeClr val="tx1">
                    <a:lumMod val="85000"/>
                    <a:lumOff val="15000"/>
                  </a:schemeClr>
                </a:solidFill>
                <a:effectLst/>
                <a:uLnTx/>
                <a:uFillTx/>
                <a:cs typeface="Arial" panose="020B0604020202020204" pitchFamily="34" charset="0"/>
              </a:rPr>
              <a:t>1.Data Crawling and Data Cleaning</a:t>
            </a:r>
            <a:endParaRPr lang="en-US" altLang="zh-CN" sz="1400" b="1" kern="0" noProof="0">
              <a:ln>
                <a:noFill/>
              </a:ln>
              <a:solidFill>
                <a:schemeClr val="tx1">
                  <a:lumMod val="85000"/>
                  <a:lumOff val="15000"/>
                </a:schemeClr>
              </a:solidFill>
              <a:effectLst/>
              <a:uLnTx/>
              <a:uFillTx/>
              <a:cs typeface="Arial" panose="020B0604020202020204" pitchFamily="34" charset="0"/>
            </a:endParaRPr>
          </a:p>
          <a:p>
            <a:pPr marL="0" marR="0" lvl="0" indent="0" algn="l" defTabSz="914400" eaLnBrk="1" fontAlgn="auto" latinLnBrk="0" hangingPunct="1">
              <a:lnSpc>
                <a:spcPct val="150000"/>
              </a:lnSpc>
              <a:spcBef>
                <a:spcPct val="0"/>
              </a:spcBef>
              <a:spcAft>
                <a:spcPct val="0"/>
              </a:spcAft>
              <a:buClrTx/>
              <a:buSzTx/>
              <a:buFontTx/>
              <a:buNone/>
              <a:defRPr/>
            </a:pPr>
            <a:r>
              <a:rPr lang="en-US" altLang="zh-CN" sz="1400" b="1" kern="0" noProof="0">
                <a:ln>
                  <a:noFill/>
                </a:ln>
                <a:solidFill>
                  <a:schemeClr val="tx1">
                    <a:lumMod val="85000"/>
                    <a:lumOff val="15000"/>
                  </a:schemeClr>
                </a:solidFill>
                <a:effectLst/>
                <a:uLnTx/>
                <a:uFillTx/>
                <a:cs typeface="Arial" panose="020B0604020202020204" pitchFamily="34" charset="0"/>
              </a:rPr>
              <a:t>2.SFT Dataset Construction Pipeline</a:t>
            </a:r>
            <a:endParaRPr lang="en-US" altLang="zh-CN" sz="1400" b="1" kern="0" noProof="0">
              <a:ln>
                <a:noFill/>
              </a:ln>
              <a:solidFill>
                <a:schemeClr val="tx1">
                  <a:lumMod val="85000"/>
                  <a:lumOff val="15000"/>
                </a:schemeClr>
              </a:solidFill>
              <a:effectLst/>
              <a:uLnTx/>
              <a:uFillTx/>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189648" y="529751"/>
            <a:ext cx="31191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1.Data Crawling and Data Cleaning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6"/>
          <p:cNvSpPr txBox="1">
            <a:spLocks noChangeArrowheads="1"/>
          </p:cNvSpPr>
          <p:nvPr/>
        </p:nvSpPr>
        <p:spPr bwMode="auto">
          <a:xfrm>
            <a:off x="3590623" y="838379"/>
            <a:ext cx="250317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400" b="1">
                <a:solidFill>
                  <a:schemeClr val="tx1"/>
                </a:solidFill>
                <a:ea typeface="方正兰亭黑_GBK"/>
              </a:rPr>
              <a:t>Sources </a:t>
            </a:r>
            <a:r>
              <a:rPr lang="en-US" altLang="zh-CN" sz="2400" b="1">
                <a:solidFill>
                  <a:schemeClr val="tx1"/>
                </a:solidFill>
                <a:ea typeface="方正兰亭黑_GBK"/>
                <a:cs typeface="Arial" panose="020B0604020202020204" pitchFamily="34" charset="0"/>
              </a:rPr>
              <a:t>of </a:t>
            </a:r>
            <a:r>
              <a:rPr lang="en-US" altLang="zh-CN" sz="2400" b="1">
                <a:solidFill>
                  <a:schemeClr val="tx1"/>
                </a:solidFill>
                <a:ea typeface="方正兰亭黑_GBK" charset="0"/>
                <a:cs typeface="Arial" panose="020B0604020202020204" pitchFamily="34" charset="0"/>
              </a:rPr>
              <a:t>D</a:t>
            </a:r>
            <a:r>
              <a:rPr lang="en-US" altLang="zh-CN" sz="2400" b="1">
                <a:solidFill>
                  <a:schemeClr val="tx1"/>
                </a:solidFill>
                <a:ea typeface="方正兰亭黑_GBK"/>
                <a:cs typeface="Arial" panose="020B0604020202020204" pitchFamily="34" charset="0"/>
              </a:rPr>
              <a:t>ata</a:t>
            </a:r>
            <a:endParaRPr lang="en-US" altLang="zh-CN" sz="2400" b="1">
              <a:solidFill>
                <a:schemeClr val="tx1"/>
              </a:solidFill>
              <a:ea typeface="方正兰亭黑_GBK"/>
            </a:endParaRPr>
          </a:p>
          <a:p>
            <a:pPr algn="l" fontAlgn="base">
              <a:spcBef>
                <a:spcPct val="0"/>
              </a:spcBef>
              <a:spcAft>
                <a:spcPct val="0"/>
              </a:spcAft>
              <a:defRPr/>
            </a:pPr>
            <a:endParaRPr lang="en-US" altLang="zh-CN" sz="2400" b="1">
              <a:solidFill>
                <a:schemeClr val="tx1"/>
              </a:solidFill>
              <a:ea typeface="方正兰亭黑_GBK"/>
            </a:endParaRPr>
          </a:p>
        </p:txBody>
      </p:sp>
      <p:pic>
        <p:nvPicPr>
          <p:cNvPr id="4" name="图片 3" descr="post_object_image_1706443605"/>
          <p:cNvPicPr>
            <a:picLocks noChangeAspect="1"/>
          </p:cNvPicPr>
          <p:nvPr/>
        </p:nvPicPr>
        <p:blipFill>
          <a:blip r:embed="rId1"/>
          <a:stretch>
            <a:fillRect/>
          </a:stretch>
        </p:blipFill>
        <p:spPr>
          <a:xfrm>
            <a:off x="337018" y="1349832"/>
            <a:ext cx="8135170" cy="33775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189648" y="529751"/>
            <a:ext cx="31191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1.Data Crawling and Data Cleaning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6"/>
          <p:cNvSpPr txBox="1">
            <a:spLocks noChangeArrowheads="1"/>
          </p:cNvSpPr>
          <p:nvPr/>
        </p:nvSpPr>
        <p:spPr bwMode="auto">
          <a:xfrm>
            <a:off x="3506806" y="838379"/>
            <a:ext cx="2130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400" b="1">
                <a:solidFill>
                  <a:schemeClr val="tx1"/>
                </a:solidFill>
                <a:ea typeface="方正兰亭黑_GBK"/>
              </a:rPr>
              <a:t>Data Crawing</a:t>
            </a:r>
            <a:endParaRPr lang="en-US" altLang="zh-CN">
              <a:ea typeface="方正兰亭黑_GBK"/>
            </a:endParaRPr>
          </a:p>
        </p:txBody>
      </p:sp>
      <p:pic>
        <p:nvPicPr>
          <p:cNvPr id="2" name="图片 1" descr="post_object_image_2268778318"/>
          <p:cNvPicPr>
            <a:picLocks noChangeAspect="1"/>
          </p:cNvPicPr>
          <p:nvPr/>
        </p:nvPicPr>
        <p:blipFill>
          <a:blip r:embed="rId1"/>
          <a:stretch>
            <a:fillRect/>
          </a:stretch>
        </p:blipFill>
        <p:spPr>
          <a:xfrm>
            <a:off x="489827" y="1299422"/>
            <a:ext cx="8063690" cy="1307950"/>
          </a:xfrm>
          <a:prstGeom prst="rect">
            <a:avLst/>
          </a:prstGeom>
        </p:spPr>
      </p:pic>
      <p:pic>
        <p:nvPicPr>
          <p:cNvPr id="5" name="图片 4" descr="post_object_image_3901886276"/>
          <p:cNvPicPr>
            <a:picLocks noChangeAspect="1"/>
          </p:cNvPicPr>
          <p:nvPr/>
        </p:nvPicPr>
        <p:blipFill>
          <a:blip r:embed="rId2"/>
          <a:stretch>
            <a:fillRect/>
          </a:stretch>
        </p:blipFill>
        <p:spPr>
          <a:xfrm>
            <a:off x="536287" y="2607400"/>
            <a:ext cx="5377849" cy="22684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189648" y="529751"/>
            <a:ext cx="31191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1.Data Crawling and Data Cleaning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6"/>
          <p:cNvSpPr txBox="1">
            <a:spLocks noChangeArrowheads="1"/>
          </p:cNvSpPr>
          <p:nvPr/>
        </p:nvSpPr>
        <p:spPr bwMode="auto">
          <a:xfrm>
            <a:off x="3506806" y="838379"/>
            <a:ext cx="21304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400" b="1">
                <a:solidFill>
                  <a:schemeClr val="tx1"/>
                </a:solidFill>
                <a:ea typeface="方正兰亭黑_GBK"/>
              </a:rPr>
              <a:t>Data Crawing</a:t>
            </a:r>
            <a:endParaRPr lang="en-US" altLang="zh-CN">
              <a:ea typeface="方正兰亭黑_GBK"/>
            </a:endParaRPr>
          </a:p>
        </p:txBody>
      </p:sp>
      <p:pic>
        <p:nvPicPr>
          <p:cNvPr id="4" name="图片 3" descr="post_object_image_3894506620"/>
          <p:cNvPicPr>
            <a:picLocks noChangeAspect="1"/>
          </p:cNvPicPr>
          <p:nvPr/>
        </p:nvPicPr>
        <p:blipFill>
          <a:blip r:embed="rId1"/>
          <a:stretch>
            <a:fillRect/>
          </a:stretch>
        </p:blipFill>
        <p:spPr>
          <a:xfrm>
            <a:off x="489118" y="1299422"/>
            <a:ext cx="8305314" cy="1913515"/>
          </a:xfrm>
          <a:prstGeom prst="rect">
            <a:avLst/>
          </a:prstGeom>
        </p:spPr>
      </p:pic>
      <p:pic>
        <p:nvPicPr>
          <p:cNvPr id="6" name="图片 5" descr="post_object_image_1209864050"/>
          <p:cNvPicPr>
            <a:picLocks noChangeAspect="1"/>
          </p:cNvPicPr>
          <p:nvPr/>
        </p:nvPicPr>
        <p:blipFill>
          <a:blip r:embed="rId2"/>
          <a:stretch>
            <a:fillRect/>
          </a:stretch>
        </p:blipFill>
        <p:spPr>
          <a:xfrm>
            <a:off x="548750" y="3212978"/>
            <a:ext cx="7595632" cy="929646"/>
          </a:xfrm>
          <a:prstGeom prst="rect">
            <a:avLst/>
          </a:prstGeom>
        </p:spPr>
      </p:pic>
      <p:pic>
        <p:nvPicPr>
          <p:cNvPr id="7" name="图片 6" descr="post_object_image_3074626076"/>
          <p:cNvPicPr>
            <a:picLocks noChangeAspect="1"/>
          </p:cNvPicPr>
          <p:nvPr/>
        </p:nvPicPr>
        <p:blipFill>
          <a:blip r:embed="rId3"/>
          <a:stretch>
            <a:fillRect/>
          </a:stretch>
        </p:blipFill>
        <p:spPr>
          <a:xfrm>
            <a:off x="548750" y="4257442"/>
            <a:ext cx="7595632" cy="77011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189648" y="529751"/>
            <a:ext cx="31191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1.Data Crawling and Data Cleaning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6"/>
          <p:cNvSpPr txBox="1">
            <a:spLocks noChangeArrowheads="1"/>
          </p:cNvSpPr>
          <p:nvPr/>
        </p:nvSpPr>
        <p:spPr bwMode="auto">
          <a:xfrm>
            <a:off x="3506806" y="838379"/>
            <a:ext cx="2214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400" b="1">
                <a:solidFill>
                  <a:schemeClr val="tx1"/>
                </a:solidFill>
                <a:ea typeface="方正兰亭黑_GBK"/>
              </a:rPr>
              <a:t>Data C</a:t>
            </a:r>
            <a:r>
              <a:rPr lang="en-US" altLang="zh-CN" sz="2400" b="1">
                <a:solidFill>
                  <a:schemeClr val="tx1"/>
                </a:solidFill>
                <a:ea typeface="方正兰亭黑_GBK" charset="0"/>
              </a:rPr>
              <a:t>leaning</a:t>
            </a:r>
            <a:endParaRPr lang="en-US" altLang="zh-CN">
              <a:ea typeface="方正兰亭黑_GBK"/>
            </a:endParaRPr>
          </a:p>
        </p:txBody>
      </p:sp>
      <p:pic>
        <p:nvPicPr>
          <p:cNvPr id="4" name="图片 3" descr="post_object_image_4181735878"/>
          <p:cNvPicPr>
            <a:picLocks noChangeAspect="1"/>
          </p:cNvPicPr>
          <p:nvPr/>
        </p:nvPicPr>
        <p:blipFill>
          <a:blip r:embed="rId1"/>
          <a:stretch>
            <a:fillRect/>
          </a:stretch>
        </p:blipFill>
        <p:spPr>
          <a:xfrm>
            <a:off x="348481" y="1299422"/>
            <a:ext cx="8447076" cy="1688370"/>
          </a:xfrm>
          <a:prstGeom prst="rect">
            <a:avLst/>
          </a:prstGeom>
        </p:spPr>
      </p:pic>
      <p:pic>
        <p:nvPicPr>
          <p:cNvPr id="6" name="图片 5" descr="post_object_image_3945125495"/>
          <p:cNvPicPr>
            <a:picLocks noChangeAspect="1"/>
          </p:cNvPicPr>
          <p:nvPr/>
        </p:nvPicPr>
        <p:blipFill>
          <a:blip r:embed="rId2"/>
          <a:stretch>
            <a:fillRect/>
          </a:stretch>
        </p:blipFill>
        <p:spPr>
          <a:xfrm>
            <a:off x="348503" y="3062212"/>
            <a:ext cx="8322735" cy="489573"/>
          </a:xfrm>
          <a:prstGeom prst="rect">
            <a:avLst/>
          </a:prstGeom>
        </p:spPr>
      </p:pic>
      <p:pic>
        <p:nvPicPr>
          <p:cNvPr id="7" name="图片 6" descr="post_object_image_2740922284"/>
          <p:cNvPicPr>
            <a:picLocks noChangeAspect="1"/>
          </p:cNvPicPr>
          <p:nvPr/>
        </p:nvPicPr>
        <p:blipFill>
          <a:blip r:embed="rId3"/>
          <a:stretch>
            <a:fillRect/>
          </a:stretch>
        </p:blipFill>
        <p:spPr>
          <a:xfrm>
            <a:off x="348503" y="3681996"/>
            <a:ext cx="8322772" cy="426047"/>
          </a:xfrm>
          <a:prstGeom prst="rect">
            <a:avLst/>
          </a:prstGeom>
        </p:spPr>
      </p:pic>
      <p:pic>
        <p:nvPicPr>
          <p:cNvPr id="8" name="图片 7" descr="post_object_image_551266914"/>
          <p:cNvPicPr>
            <a:picLocks noChangeAspect="1"/>
          </p:cNvPicPr>
          <p:nvPr/>
        </p:nvPicPr>
        <p:blipFill>
          <a:blip r:embed="rId4"/>
          <a:stretch>
            <a:fillRect/>
          </a:stretch>
        </p:blipFill>
        <p:spPr>
          <a:xfrm>
            <a:off x="348503" y="4238255"/>
            <a:ext cx="8322772" cy="2427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任意多边形 46"/>
          <p:cNvSpPr/>
          <p:nvPr/>
        </p:nvSpPr>
        <p:spPr>
          <a:xfrm rot="16200000">
            <a:off x="3279125" y="1446566"/>
            <a:ext cx="1260915" cy="1480065"/>
          </a:xfrm>
          <a:custGeom>
            <a:avLst/>
            <a:gdLst>
              <a:gd name="connsiteX0" fmla="*/ 1310781 w 1310781"/>
              <a:gd name="connsiteY0" fmla="*/ 672655 h 1538599"/>
              <a:gd name="connsiteX1" fmla="*/ 1310781 w 1310781"/>
              <a:gd name="connsiteY1" fmla="*/ 1307618 h 1538599"/>
              <a:gd name="connsiteX2" fmla="*/ 1185196 w 1310781"/>
              <a:gd name="connsiteY2" fmla="*/ 1307618 h 1538599"/>
              <a:gd name="connsiteX3" fmla="*/ 958977 w 1310781"/>
              <a:gd name="connsiteY3" fmla="*/ 1538599 h 1538599"/>
              <a:gd name="connsiteX4" fmla="*/ 735140 w 1310781"/>
              <a:gd name="connsiteY4" fmla="*/ 1312380 h 1538599"/>
              <a:gd name="connsiteX5" fmla="*/ 601790 w 1310781"/>
              <a:gd name="connsiteY5" fmla="*/ 1312380 h 1538599"/>
              <a:gd name="connsiteX6" fmla="*/ 601790 w 1310781"/>
              <a:gd name="connsiteY6" fmla="*/ 967755 h 1538599"/>
              <a:gd name="connsiteX7" fmla="*/ 343026 w 1310781"/>
              <a:gd name="connsiteY7" fmla="*/ 708991 h 1538599"/>
              <a:gd name="connsiteX8" fmla="*/ 5522 w 1310781"/>
              <a:gd name="connsiteY8" fmla="*/ 708991 h 1538599"/>
              <a:gd name="connsiteX9" fmla="*/ 7144 w 1310781"/>
              <a:gd name="connsiteY9" fmla="*/ 600387 h 1538599"/>
              <a:gd name="connsiteX10" fmla="*/ 150018 w 1310781"/>
              <a:gd name="connsiteY10" fmla="*/ 362263 h 1538599"/>
              <a:gd name="connsiteX11" fmla="*/ 0 w 1310781"/>
              <a:gd name="connsiteY11" fmla="*/ 95563 h 1538599"/>
              <a:gd name="connsiteX12" fmla="*/ 0 w 1310781"/>
              <a:gd name="connsiteY12" fmla="*/ 0 h 1538599"/>
              <a:gd name="connsiteX13" fmla="*/ 638126 w 1310781"/>
              <a:gd name="connsiteY13" fmla="*/ 0 h 1538599"/>
              <a:gd name="connsiteX14" fmla="*/ 1310781 w 1310781"/>
              <a:gd name="connsiteY14" fmla="*/ 672655 h 15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0781" h="1538599">
                <a:moveTo>
                  <a:pt x="1310781" y="672655"/>
                </a:moveTo>
                <a:lnTo>
                  <a:pt x="1310781" y="1307618"/>
                </a:lnTo>
                <a:lnTo>
                  <a:pt x="1185196" y="1307618"/>
                </a:lnTo>
                <a:cubicBezTo>
                  <a:pt x="1183609" y="1498913"/>
                  <a:pt x="1046289" y="1537805"/>
                  <a:pt x="958977" y="1538599"/>
                </a:cubicBezTo>
                <a:cubicBezTo>
                  <a:pt x="863728" y="1537012"/>
                  <a:pt x="739902" y="1499705"/>
                  <a:pt x="735140" y="1312380"/>
                </a:cubicBezTo>
                <a:lnTo>
                  <a:pt x="601790" y="1312380"/>
                </a:lnTo>
                <a:lnTo>
                  <a:pt x="601790" y="967755"/>
                </a:lnTo>
                <a:cubicBezTo>
                  <a:pt x="601790" y="824844"/>
                  <a:pt x="485937" y="708991"/>
                  <a:pt x="343026" y="708991"/>
                </a:cubicBezTo>
                <a:lnTo>
                  <a:pt x="5522" y="708991"/>
                </a:lnTo>
                <a:lnTo>
                  <a:pt x="7144" y="600387"/>
                </a:lnTo>
                <a:cubicBezTo>
                  <a:pt x="108744" y="553557"/>
                  <a:pt x="150812" y="442431"/>
                  <a:pt x="150018" y="362263"/>
                </a:cubicBezTo>
                <a:cubicBezTo>
                  <a:pt x="147637" y="278126"/>
                  <a:pt x="142875" y="177319"/>
                  <a:pt x="0" y="95563"/>
                </a:cubicBezTo>
                <a:lnTo>
                  <a:pt x="0" y="0"/>
                </a:lnTo>
                <a:lnTo>
                  <a:pt x="638126" y="0"/>
                </a:lnTo>
                <a:cubicBezTo>
                  <a:pt x="1009623" y="0"/>
                  <a:pt x="1310781" y="301158"/>
                  <a:pt x="1310781" y="672655"/>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矩形 22"/>
          <p:cNvSpPr/>
          <p:nvPr/>
        </p:nvSpPr>
        <p:spPr>
          <a:xfrm>
            <a:off x="3400593" y="1740337"/>
            <a:ext cx="476553" cy="365760"/>
          </a:xfrm>
          <a:prstGeom prst="rect">
            <a:avLst/>
          </a:prstGeom>
          <a:noFill/>
        </p:spPr>
        <p:txBody>
          <a:bodyPr wrap="square">
            <a:spAutoFit/>
          </a:bodyPr>
          <a:lstStyle/>
          <a:p>
            <a:pPr algn="ctr"/>
            <a:r>
              <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rPr>
              <a:t>01</a:t>
            </a:r>
            <a:endPar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endParaRPr>
          </a:p>
        </p:txBody>
      </p:sp>
      <p:sp>
        <p:nvSpPr>
          <p:cNvPr id="24" name="任意多边形 49"/>
          <p:cNvSpPr/>
          <p:nvPr/>
        </p:nvSpPr>
        <p:spPr>
          <a:xfrm rot="16200000">
            <a:off x="4541433" y="1671194"/>
            <a:ext cx="1487182" cy="1257072"/>
          </a:xfrm>
          <a:custGeom>
            <a:avLst/>
            <a:gdLst>
              <a:gd name="connsiteX0" fmla="*/ 1545997 w 1545997"/>
              <a:gd name="connsiteY0" fmla="*/ 0 h 1306787"/>
              <a:gd name="connsiteX1" fmla="*/ 1545997 w 1545997"/>
              <a:gd name="connsiteY1" fmla="*/ 634132 h 1306787"/>
              <a:gd name="connsiteX2" fmla="*/ 873342 w 1545997"/>
              <a:gd name="connsiteY2" fmla="*/ 1306787 h 1306787"/>
              <a:gd name="connsiteX3" fmla="*/ 230981 w 1545997"/>
              <a:gd name="connsiteY3" fmla="*/ 1306787 h 1306787"/>
              <a:gd name="connsiteX4" fmla="*/ 230981 w 1545997"/>
              <a:gd name="connsiteY4" fmla="*/ 1161117 h 1306787"/>
              <a:gd name="connsiteX5" fmla="*/ 0 w 1545997"/>
              <a:gd name="connsiteY5" fmla="*/ 934898 h 1306787"/>
              <a:gd name="connsiteX6" fmla="*/ 226219 w 1545997"/>
              <a:gd name="connsiteY6" fmla="*/ 711061 h 1306787"/>
              <a:gd name="connsiteX7" fmla="*/ 226219 w 1545997"/>
              <a:gd name="connsiteY7" fmla="*/ 597796 h 1306787"/>
              <a:gd name="connsiteX8" fmla="*/ 578242 w 1545997"/>
              <a:gd name="connsiteY8" fmla="*/ 597796 h 1306787"/>
              <a:gd name="connsiteX9" fmla="*/ 837006 w 1545997"/>
              <a:gd name="connsiteY9" fmla="*/ 339032 h 1306787"/>
              <a:gd name="connsiteX10" fmla="*/ 837006 w 1545997"/>
              <a:gd name="connsiteY10" fmla="*/ 5544 h 1306787"/>
              <a:gd name="connsiteX11" fmla="*/ 944163 w 1545997"/>
              <a:gd name="connsiteY11" fmla="*/ 7144 h 1306787"/>
              <a:gd name="connsiteX12" fmla="*/ 1182287 w 1545997"/>
              <a:gd name="connsiteY12" fmla="*/ 150018 h 1306787"/>
              <a:gd name="connsiteX13" fmla="*/ 1448987 w 1545997"/>
              <a:gd name="connsiteY13" fmla="*/ 0 h 1306787"/>
              <a:gd name="connsiteX14" fmla="*/ 1545997 w 1545997"/>
              <a:gd name="connsiteY14" fmla="*/ 0 h 1306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5997" h="1306787">
                <a:moveTo>
                  <a:pt x="1545997" y="0"/>
                </a:moveTo>
                <a:lnTo>
                  <a:pt x="1545997" y="634132"/>
                </a:lnTo>
                <a:cubicBezTo>
                  <a:pt x="1545997" y="1005629"/>
                  <a:pt x="1244839" y="1306787"/>
                  <a:pt x="873342" y="1306787"/>
                </a:cubicBezTo>
                <a:lnTo>
                  <a:pt x="230981" y="1306787"/>
                </a:lnTo>
                <a:lnTo>
                  <a:pt x="230981" y="1161117"/>
                </a:lnTo>
                <a:cubicBezTo>
                  <a:pt x="39686" y="1159530"/>
                  <a:pt x="794" y="1022210"/>
                  <a:pt x="0" y="934898"/>
                </a:cubicBezTo>
                <a:cubicBezTo>
                  <a:pt x="1587" y="839649"/>
                  <a:pt x="38894" y="715823"/>
                  <a:pt x="226219" y="711061"/>
                </a:cubicBezTo>
                <a:lnTo>
                  <a:pt x="226219" y="597796"/>
                </a:lnTo>
                <a:lnTo>
                  <a:pt x="578242" y="597796"/>
                </a:lnTo>
                <a:cubicBezTo>
                  <a:pt x="721153" y="597796"/>
                  <a:pt x="837006" y="481943"/>
                  <a:pt x="837006" y="339032"/>
                </a:cubicBezTo>
                <a:lnTo>
                  <a:pt x="837006" y="5544"/>
                </a:lnTo>
                <a:lnTo>
                  <a:pt x="944163" y="7144"/>
                </a:lnTo>
                <a:cubicBezTo>
                  <a:pt x="990993" y="108744"/>
                  <a:pt x="1102119" y="150812"/>
                  <a:pt x="1182287" y="150018"/>
                </a:cubicBezTo>
                <a:cubicBezTo>
                  <a:pt x="1266424" y="147637"/>
                  <a:pt x="1367231" y="142875"/>
                  <a:pt x="1448987" y="0"/>
                </a:cubicBezTo>
                <a:lnTo>
                  <a:pt x="1545997" y="0"/>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矩形 24"/>
          <p:cNvSpPr/>
          <p:nvPr/>
        </p:nvSpPr>
        <p:spPr>
          <a:xfrm>
            <a:off x="5278790" y="1799597"/>
            <a:ext cx="476553" cy="365760"/>
          </a:xfrm>
          <a:prstGeom prst="rect">
            <a:avLst/>
          </a:prstGeom>
          <a:noFill/>
        </p:spPr>
        <p:txBody>
          <a:bodyPr wrap="square">
            <a:spAutoFit/>
          </a:bodyPr>
          <a:lstStyle/>
          <a:p>
            <a:pPr algn="ctr"/>
            <a:r>
              <a:rPr lang="en-US" altLang="zh-CN" sz="1800">
                <a:solidFill>
                  <a:schemeClr val="bg1"/>
                </a:solidFill>
                <a:latin typeface="+mj-lt"/>
                <a:ea typeface="Segoe UI" panose="020B0502040204020203" pitchFamily="34" charset="0"/>
                <a:cs typeface="Segoe UI" panose="020B0502040204020203" pitchFamily="34" charset="0"/>
              </a:rPr>
              <a:t>02</a:t>
            </a:r>
            <a:endParaRPr lang="en-US" altLang="zh-CN" sz="1800">
              <a:solidFill>
                <a:schemeClr val="bg1"/>
              </a:solidFill>
              <a:latin typeface="+mj-lt"/>
              <a:ea typeface="Segoe UI" panose="020B0502040204020203" pitchFamily="34" charset="0"/>
              <a:cs typeface="Segoe UI" panose="020B0502040204020203" pitchFamily="34" charset="0"/>
            </a:endParaRPr>
          </a:p>
        </p:txBody>
      </p:sp>
      <p:sp>
        <p:nvSpPr>
          <p:cNvPr id="26" name="任意多边形 52"/>
          <p:cNvSpPr/>
          <p:nvPr/>
        </p:nvSpPr>
        <p:spPr>
          <a:xfrm rot="16200000">
            <a:off x="4547655" y="2934245"/>
            <a:ext cx="1249956" cy="1481857"/>
          </a:xfrm>
          <a:custGeom>
            <a:avLst/>
            <a:gdLst>
              <a:gd name="connsiteX0" fmla="*/ 1299389 w 1299389"/>
              <a:gd name="connsiteY0" fmla="*/ 1423366 h 1540461"/>
              <a:gd name="connsiteX1" fmla="*/ 1299389 w 1299389"/>
              <a:gd name="connsiteY1" fmla="*/ 1540461 h 1540461"/>
              <a:gd name="connsiteX2" fmla="*/ 672655 w 1299389"/>
              <a:gd name="connsiteY2" fmla="*/ 1540461 h 1540461"/>
              <a:gd name="connsiteX3" fmla="*/ 0 w 1299389"/>
              <a:gd name="connsiteY3" fmla="*/ 867806 h 1540461"/>
              <a:gd name="connsiteX4" fmla="*/ 0 w 1299389"/>
              <a:gd name="connsiteY4" fmla="*/ 230981 h 1540461"/>
              <a:gd name="connsiteX5" fmla="*/ 140701 w 1299389"/>
              <a:gd name="connsiteY5" fmla="*/ 230981 h 1540461"/>
              <a:gd name="connsiteX6" fmla="*/ 366920 w 1299389"/>
              <a:gd name="connsiteY6" fmla="*/ 0 h 1540461"/>
              <a:gd name="connsiteX7" fmla="*/ 590757 w 1299389"/>
              <a:gd name="connsiteY7" fmla="*/ 226219 h 1540461"/>
              <a:gd name="connsiteX8" fmla="*/ 708991 w 1299389"/>
              <a:gd name="connsiteY8" fmla="*/ 226219 h 1540461"/>
              <a:gd name="connsiteX9" fmla="*/ 708991 w 1299389"/>
              <a:gd name="connsiteY9" fmla="*/ 572706 h 1540461"/>
              <a:gd name="connsiteX10" fmla="*/ 967755 w 1299389"/>
              <a:gd name="connsiteY10" fmla="*/ 831470 h 1540461"/>
              <a:gd name="connsiteX11" fmla="*/ 1293545 w 1299389"/>
              <a:gd name="connsiteY11" fmla="*/ 831470 h 1540461"/>
              <a:gd name="connsiteX12" fmla="*/ 1292245 w 1299389"/>
              <a:gd name="connsiteY12" fmla="*/ 918542 h 1540461"/>
              <a:gd name="connsiteX13" fmla="*/ 1149371 w 1299389"/>
              <a:gd name="connsiteY13" fmla="*/ 1156666 h 1540461"/>
              <a:gd name="connsiteX14" fmla="*/ 1299389 w 1299389"/>
              <a:gd name="connsiteY14" fmla="*/ 1423366 h 1540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9389" h="1540461">
                <a:moveTo>
                  <a:pt x="1299389" y="1423366"/>
                </a:moveTo>
                <a:lnTo>
                  <a:pt x="1299389" y="1540461"/>
                </a:lnTo>
                <a:lnTo>
                  <a:pt x="672655" y="1540461"/>
                </a:lnTo>
                <a:cubicBezTo>
                  <a:pt x="301158" y="1540461"/>
                  <a:pt x="0" y="1239303"/>
                  <a:pt x="0" y="867806"/>
                </a:cubicBezTo>
                <a:lnTo>
                  <a:pt x="0" y="230981"/>
                </a:lnTo>
                <a:lnTo>
                  <a:pt x="140701" y="230981"/>
                </a:lnTo>
                <a:cubicBezTo>
                  <a:pt x="142288" y="39686"/>
                  <a:pt x="279608" y="794"/>
                  <a:pt x="366920" y="0"/>
                </a:cubicBezTo>
                <a:cubicBezTo>
                  <a:pt x="462169" y="1587"/>
                  <a:pt x="585995" y="38894"/>
                  <a:pt x="590757" y="226219"/>
                </a:cubicBezTo>
                <a:lnTo>
                  <a:pt x="708991" y="226219"/>
                </a:lnTo>
                <a:lnTo>
                  <a:pt x="708991" y="572706"/>
                </a:lnTo>
                <a:cubicBezTo>
                  <a:pt x="708991" y="715617"/>
                  <a:pt x="824844" y="831470"/>
                  <a:pt x="967755" y="831470"/>
                </a:cubicBezTo>
                <a:lnTo>
                  <a:pt x="1293545" y="831470"/>
                </a:lnTo>
                <a:lnTo>
                  <a:pt x="1292245" y="918542"/>
                </a:lnTo>
                <a:cubicBezTo>
                  <a:pt x="1190645" y="965372"/>
                  <a:pt x="1148577" y="1076498"/>
                  <a:pt x="1149371" y="1156666"/>
                </a:cubicBezTo>
                <a:cubicBezTo>
                  <a:pt x="1151752" y="1240803"/>
                  <a:pt x="1156514" y="1341610"/>
                  <a:pt x="1299389" y="1423366"/>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5278797" y="3626521"/>
            <a:ext cx="476553" cy="365760"/>
          </a:xfrm>
          <a:prstGeom prst="rect">
            <a:avLst/>
          </a:prstGeom>
          <a:noFill/>
        </p:spPr>
        <p:txBody>
          <a:bodyPr wrap="square">
            <a:spAutoFit/>
          </a:bodyPr>
          <a:lstStyle/>
          <a:p>
            <a:pPr algn="ctr"/>
            <a:r>
              <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rPr>
              <a:t>03</a:t>
            </a:r>
            <a:endPar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endParaRPr>
          </a:p>
        </p:txBody>
      </p:sp>
      <p:sp>
        <p:nvSpPr>
          <p:cNvPr id="28" name="任意多边形 55"/>
          <p:cNvSpPr/>
          <p:nvPr/>
        </p:nvSpPr>
        <p:spPr>
          <a:xfrm rot="16200000">
            <a:off x="3059079" y="2934398"/>
            <a:ext cx="1476225" cy="1255281"/>
          </a:xfrm>
          <a:custGeom>
            <a:avLst/>
            <a:gdLst>
              <a:gd name="connsiteX0" fmla="*/ 1534606 w 1534606"/>
              <a:gd name="connsiteY0" fmla="*/ 350357 h 1304925"/>
              <a:gd name="connsiteX1" fmla="*/ 1308387 w 1534606"/>
              <a:gd name="connsiteY1" fmla="*/ 574194 h 1304925"/>
              <a:gd name="connsiteX2" fmla="*/ 1308387 w 1534606"/>
              <a:gd name="connsiteY2" fmla="*/ 708991 h 1304925"/>
              <a:gd name="connsiteX3" fmla="*/ 967755 w 1534606"/>
              <a:gd name="connsiteY3" fmla="*/ 708991 h 1304925"/>
              <a:gd name="connsiteX4" fmla="*/ 708991 w 1534606"/>
              <a:gd name="connsiteY4" fmla="*/ 967755 h 1304925"/>
              <a:gd name="connsiteX5" fmla="*/ 708991 w 1534606"/>
              <a:gd name="connsiteY5" fmla="*/ 1299155 h 1304925"/>
              <a:gd name="connsiteX6" fmla="*/ 616950 w 1534606"/>
              <a:gd name="connsiteY6" fmla="*/ 1297781 h 1304925"/>
              <a:gd name="connsiteX7" fmla="*/ 378826 w 1534606"/>
              <a:gd name="connsiteY7" fmla="*/ 1154907 h 1304925"/>
              <a:gd name="connsiteX8" fmla="*/ 112126 w 1534606"/>
              <a:gd name="connsiteY8" fmla="*/ 1304925 h 1304925"/>
              <a:gd name="connsiteX9" fmla="*/ 0 w 1534606"/>
              <a:gd name="connsiteY9" fmla="*/ 1304925 h 1304925"/>
              <a:gd name="connsiteX10" fmla="*/ 0 w 1534606"/>
              <a:gd name="connsiteY10" fmla="*/ 672655 h 1304925"/>
              <a:gd name="connsiteX11" fmla="*/ 672655 w 1534606"/>
              <a:gd name="connsiteY11" fmla="*/ 0 h 1304925"/>
              <a:gd name="connsiteX12" fmla="*/ 1303624 w 1534606"/>
              <a:gd name="connsiteY12" fmla="*/ 0 h 1304925"/>
              <a:gd name="connsiteX13" fmla="*/ 1303624 w 1534606"/>
              <a:gd name="connsiteY13" fmla="*/ 124138 h 1304925"/>
              <a:gd name="connsiteX14" fmla="*/ 1534606 w 1534606"/>
              <a:gd name="connsiteY14" fmla="*/ 350357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4606" h="1304925">
                <a:moveTo>
                  <a:pt x="1534606" y="350357"/>
                </a:moveTo>
                <a:cubicBezTo>
                  <a:pt x="1533019" y="445606"/>
                  <a:pt x="1495712" y="569432"/>
                  <a:pt x="1308387" y="574194"/>
                </a:cubicBezTo>
                <a:lnTo>
                  <a:pt x="1308387" y="708991"/>
                </a:lnTo>
                <a:lnTo>
                  <a:pt x="967755" y="708991"/>
                </a:lnTo>
                <a:cubicBezTo>
                  <a:pt x="824844" y="708991"/>
                  <a:pt x="708991" y="824844"/>
                  <a:pt x="708991" y="967755"/>
                </a:cubicBezTo>
                <a:lnTo>
                  <a:pt x="708991" y="1299155"/>
                </a:lnTo>
                <a:lnTo>
                  <a:pt x="616950" y="1297781"/>
                </a:lnTo>
                <a:cubicBezTo>
                  <a:pt x="570120" y="1196181"/>
                  <a:pt x="458994" y="1154113"/>
                  <a:pt x="378826" y="1154907"/>
                </a:cubicBezTo>
                <a:cubicBezTo>
                  <a:pt x="294689" y="1157288"/>
                  <a:pt x="193882" y="1162050"/>
                  <a:pt x="112126" y="1304925"/>
                </a:cubicBezTo>
                <a:lnTo>
                  <a:pt x="0" y="1304925"/>
                </a:lnTo>
                <a:lnTo>
                  <a:pt x="0" y="672655"/>
                </a:lnTo>
                <a:cubicBezTo>
                  <a:pt x="0" y="301158"/>
                  <a:pt x="301158" y="0"/>
                  <a:pt x="672655" y="0"/>
                </a:cubicBezTo>
                <a:lnTo>
                  <a:pt x="1303624" y="0"/>
                </a:lnTo>
                <a:lnTo>
                  <a:pt x="1303624" y="124138"/>
                </a:lnTo>
                <a:cubicBezTo>
                  <a:pt x="1494920" y="125725"/>
                  <a:pt x="1533812" y="263045"/>
                  <a:pt x="1534606" y="350357"/>
                </a:cubicBez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9" name="矩形 28"/>
          <p:cNvSpPr/>
          <p:nvPr/>
        </p:nvSpPr>
        <p:spPr>
          <a:xfrm>
            <a:off x="3260262" y="3562072"/>
            <a:ext cx="476553" cy="365760"/>
          </a:xfrm>
          <a:prstGeom prst="rect">
            <a:avLst/>
          </a:prstGeom>
          <a:noFill/>
        </p:spPr>
        <p:txBody>
          <a:bodyPr wrap="square">
            <a:spAutoFit/>
          </a:bodyPr>
          <a:lstStyle/>
          <a:p>
            <a:pPr algn="ctr"/>
            <a:r>
              <a:rPr lang="en-US" altLang="zh-CN" sz="1800">
                <a:solidFill>
                  <a:schemeClr val="bg1"/>
                </a:solidFill>
                <a:latin typeface="+mj-lt"/>
                <a:ea typeface="Segoe UI" panose="020B0502040204020203" pitchFamily="34" charset="0"/>
                <a:cs typeface="Segoe UI" panose="020B0502040204020203" pitchFamily="34" charset="0"/>
              </a:rPr>
              <a:t>04</a:t>
            </a:r>
            <a:endParaRPr lang="en-US" altLang="zh-CN" sz="1800">
              <a:solidFill>
                <a:schemeClr val="bg1"/>
              </a:solidFill>
              <a:latin typeface="+mj-lt"/>
              <a:ea typeface="Segoe UI" panose="020B0502040204020203" pitchFamily="34" charset="0"/>
              <a:cs typeface="Segoe UI" panose="020B0502040204020203" pitchFamily="34" charset="0"/>
            </a:endParaRPr>
          </a:p>
        </p:txBody>
      </p:sp>
      <p:sp>
        <p:nvSpPr>
          <p:cNvPr id="30" name="文本框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114" y="1131534"/>
            <a:ext cx="276161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01 User Profile Generation</a:t>
            </a:r>
            <a:endParaRPr lang="en-US" altLang="zh-CN" sz="1600">
              <a:solidFill>
                <a:schemeClr val="accent1"/>
              </a:solidFill>
              <a:latin typeface="+mj-ea"/>
              <a:ea typeface="+mj-ea"/>
              <a:sym typeface="Calibri" panose="020F0502020204030204" pitchFamily="34" charset="0"/>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114" y="1470624"/>
            <a:ext cx="2515027" cy="1476375"/>
          </a:xfrm>
          <a:prstGeom prst="rect">
            <a:avLst/>
          </a:prstGeom>
        </p:spPr>
        <p:txBody>
          <a:bodyPr wrap="square">
            <a:spAutoFit/>
          </a:bodyPr>
          <a:lstStyle/>
          <a:p>
            <a:pPr fontAlgn="base">
              <a:lnSpc>
                <a:spcPct val="150000"/>
              </a:lnSpc>
              <a:spcBef>
                <a:spcPct val="0"/>
              </a:spcBef>
              <a:spcAft>
                <a:spcPct val="0"/>
              </a:spcAft>
            </a:pP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Based on the constructed dataset, AI generates 300 mock job seeker profiles, including major, education background, skills, target city, and career preference.</a:t>
            </a:r>
            <a:endPar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32" name="直接连接符 3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46" y="1470624"/>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文本框 3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446078" y="3259738"/>
            <a:ext cx="283146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04 Top 3 Recommendation</a:t>
            </a:r>
            <a:endParaRPr lang="en-US" altLang="zh-CN" sz="1600">
              <a:solidFill>
                <a:schemeClr val="accent1"/>
              </a:solidFill>
              <a:latin typeface="+mj-ea"/>
              <a:ea typeface="+mj-ea"/>
              <a:sym typeface="Calibri" panose="020F0502020204030204" pitchFamily="34" charset="0"/>
            </a:endParaRPr>
          </a:p>
        </p:txBody>
      </p:sp>
      <p:sp>
        <p:nvSpPr>
          <p:cNvPr id="34" name="矩形 3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483455" y="3562072"/>
            <a:ext cx="2515027" cy="922020"/>
          </a:xfrm>
          <a:prstGeom prst="rect">
            <a:avLst/>
          </a:prstGeom>
        </p:spPr>
        <p:txBody>
          <a:bodyPr wrap="square">
            <a:spAutoFit/>
          </a:bodyPr>
          <a:lstStyle/>
          <a:p>
            <a:pPr fontAlgn="base">
              <a:lnSpc>
                <a:spcPct val="150000"/>
              </a:lnSpc>
              <a:spcBef>
                <a:spcPct val="0"/>
              </a:spcBef>
              <a:spcAft>
                <a:spcPct val="0"/>
              </a:spcAft>
            </a:pP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For each user, the system selects the Top 3 most suitable jobs from the job dataset.</a:t>
            </a:r>
            <a:endPar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35" name="直接连接符 3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580197" y="3562072"/>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978734" y="3301579"/>
            <a:ext cx="268414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03 Skill Matching Support</a:t>
            </a:r>
            <a:endParaRPr lang="en-US" altLang="zh-CN" sz="1600">
              <a:solidFill>
                <a:schemeClr val="accent1"/>
              </a:solidFill>
              <a:latin typeface="+mj-ea"/>
              <a:ea typeface="+mj-ea"/>
              <a:sym typeface="Calibri" panose="020F0502020204030204" pitchFamily="34" charset="0"/>
            </a:endParaRPr>
          </a:p>
        </p:txBody>
      </p:sp>
      <p:sp>
        <p:nvSpPr>
          <p:cNvPr id="37" name="矩形 3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025368" y="3640669"/>
            <a:ext cx="2778118" cy="1198880"/>
          </a:xfrm>
          <a:prstGeom prst="rect">
            <a:avLst/>
          </a:prstGeom>
        </p:spPr>
        <p:txBody>
          <a:bodyPr wrap="square">
            <a:noAutofit/>
          </a:bodyPr>
          <a:lstStyle/>
          <a:p>
            <a:pPr algn="l" fontAlgn="base">
              <a:lnSpc>
                <a:spcPct val="150000"/>
              </a:lnSpc>
              <a:spcBef>
                <a:spcPct val="0"/>
              </a:spcBef>
              <a:spcAft>
                <a:spcPct val="0"/>
              </a:spcAft>
            </a:pPr>
            <a:r>
              <a:rPr lang="en-US" altLang="zh-CN" sz="12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A skill JSON file is used to store job-related skill labels and support the calculation of skill matching scores. </a:t>
            </a:r>
            <a:endParaRPr lang="en-US" altLang="zh-CN" sz="12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38" name="直接连接符 3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246823" y="3640657"/>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文本框 3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643541" y="936790"/>
            <a:ext cx="306641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02 Job Matching and Scoring</a:t>
            </a:r>
            <a:endParaRPr lang="en-US" altLang="zh-CN" sz="1600">
              <a:solidFill>
                <a:schemeClr val="accent1"/>
              </a:solidFill>
              <a:latin typeface="+mj-ea"/>
              <a:ea typeface="+mj-ea"/>
              <a:sym typeface="Calibri" panose="020F0502020204030204" pitchFamily="34" charset="0"/>
            </a:endParaRPr>
          </a:p>
        </p:txBody>
      </p:sp>
      <p:sp>
        <p:nvSpPr>
          <p:cNvPr id="40" name="矩形 3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002313" y="1246188"/>
            <a:ext cx="2801173" cy="1476375"/>
          </a:xfrm>
          <a:prstGeom prst="rect">
            <a:avLst/>
          </a:prstGeom>
        </p:spPr>
        <p:txBody>
          <a:bodyPr wrap="square">
            <a:noAutofit/>
          </a:bodyPr>
          <a:lstStyle/>
          <a:p>
            <a:pPr algn="l" fontAlgn="base">
              <a:lnSpc>
                <a:spcPct val="150000"/>
              </a:lnSpc>
              <a:spcBef>
                <a:spcPct val="0"/>
              </a:spcBef>
              <a:spcAft>
                <a:spcPct val="0"/>
              </a:spcAft>
            </a:pP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Each user-job pair is scored using </a:t>
            </a:r>
            <a:r>
              <a:rPr lang="en-US" altLang="zh-CN" sz="1200" b="1">
                <a:solidFill>
                  <a:schemeClr val="tx1"/>
                </a:solidFill>
                <a:ea typeface="微软雅黑" panose="020B0503020204020204" pitchFamily="34" charset="-122"/>
                <a:cs typeface="Arial" panose="020B0604020202020204" pitchFamily="34" charset="0"/>
                <a:sym typeface="Calibri" panose="020F0502020204030204" pitchFamily="34" charset="0"/>
              </a:rPr>
              <a:t>a customized Scoring Mechanism</a:t>
            </a: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 and Data Scale: 50 points from job-side features and 50 points from user preference, target city, and mastered skills. </a:t>
            </a:r>
            <a:endPar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41" name="直接连接符 4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316125" y="1290789"/>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椭圆 4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9315" y="1103842"/>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3" name="椭圆 4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16664" y="3259738"/>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椭圆 4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78" y="1013789"/>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94" y="3273062"/>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6" name="Group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40" y="3368815"/>
            <a:ext cx="187106" cy="175292"/>
            <a:chOff x="5368132" y="3540125"/>
            <a:chExt cx="465138" cy="435769"/>
          </a:xfrm>
          <a:solidFill>
            <a:schemeClr val="bg1"/>
          </a:solidFill>
        </p:grpSpPr>
        <p:sp>
          <p:nvSpPr>
            <p:cNvPr id="4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4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49" name="AutoShape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bwMode="auto">
          <a:xfrm>
            <a:off x="206358" y="3335953"/>
            <a:ext cx="187410" cy="18658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nvGrpSpPr>
          <p:cNvPr id="50" name="Group 1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24" y="1118483"/>
            <a:ext cx="187106" cy="157411"/>
            <a:chOff x="5368132" y="2625725"/>
            <a:chExt cx="465138" cy="391319"/>
          </a:xfrm>
          <a:solidFill>
            <a:schemeClr val="bg1"/>
          </a:solidFill>
        </p:grpSpPr>
        <p:sp>
          <p:nvSpPr>
            <p:cNvPr id="5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grpSp>
        <p:nvGrpSpPr>
          <p:cNvPr id="54" name="组合 5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259329" y="1193839"/>
            <a:ext cx="186787" cy="186787"/>
            <a:chOff x="3191434" y="2145028"/>
            <a:chExt cx="359165" cy="359165"/>
          </a:xfrm>
          <a:solidFill>
            <a:schemeClr val="bg1"/>
          </a:solidFill>
        </p:grpSpPr>
        <p:sp>
          <p:nvSpPr>
            <p:cNvPr id="55"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6"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7"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2"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3" name="文本框 6"/>
          <p:cNvSpPr txBox="1">
            <a:spLocks noChangeArrowheads="1"/>
          </p:cNvSpPr>
          <p:nvPr/>
        </p:nvSpPr>
        <p:spPr bwMode="auto">
          <a:xfrm>
            <a:off x="3260262" y="529751"/>
            <a:ext cx="32473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2.SFT Dataset Construction Pipeline</a:t>
            </a:r>
            <a:endParaRPr lang="en-US" altLang="zh-CN" sz="1400" b="1">
              <a:solidFill>
                <a:schemeClr val="tx1"/>
              </a:solidFill>
              <a:ea typeface="方正兰亭黑_GBK"/>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任意多边形 46"/>
          <p:cNvSpPr/>
          <p:nvPr/>
        </p:nvSpPr>
        <p:spPr>
          <a:xfrm rot="16200000">
            <a:off x="3279125" y="1446566"/>
            <a:ext cx="1260915" cy="1480065"/>
          </a:xfrm>
          <a:custGeom>
            <a:avLst/>
            <a:gdLst>
              <a:gd name="connsiteX0" fmla="*/ 1310781 w 1310781"/>
              <a:gd name="connsiteY0" fmla="*/ 672655 h 1538599"/>
              <a:gd name="connsiteX1" fmla="*/ 1310781 w 1310781"/>
              <a:gd name="connsiteY1" fmla="*/ 1307618 h 1538599"/>
              <a:gd name="connsiteX2" fmla="*/ 1185196 w 1310781"/>
              <a:gd name="connsiteY2" fmla="*/ 1307618 h 1538599"/>
              <a:gd name="connsiteX3" fmla="*/ 958977 w 1310781"/>
              <a:gd name="connsiteY3" fmla="*/ 1538599 h 1538599"/>
              <a:gd name="connsiteX4" fmla="*/ 735140 w 1310781"/>
              <a:gd name="connsiteY4" fmla="*/ 1312380 h 1538599"/>
              <a:gd name="connsiteX5" fmla="*/ 601790 w 1310781"/>
              <a:gd name="connsiteY5" fmla="*/ 1312380 h 1538599"/>
              <a:gd name="connsiteX6" fmla="*/ 601790 w 1310781"/>
              <a:gd name="connsiteY6" fmla="*/ 967755 h 1538599"/>
              <a:gd name="connsiteX7" fmla="*/ 343026 w 1310781"/>
              <a:gd name="connsiteY7" fmla="*/ 708991 h 1538599"/>
              <a:gd name="connsiteX8" fmla="*/ 5522 w 1310781"/>
              <a:gd name="connsiteY8" fmla="*/ 708991 h 1538599"/>
              <a:gd name="connsiteX9" fmla="*/ 7144 w 1310781"/>
              <a:gd name="connsiteY9" fmla="*/ 600387 h 1538599"/>
              <a:gd name="connsiteX10" fmla="*/ 150018 w 1310781"/>
              <a:gd name="connsiteY10" fmla="*/ 362263 h 1538599"/>
              <a:gd name="connsiteX11" fmla="*/ 0 w 1310781"/>
              <a:gd name="connsiteY11" fmla="*/ 95563 h 1538599"/>
              <a:gd name="connsiteX12" fmla="*/ 0 w 1310781"/>
              <a:gd name="connsiteY12" fmla="*/ 0 h 1538599"/>
              <a:gd name="connsiteX13" fmla="*/ 638126 w 1310781"/>
              <a:gd name="connsiteY13" fmla="*/ 0 h 1538599"/>
              <a:gd name="connsiteX14" fmla="*/ 1310781 w 1310781"/>
              <a:gd name="connsiteY14" fmla="*/ 672655 h 1538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0781" h="1538599">
                <a:moveTo>
                  <a:pt x="1310781" y="672655"/>
                </a:moveTo>
                <a:lnTo>
                  <a:pt x="1310781" y="1307618"/>
                </a:lnTo>
                <a:lnTo>
                  <a:pt x="1185196" y="1307618"/>
                </a:lnTo>
                <a:cubicBezTo>
                  <a:pt x="1183609" y="1498913"/>
                  <a:pt x="1046289" y="1537805"/>
                  <a:pt x="958977" y="1538599"/>
                </a:cubicBezTo>
                <a:cubicBezTo>
                  <a:pt x="863728" y="1537012"/>
                  <a:pt x="739902" y="1499705"/>
                  <a:pt x="735140" y="1312380"/>
                </a:cubicBezTo>
                <a:lnTo>
                  <a:pt x="601790" y="1312380"/>
                </a:lnTo>
                <a:lnTo>
                  <a:pt x="601790" y="967755"/>
                </a:lnTo>
                <a:cubicBezTo>
                  <a:pt x="601790" y="824844"/>
                  <a:pt x="485937" y="708991"/>
                  <a:pt x="343026" y="708991"/>
                </a:cubicBezTo>
                <a:lnTo>
                  <a:pt x="5522" y="708991"/>
                </a:lnTo>
                <a:lnTo>
                  <a:pt x="7144" y="600387"/>
                </a:lnTo>
                <a:cubicBezTo>
                  <a:pt x="108744" y="553557"/>
                  <a:pt x="150812" y="442431"/>
                  <a:pt x="150018" y="362263"/>
                </a:cubicBezTo>
                <a:cubicBezTo>
                  <a:pt x="147637" y="278126"/>
                  <a:pt x="142875" y="177319"/>
                  <a:pt x="0" y="95563"/>
                </a:cubicBezTo>
                <a:lnTo>
                  <a:pt x="0" y="0"/>
                </a:lnTo>
                <a:lnTo>
                  <a:pt x="638126" y="0"/>
                </a:lnTo>
                <a:cubicBezTo>
                  <a:pt x="1009623" y="0"/>
                  <a:pt x="1310781" y="301158"/>
                  <a:pt x="1310781" y="672655"/>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矩形 22"/>
          <p:cNvSpPr/>
          <p:nvPr/>
        </p:nvSpPr>
        <p:spPr>
          <a:xfrm>
            <a:off x="3321393" y="1740337"/>
            <a:ext cx="476553" cy="368300"/>
          </a:xfrm>
          <a:prstGeom prst="rect">
            <a:avLst/>
          </a:prstGeom>
          <a:noFill/>
        </p:spPr>
        <p:txBody>
          <a:bodyPr wrap="square">
            <a:spAutoFit/>
          </a:bodyPr>
          <a:lstStyle/>
          <a:p>
            <a:pPr algn="ctr"/>
            <a:r>
              <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rPr>
              <a:t>05</a:t>
            </a:r>
            <a:endParaRPr lang="en-US" altLang="zh-CN">
              <a:latin typeface="+mj-lt"/>
              <a:ea typeface="Segoe UI" panose="020B0502040204020203" pitchFamily="34" charset="0"/>
              <a:cs typeface="Segoe UI" panose="020B0502040204020203" pitchFamily="34" charset="0"/>
            </a:endParaRPr>
          </a:p>
        </p:txBody>
      </p:sp>
      <p:sp>
        <p:nvSpPr>
          <p:cNvPr id="24" name="任意多边形 49"/>
          <p:cNvSpPr/>
          <p:nvPr/>
        </p:nvSpPr>
        <p:spPr>
          <a:xfrm rot="16200000">
            <a:off x="4541433" y="1671194"/>
            <a:ext cx="1487182" cy="1257072"/>
          </a:xfrm>
          <a:custGeom>
            <a:avLst/>
            <a:gdLst>
              <a:gd name="connsiteX0" fmla="*/ 1545997 w 1545997"/>
              <a:gd name="connsiteY0" fmla="*/ 0 h 1306787"/>
              <a:gd name="connsiteX1" fmla="*/ 1545997 w 1545997"/>
              <a:gd name="connsiteY1" fmla="*/ 634132 h 1306787"/>
              <a:gd name="connsiteX2" fmla="*/ 873342 w 1545997"/>
              <a:gd name="connsiteY2" fmla="*/ 1306787 h 1306787"/>
              <a:gd name="connsiteX3" fmla="*/ 230981 w 1545997"/>
              <a:gd name="connsiteY3" fmla="*/ 1306787 h 1306787"/>
              <a:gd name="connsiteX4" fmla="*/ 230981 w 1545997"/>
              <a:gd name="connsiteY4" fmla="*/ 1161117 h 1306787"/>
              <a:gd name="connsiteX5" fmla="*/ 0 w 1545997"/>
              <a:gd name="connsiteY5" fmla="*/ 934898 h 1306787"/>
              <a:gd name="connsiteX6" fmla="*/ 226219 w 1545997"/>
              <a:gd name="connsiteY6" fmla="*/ 711061 h 1306787"/>
              <a:gd name="connsiteX7" fmla="*/ 226219 w 1545997"/>
              <a:gd name="connsiteY7" fmla="*/ 597796 h 1306787"/>
              <a:gd name="connsiteX8" fmla="*/ 578242 w 1545997"/>
              <a:gd name="connsiteY8" fmla="*/ 597796 h 1306787"/>
              <a:gd name="connsiteX9" fmla="*/ 837006 w 1545997"/>
              <a:gd name="connsiteY9" fmla="*/ 339032 h 1306787"/>
              <a:gd name="connsiteX10" fmla="*/ 837006 w 1545997"/>
              <a:gd name="connsiteY10" fmla="*/ 5544 h 1306787"/>
              <a:gd name="connsiteX11" fmla="*/ 944163 w 1545997"/>
              <a:gd name="connsiteY11" fmla="*/ 7144 h 1306787"/>
              <a:gd name="connsiteX12" fmla="*/ 1182287 w 1545997"/>
              <a:gd name="connsiteY12" fmla="*/ 150018 h 1306787"/>
              <a:gd name="connsiteX13" fmla="*/ 1448987 w 1545997"/>
              <a:gd name="connsiteY13" fmla="*/ 0 h 1306787"/>
              <a:gd name="connsiteX14" fmla="*/ 1545997 w 1545997"/>
              <a:gd name="connsiteY14" fmla="*/ 0 h 1306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45997" h="1306787">
                <a:moveTo>
                  <a:pt x="1545997" y="0"/>
                </a:moveTo>
                <a:lnTo>
                  <a:pt x="1545997" y="634132"/>
                </a:lnTo>
                <a:cubicBezTo>
                  <a:pt x="1545997" y="1005629"/>
                  <a:pt x="1244839" y="1306787"/>
                  <a:pt x="873342" y="1306787"/>
                </a:cubicBezTo>
                <a:lnTo>
                  <a:pt x="230981" y="1306787"/>
                </a:lnTo>
                <a:lnTo>
                  <a:pt x="230981" y="1161117"/>
                </a:lnTo>
                <a:cubicBezTo>
                  <a:pt x="39686" y="1159530"/>
                  <a:pt x="794" y="1022210"/>
                  <a:pt x="0" y="934898"/>
                </a:cubicBezTo>
                <a:cubicBezTo>
                  <a:pt x="1587" y="839649"/>
                  <a:pt x="38894" y="715823"/>
                  <a:pt x="226219" y="711061"/>
                </a:cubicBezTo>
                <a:lnTo>
                  <a:pt x="226219" y="597796"/>
                </a:lnTo>
                <a:lnTo>
                  <a:pt x="578242" y="597796"/>
                </a:lnTo>
                <a:cubicBezTo>
                  <a:pt x="721153" y="597796"/>
                  <a:pt x="837006" y="481943"/>
                  <a:pt x="837006" y="339032"/>
                </a:cubicBezTo>
                <a:lnTo>
                  <a:pt x="837006" y="5544"/>
                </a:lnTo>
                <a:lnTo>
                  <a:pt x="944163" y="7144"/>
                </a:lnTo>
                <a:cubicBezTo>
                  <a:pt x="990993" y="108744"/>
                  <a:pt x="1102119" y="150812"/>
                  <a:pt x="1182287" y="150018"/>
                </a:cubicBezTo>
                <a:cubicBezTo>
                  <a:pt x="1266424" y="147637"/>
                  <a:pt x="1367231" y="142875"/>
                  <a:pt x="1448987" y="0"/>
                </a:cubicBezTo>
                <a:lnTo>
                  <a:pt x="1545997" y="0"/>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5" name="矩形 24"/>
          <p:cNvSpPr/>
          <p:nvPr/>
        </p:nvSpPr>
        <p:spPr>
          <a:xfrm>
            <a:off x="5278790" y="1740297"/>
            <a:ext cx="476553" cy="368300"/>
          </a:xfrm>
          <a:prstGeom prst="rect">
            <a:avLst/>
          </a:prstGeom>
          <a:noFill/>
        </p:spPr>
        <p:txBody>
          <a:bodyPr wrap="square">
            <a:spAutoFit/>
          </a:bodyPr>
          <a:lstStyle/>
          <a:p>
            <a:pPr algn="ctr"/>
            <a:r>
              <a:rPr lang="en-US" altLang="zh-CN" sz="1800">
                <a:solidFill>
                  <a:schemeClr val="bg1"/>
                </a:solidFill>
                <a:latin typeface="+mj-lt"/>
                <a:ea typeface="Segoe UI" panose="020B0502040204020203" pitchFamily="34" charset="0"/>
                <a:cs typeface="Segoe UI" panose="020B0502040204020203" pitchFamily="34" charset="0"/>
              </a:rPr>
              <a:t>06</a:t>
            </a:r>
            <a:endParaRPr lang="en-US" altLang="zh-CN">
              <a:latin typeface="+mj-lt"/>
              <a:ea typeface="Segoe UI" panose="020B0502040204020203" pitchFamily="34" charset="0"/>
              <a:cs typeface="Segoe UI" panose="020B0502040204020203" pitchFamily="34" charset="0"/>
            </a:endParaRPr>
          </a:p>
        </p:txBody>
      </p:sp>
      <p:sp>
        <p:nvSpPr>
          <p:cNvPr id="26" name="任意多边形 52"/>
          <p:cNvSpPr/>
          <p:nvPr/>
        </p:nvSpPr>
        <p:spPr>
          <a:xfrm rot="16200000">
            <a:off x="4547655" y="2934245"/>
            <a:ext cx="1249956" cy="1481857"/>
          </a:xfrm>
          <a:custGeom>
            <a:avLst/>
            <a:gdLst>
              <a:gd name="connsiteX0" fmla="*/ 1299389 w 1299389"/>
              <a:gd name="connsiteY0" fmla="*/ 1423366 h 1540461"/>
              <a:gd name="connsiteX1" fmla="*/ 1299389 w 1299389"/>
              <a:gd name="connsiteY1" fmla="*/ 1540461 h 1540461"/>
              <a:gd name="connsiteX2" fmla="*/ 672655 w 1299389"/>
              <a:gd name="connsiteY2" fmla="*/ 1540461 h 1540461"/>
              <a:gd name="connsiteX3" fmla="*/ 0 w 1299389"/>
              <a:gd name="connsiteY3" fmla="*/ 867806 h 1540461"/>
              <a:gd name="connsiteX4" fmla="*/ 0 w 1299389"/>
              <a:gd name="connsiteY4" fmla="*/ 230981 h 1540461"/>
              <a:gd name="connsiteX5" fmla="*/ 140701 w 1299389"/>
              <a:gd name="connsiteY5" fmla="*/ 230981 h 1540461"/>
              <a:gd name="connsiteX6" fmla="*/ 366920 w 1299389"/>
              <a:gd name="connsiteY6" fmla="*/ 0 h 1540461"/>
              <a:gd name="connsiteX7" fmla="*/ 590757 w 1299389"/>
              <a:gd name="connsiteY7" fmla="*/ 226219 h 1540461"/>
              <a:gd name="connsiteX8" fmla="*/ 708991 w 1299389"/>
              <a:gd name="connsiteY8" fmla="*/ 226219 h 1540461"/>
              <a:gd name="connsiteX9" fmla="*/ 708991 w 1299389"/>
              <a:gd name="connsiteY9" fmla="*/ 572706 h 1540461"/>
              <a:gd name="connsiteX10" fmla="*/ 967755 w 1299389"/>
              <a:gd name="connsiteY10" fmla="*/ 831470 h 1540461"/>
              <a:gd name="connsiteX11" fmla="*/ 1293545 w 1299389"/>
              <a:gd name="connsiteY11" fmla="*/ 831470 h 1540461"/>
              <a:gd name="connsiteX12" fmla="*/ 1292245 w 1299389"/>
              <a:gd name="connsiteY12" fmla="*/ 918542 h 1540461"/>
              <a:gd name="connsiteX13" fmla="*/ 1149371 w 1299389"/>
              <a:gd name="connsiteY13" fmla="*/ 1156666 h 1540461"/>
              <a:gd name="connsiteX14" fmla="*/ 1299389 w 1299389"/>
              <a:gd name="connsiteY14" fmla="*/ 1423366 h 1540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99389" h="1540461">
                <a:moveTo>
                  <a:pt x="1299389" y="1423366"/>
                </a:moveTo>
                <a:lnTo>
                  <a:pt x="1299389" y="1540461"/>
                </a:lnTo>
                <a:lnTo>
                  <a:pt x="672655" y="1540461"/>
                </a:lnTo>
                <a:cubicBezTo>
                  <a:pt x="301158" y="1540461"/>
                  <a:pt x="0" y="1239303"/>
                  <a:pt x="0" y="867806"/>
                </a:cubicBezTo>
                <a:lnTo>
                  <a:pt x="0" y="230981"/>
                </a:lnTo>
                <a:lnTo>
                  <a:pt x="140701" y="230981"/>
                </a:lnTo>
                <a:cubicBezTo>
                  <a:pt x="142288" y="39686"/>
                  <a:pt x="279608" y="794"/>
                  <a:pt x="366920" y="0"/>
                </a:cubicBezTo>
                <a:cubicBezTo>
                  <a:pt x="462169" y="1587"/>
                  <a:pt x="585995" y="38894"/>
                  <a:pt x="590757" y="226219"/>
                </a:cubicBezTo>
                <a:lnTo>
                  <a:pt x="708991" y="226219"/>
                </a:lnTo>
                <a:lnTo>
                  <a:pt x="708991" y="572706"/>
                </a:lnTo>
                <a:cubicBezTo>
                  <a:pt x="708991" y="715617"/>
                  <a:pt x="824844" y="831470"/>
                  <a:pt x="967755" y="831470"/>
                </a:cubicBezTo>
                <a:lnTo>
                  <a:pt x="1293545" y="831470"/>
                </a:lnTo>
                <a:lnTo>
                  <a:pt x="1292245" y="918542"/>
                </a:lnTo>
                <a:cubicBezTo>
                  <a:pt x="1190645" y="965372"/>
                  <a:pt x="1148577" y="1076498"/>
                  <a:pt x="1149371" y="1156666"/>
                </a:cubicBezTo>
                <a:cubicBezTo>
                  <a:pt x="1151752" y="1240803"/>
                  <a:pt x="1156514" y="1341610"/>
                  <a:pt x="1299389" y="1423366"/>
                </a:cubicBezTo>
                <a:close/>
              </a:path>
            </a:pathLst>
          </a:cu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矩形 26"/>
          <p:cNvSpPr/>
          <p:nvPr/>
        </p:nvSpPr>
        <p:spPr>
          <a:xfrm>
            <a:off x="5278790" y="3640669"/>
            <a:ext cx="476553" cy="368300"/>
          </a:xfrm>
          <a:prstGeom prst="rect">
            <a:avLst/>
          </a:prstGeom>
          <a:noFill/>
        </p:spPr>
        <p:txBody>
          <a:bodyPr wrap="square">
            <a:spAutoFit/>
          </a:bodyPr>
          <a:lstStyle/>
          <a:p>
            <a:pPr algn="ctr"/>
            <a:r>
              <a:rPr lang="en-US" altLang="zh-CN" sz="1800">
                <a:solidFill>
                  <a:schemeClr val="tx1">
                    <a:lumMod val="85000"/>
                    <a:lumOff val="15000"/>
                  </a:schemeClr>
                </a:solidFill>
                <a:latin typeface="+mj-lt"/>
                <a:ea typeface="Segoe UI" panose="020B0502040204020203" pitchFamily="34" charset="0"/>
                <a:cs typeface="Segoe UI" panose="020B0502040204020203" pitchFamily="34" charset="0"/>
              </a:rPr>
              <a:t>07</a:t>
            </a:r>
            <a:endParaRPr lang="en-US" altLang="zh-CN">
              <a:latin typeface="+mj-lt"/>
              <a:ea typeface="Segoe UI" panose="020B0502040204020203" pitchFamily="34" charset="0"/>
              <a:cs typeface="Segoe UI" panose="020B0502040204020203" pitchFamily="34" charset="0"/>
            </a:endParaRPr>
          </a:p>
        </p:txBody>
      </p:sp>
      <p:sp>
        <p:nvSpPr>
          <p:cNvPr id="30" name="文本框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36114" y="1131534"/>
            <a:ext cx="275717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05 Explanation Generation</a:t>
            </a:r>
            <a:endParaRPr lang="en-US" altLang="zh-CN" sz="1600">
              <a:solidFill>
                <a:schemeClr val="accent1"/>
              </a:solidFill>
              <a:latin typeface="+mj-ea"/>
              <a:ea typeface="+mj-ea"/>
              <a:sym typeface="Calibri" panose="020F0502020204030204" pitchFamily="34" charset="0"/>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36114" y="1470624"/>
            <a:ext cx="2515027" cy="1476375"/>
          </a:xfrm>
          <a:prstGeom prst="rect">
            <a:avLst/>
          </a:prstGeom>
        </p:spPr>
        <p:txBody>
          <a:bodyPr wrap="square">
            <a:spAutoFit/>
          </a:bodyPr>
          <a:lstStyle/>
          <a:p>
            <a:pPr fontAlgn="base">
              <a:lnSpc>
                <a:spcPct val="150000"/>
              </a:lnSpc>
              <a:spcBef>
                <a:spcPct val="0"/>
              </a:spcBef>
              <a:spcAft>
                <a:spcPct val="0"/>
              </a:spcAft>
            </a:pP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DeepSeek 3.0 is used to generate recommendation reasons, skill gap analysis, and improvement suggestions for each recommended job.</a:t>
            </a:r>
            <a:endPar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32" name="直接连接符 3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641346" y="1470624"/>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6588031" y="3301579"/>
            <a:ext cx="207581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07 Train / Test Split</a:t>
            </a:r>
            <a:endParaRPr lang="en-US" altLang="zh-CN" sz="1600">
              <a:solidFill>
                <a:schemeClr val="accent1"/>
              </a:solidFill>
              <a:latin typeface="+mj-ea"/>
              <a:ea typeface="+mj-ea"/>
              <a:sym typeface="Calibri" panose="020F0502020204030204" pitchFamily="34" charset="0"/>
            </a:endParaRPr>
          </a:p>
        </p:txBody>
      </p:sp>
      <p:sp>
        <p:nvSpPr>
          <p:cNvPr id="37" name="矩形 36"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118897" y="3626521"/>
            <a:ext cx="2778118" cy="1198880"/>
          </a:xfrm>
          <a:prstGeom prst="rect">
            <a:avLst/>
          </a:prstGeom>
        </p:spPr>
        <p:txBody>
          <a:bodyPr wrap="square">
            <a:noAutofit/>
          </a:bodyPr>
          <a:lstStyle/>
          <a:p>
            <a:pPr algn="l" fontAlgn="base">
              <a:lnSpc>
                <a:spcPct val="150000"/>
              </a:lnSpc>
              <a:spcBef>
                <a:spcPct val="0"/>
              </a:spcBef>
              <a:spcAft>
                <a:spcPct val="0"/>
              </a:spcAft>
            </a:pPr>
            <a:r>
              <a:rPr lang="en-US" altLang="zh-CN" sz="12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A total of 900 samples are generated: </a:t>
            </a:r>
            <a:r>
              <a:rPr lang="en-US" altLang="zh-CN" sz="1200" b="1">
                <a:solidFill>
                  <a:schemeClr val="tx1"/>
                </a:solidFill>
                <a:ea typeface="微软雅黑" panose="020B0503020204020204" pitchFamily="34" charset="-122"/>
                <a:cs typeface="Arial" panose="020B0604020202020204" pitchFamily="34" charset="0"/>
                <a:sym typeface="Calibri" panose="020F0502020204030204" pitchFamily="34" charset="0"/>
              </a:rPr>
              <a:t>810 for training</a:t>
            </a: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 and</a:t>
            </a:r>
            <a:r>
              <a:rPr lang="en-US" altLang="zh-CN" sz="1200" b="1">
                <a:solidFill>
                  <a:schemeClr val="tx1"/>
                </a:solidFill>
                <a:ea typeface="微软雅黑" panose="020B0503020204020204" pitchFamily="34" charset="-122"/>
                <a:cs typeface="Arial" panose="020B0604020202020204" pitchFamily="34" charset="0"/>
                <a:sym typeface="Calibri" panose="020F0502020204030204" pitchFamily="34" charset="0"/>
              </a:rPr>
              <a:t> 90 for testing</a:t>
            </a:r>
            <a:r>
              <a:rPr lang="en-US" altLang="zh-CN" sz="12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rPr>
              <a:t>. </a:t>
            </a:r>
            <a:endParaRPr lang="en-US" altLang="zh-CN" sz="1200">
              <a:solidFill>
                <a:schemeClr val="tx1">
                  <a:lumMod val="85000"/>
                  <a:lumOff val="15000"/>
                </a:schemeClr>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38" name="直接连接符 37"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246823" y="3640657"/>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文本框 3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txBox="1">
            <a:spLocks noChangeArrowheads="1"/>
          </p:cNvSpPr>
          <p:nvPr/>
        </p:nvSpPr>
        <p:spPr bwMode="auto">
          <a:xfrm>
            <a:off x="5679346" y="951723"/>
            <a:ext cx="298450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l" fontAlgn="base">
              <a:spcBef>
                <a:spcPct val="0"/>
              </a:spcBef>
              <a:spcAft>
                <a:spcPct val="0"/>
              </a:spcAft>
            </a:pPr>
            <a:r>
              <a:rPr lang="en-US" altLang="zh-CN" sz="1600">
                <a:solidFill>
                  <a:schemeClr val="accent1"/>
                </a:solidFill>
                <a:latin typeface="+mj-ea"/>
                <a:ea typeface="+mj-ea"/>
                <a:sym typeface="Calibri" panose="020F0502020204030204" pitchFamily="34" charset="0"/>
              </a:rPr>
              <a:t>06 SFT Dataset Construction</a:t>
            </a:r>
            <a:endParaRPr lang="en-US" altLang="zh-CN" sz="1600">
              <a:solidFill>
                <a:schemeClr val="accent1"/>
              </a:solidFill>
              <a:latin typeface="+mj-ea"/>
              <a:ea typeface="+mj-ea"/>
              <a:sym typeface="Calibri" panose="020F0502020204030204" pitchFamily="34" charset="0"/>
            </a:endParaRPr>
          </a:p>
        </p:txBody>
      </p:sp>
      <p:sp>
        <p:nvSpPr>
          <p:cNvPr id="40" name="矩形 3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5978734" y="1246188"/>
            <a:ext cx="2731222" cy="1476375"/>
          </a:xfrm>
          <a:prstGeom prst="rect">
            <a:avLst/>
          </a:prstGeom>
        </p:spPr>
        <p:txBody>
          <a:bodyPr wrap="square">
            <a:noAutofit/>
          </a:bodyPr>
          <a:lstStyle/>
          <a:p>
            <a:pPr algn="l" fontAlgn="base">
              <a:lnSpc>
                <a:spcPct val="150000"/>
              </a:lnSpc>
              <a:spcBef>
                <a:spcPct val="0"/>
              </a:spcBef>
              <a:spcAft>
                <a:spcPct val="0"/>
              </a:spcAft>
            </a:pP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All samples are converted into </a:t>
            </a:r>
            <a:r>
              <a:rPr lang="en-US" altLang="zh-CN" sz="1200" b="1">
                <a:solidFill>
                  <a:schemeClr val="tx1"/>
                </a:solidFill>
                <a:ea typeface="微软雅黑" panose="020B0503020204020204" pitchFamily="34" charset="-122"/>
                <a:cs typeface="Arial" panose="020B0604020202020204" pitchFamily="34" charset="0"/>
                <a:sym typeface="Calibri" panose="020F0502020204030204" pitchFamily="34" charset="0"/>
              </a:rPr>
              <a:t>instruction-input-output format</a:t>
            </a:r>
            <a:r>
              <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rPr>
              <a:t> for supervised fine-tuning.</a:t>
            </a:r>
            <a:endParaRPr lang="en-US" altLang="zh-CN" sz="1200">
              <a:solidFill>
                <a:schemeClr val="tx1"/>
              </a:solidFill>
              <a:ea typeface="微软雅黑" panose="020B0503020204020204" pitchFamily="34" charset="-122"/>
              <a:cs typeface="Arial" panose="020B0604020202020204" pitchFamily="34" charset="0"/>
              <a:sym typeface="Calibri" panose="020F0502020204030204" pitchFamily="34" charset="0"/>
            </a:endParaRPr>
          </a:p>
        </p:txBody>
      </p:sp>
      <p:cxnSp>
        <p:nvCxnSpPr>
          <p:cNvPr id="41" name="直接连接符 4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CxnSpPr/>
          <p:nvPr/>
        </p:nvCxnSpPr>
        <p:spPr>
          <a:xfrm>
            <a:off x="8316125" y="1290789"/>
            <a:ext cx="18650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椭圆 41"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9315" y="1103842"/>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椭圆 4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78" y="1013789"/>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5" name="椭圆 4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620094" y="3273062"/>
            <a:ext cx="366799" cy="36679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46" name="Group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40" y="3368815"/>
            <a:ext cx="187106" cy="175292"/>
            <a:chOff x="5368132" y="3540125"/>
            <a:chExt cx="465138" cy="435769"/>
          </a:xfrm>
          <a:solidFill>
            <a:schemeClr val="bg1"/>
          </a:solidFill>
        </p:grpSpPr>
        <p:sp>
          <p:nvSpPr>
            <p:cNvPr id="4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4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49" name="AutoShape 11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bwMode="auto">
          <a:xfrm>
            <a:off x="251466" y="3364332"/>
            <a:ext cx="187410" cy="186584"/>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nvGrpSpPr>
          <p:cNvPr id="50" name="Group 12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8709924" y="1118483"/>
            <a:ext cx="187106" cy="157411"/>
            <a:chOff x="5368132" y="2625725"/>
            <a:chExt cx="465138" cy="391319"/>
          </a:xfrm>
          <a:solidFill>
            <a:schemeClr val="bg1"/>
          </a:solidFill>
        </p:grpSpPr>
        <p:sp>
          <p:nvSpPr>
            <p:cNvPr id="5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grpSp>
        <p:nvGrpSpPr>
          <p:cNvPr id="54" name="组合 5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GrpSpPr/>
          <p:nvPr/>
        </p:nvGrpSpPr>
        <p:grpSpPr>
          <a:xfrm>
            <a:off x="259329" y="1193839"/>
            <a:ext cx="186787" cy="186787"/>
            <a:chOff x="3191434" y="2145028"/>
            <a:chExt cx="359165" cy="359165"/>
          </a:xfrm>
          <a:solidFill>
            <a:schemeClr val="bg1"/>
          </a:solidFill>
        </p:grpSpPr>
        <p:sp>
          <p:nvSpPr>
            <p:cNvPr id="55"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6"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sp>
          <p:nvSpPr>
            <p:cNvPr id="57"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chemeClr val="tx1">
                    <a:lumMod val="85000"/>
                    <a:lumOff val="15000"/>
                  </a:schemeClr>
                </a:solidFill>
                <a:effectLst>
                  <a:outerShdw blurRad="38100" dist="38100" dir="2700000" algn="tl">
                    <a:srgbClr val="000000"/>
                  </a:outerShdw>
                </a:effectLst>
                <a:uLnTx/>
                <a:uFillTx/>
                <a:latin typeface="Gill Sans" charset="0"/>
                <a:sym typeface="Gill Sans" charset="0"/>
              </a:endParaRPr>
            </a:p>
          </p:txBody>
        </p:sp>
      </p:grpSp>
      <p:sp>
        <p:nvSpPr>
          <p:cNvPr id="2" name="文本框 5"/>
          <p:cNvSpPr txBox="1">
            <a:spLocks noChangeArrowheads="1"/>
          </p:cNvSpPr>
          <p:nvPr/>
        </p:nvSpPr>
        <p:spPr bwMode="auto">
          <a:xfrm>
            <a:off x="2405741" y="115575"/>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3" name="文本框 6"/>
          <p:cNvSpPr txBox="1">
            <a:spLocks noChangeArrowheads="1"/>
          </p:cNvSpPr>
          <p:nvPr/>
        </p:nvSpPr>
        <p:spPr bwMode="auto">
          <a:xfrm>
            <a:off x="3260262" y="529751"/>
            <a:ext cx="32473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2.SFT Dataset Construction Pipeline</a:t>
            </a:r>
            <a:endParaRPr lang="en-US" altLang="zh-CN" sz="1400" b="1">
              <a:solidFill>
                <a:schemeClr val="tx1"/>
              </a:solidFill>
              <a:ea typeface="方正兰亭黑_GBK"/>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descr="post_object_image_3584176794"/>
          <p:cNvPicPr>
            <a:picLocks noChangeAspect="1"/>
          </p:cNvPicPr>
          <p:nvPr/>
        </p:nvPicPr>
        <p:blipFill>
          <a:blip r:embed="rId1"/>
          <a:stretch>
            <a:fillRect/>
          </a:stretch>
        </p:blipFill>
        <p:spPr>
          <a:xfrm>
            <a:off x="7998879" y="12470041"/>
            <a:ext cx="8157750" cy="4945683"/>
          </a:xfrm>
          <a:prstGeom prst="rect">
            <a:avLst/>
          </a:prstGeom>
        </p:spPr>
      </p:pic>
      <p:sp>
        <p:nvSpPr>
          <p:cNvPr id="6" name="矩形 5"/>
          <p:cNvSpPr/>
          <p:nvPr/>
        </p:nvSpPr>
        <p:spPr>
          <a:xfrm>
            <a:off x="0" y="904669"/>
            <a:ext cx="7467563" cy="424153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5" name="图片 4" descr="post_object_image_2297623239"/>
          <p:cNvPicPr>
            <a:picLocks noChangeAspect="1"/>
          </p:cNvPicPr>
          <p:nvPr/>
        </p:nvPicPr>
        <p:blipFill>
          <a:blip r:embed="rId2"/>
          <a:stretch>
            <a:fillRect/>
          </a:stretch>
        </p:blipFill>
        <p:spPr>
          <a:xfrm>
            <a:off x="112059" y="963682"/>
            <a:ext cx="7243405" cy="4123505"/>
          </a:xfrm>
          <a:prstGeom prst="rect">
            <a:avLst/>
          </a:prstGeom>
        </p:spPr>
      </p:pic>
      <p:sp>
        <p:nvSpPr>
          <p:cNvPr id="7" name="文本框 5"/>
          <p:cNvSpPr txBox="1">
            <a:spLocks noChangeArrowheads="1"/>
          </p:cNvSpPr>
          <p:nvPr/>
        </p:nvSpPr>
        <p:spPr bwMode="auto">
          <a:xfrm>
            <a:off x="2529225" y="98109"/>
            <a:ext cx="45872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Database Construction</a:t>
            </a:r>
            <a:endParaRPr lang="en-US" altLang="zh-CN" sz="2800" b="1">
              <a:solidFill>
                <a:schemeClr val="tx1">
                  <a:lumMod val="85000"/>
                  <a:lumOff val="15000"/>
                </a:schemeClr>
              </a:solidFill>
              <a:latin typeface="+mj-ea"/>
              <a:ea typeface="+mj-ea"/>
            </a:endParaRPr>
          </a:p>
        </p:txBody>
      </p:sp>
      <p:sp>
        <p:nvSpPr>
          <p:cNvPr id="8" name="文本框 6"/>
          <p:cNvSpPr txBox="1">
            <a:spLocks noChangeArrowheads="1"/>
          </p:cNvSpPr>
          <p:nvPr/>
        </p:nvSpPr>
        <p:spPr bwMode="auto">
          <a:xfrm>
            <a:off x="3260262" y="529751"/>
            <a:ext cx="324739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2.SFT Dataset Construction Pipeline</a:t>
            </a:r>
            <a:endParaRPr lang="en-US" altLang="zh-CN" sz="1400" b="1">
              <a:solidFill>
                <a:schemeClr val="tx1"/>
              </a:solidFill>
              <a:ea typeface="方正兰亭黑_GBK"/>
            </a:endParaRPr>
          </a:p>
        </p:txBody>
      </p:sp>
      <p:sp>
        <p:nvSpPr>
          <p:cNvPr id="9" name="矩形 8"/>
          <p:cNvSpPr/>
          <p:nvPr/>
        </p:nvSpPr>
        <p:spPr>
          <a:xfrm>
            <a:off x="7467523" y="819128"/>
            <a:ext cx="1676459" cy="4412612"/>
          </a:xfrm>
          <a:prstGeom prst="rect">
            <a:avLst/>
          </a:prstGeom>
        </p:spPr>
        <p:txBody>
          <a:bodyPr wrap="square">
            <a:noAutofit/>
          </a:bodyPr>
          <a:lstStyle/>
          <a:p>
            <a:pPr>
              <a:lnSpc>
                <a:spcPct val="150000"/>
              </a:lnSpc>
            </a:pPr>
            <a:r>
              <a:rPr lang="en-US" altLang="zh-CN" sz="2000" b="1">
                <a:solidFill>
                  <a:schemeClr val="tx1">
                    <a:lumMod val="85000"/>
                    <a:lumOff val="15000"/>
                  </a:schemeClr>
                </a:solidFill>
              </a:rPr>
              <a:t>Supervised Fine-tuned Dataset Demo</a:t>
            </a:r>
            <a:endParaRPr lang="en-US" altLang="zh-CN" sz="2000" b="1">
              <a:solidFill>
                <a:schemeClr val="tx1">
                  <a:lumMod val="85000"/>
                  <a:lumOff val="15000"/>
                </a:schemeClr>
              </a:solidFill>
            </a:endParaRPr>
          </a:p>
          <a:p>
            <a:pPr>
              <a:lnSpc>
                <a:spcPct val="150000"/>
              </a:lnSpc>
            </a:pPr>
            <a:endParaRPr lang="en-US" altLang="zh-CN" sz="2000" b="1"/>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78062" y="747041"/>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1712970" y="1575186"/>
            <a:ext cx="7294928" cy="1331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3600" b="1">
                <a:solidFill>
                  <a:schemeClr val="accent1"/>
                </a:solidFill>
                <a:latin typeface="+mj-ea"/>
                <a:ea typeface="+mj-ea"/>
              </a:rPr>
              <a:t>Model Training and Hyperparameter Tuning</a:t>
            </a:r>
            <a:endParaRPr lang="en-US" altLang="zh-CN" sz="3600" b="1">
              <a:solidFill>
                <a:schemeClr val="accent1"/>
              </a:solidFill>
              <a:latin typeface="+mj-ea"/>
              <a:ea typeface="+mj-ea"/>
            </a:endParaRPr>
          </a:p>
        </p:txBody>
      </p:sp>
      <p:sp>
        <p:nvSpPr>
          <p:cNvPr id="22" name="矩形 21"/>
          <p:cNvSpPr/>
          <p:nvPr/>
        </p:nvSpPr>
        <p:spPr>
          <a:xfrm>
            <a:off x="2633102" y="2811902"/>
            <a:ext cx="3877797" cy="1383665"/>
          </a:xfrm>
          <a:prstGeom prst="rect">
            <a:avLst/>
          </a:prstGeom>
        </p:spPr>
        <p:txBody>
          <a:bodyPr wrap="square">
            <a:spAutoFit/>
          </a:bodyPr>
          <a:lstStyle/>
          <a:p>
            <a:pPr marL="0" marR="0" lvl="0" indent="0" algn="ctr" defTabSz="914400" eaLnBrk="1" fontAlgn="auto" latinLnBrk="0" hangingPunct="1">
              <a:lnSpc>
                <a:spcPct val="150000"/>
              </a:lnSpc>
              <a:spcBef>
                <a:spcPct val="0"/>
              </a:spcBef>
              <a:spcAft>
                <a:spcPct val="0"/>
              </a:spcAft>
              <a:buClrTx/>
              <a:buSzTx/>
              <a:buFontTx/>
              <a:buNone/>
              <a:defRPr/>
            </a:pPr>
            <a:r>
              <a:rPr kumimoji="0" lang="en-US" altLang="zh-CN" sz="1400" b="1" i="0" u="none" strike="noStrike" kern="0" cap="none" spc="0" normalizeH="0" baseline="0" noProof="0">
                <a:ln>
                  <a:noFill/>
                </a:ln>
                <a:solidFill>
                  <a:schemeClr val="tx1"/>
                </a:solidFill>
                <a:effectLst/>
                <a:uLnTx/>
                <a:uFillTx/>
                <a:cs typeface="Arial" panose="020B0604020202020204" pitchFamily="34" charset="0"/>
              </a:rPr>
              <a:t>1.Implementation Path</a:t>
            </a:r>
            <a:endParaRPr kumimoji="0" lang="en-US" altLang="zh-CN" sz="1400" b="1" i="0" u="none" strike="noStrike" kern="0" cap="none" spc="0" normalizeH="0" baseline="0" noProof="0">
              <a:ln>
                <a:noFill/>
              </a:ln>
              <a:solidFill>
                <a:schemeClr val="tx1"/>
              </a:solidFill>
              <a:effectLst/>
              <a:uLnTx/>
              <a:uFillTx/>
              <a:cs typeface="Arial" panose="020B0604020202020204" pitchFamily="34" charset="0"/>
            </a:endParaRPr>
          </a:p>
          <a:p>
            <a:pPr marL="0" marR="0" lvl="0" indent="0" algn="ctr" defTabSz="914400" eaLnBrk="1" fontAlgn="auto" latinLnBrk="0" hangingPunct="1">
              <a:lnSpc>
                <a:spcPct val="150000"/>
              </a:lnSpc>
              <a:spcBef>
                <a:spcPct val="0"/>
              </a:spcBef>
              <a:spcAft>
                <a:spcPct val="0"/>
              </a:spcAft>
              <a:buClrTx/>
              <a:buSzTx/>
              <a:buFontTx/>
              <a:buNone/>
              <a:defRPr/>
            </a:pPr>
            <a:r>
              <a:rPr kumimoji="0" lang="en-US" altLang="zh-CN" sz="1400" b="1" i="0" u="none" strike="noStrike" kern="0" cap="none" spc="0" normalizeH="0" baseline="0" noProof="0">
                <a:ln>
                  <a:noFill/>
                </a:ln>
                <a:solidFill>
                  <a:schemeClr val="tx1"/>
                </a:solidFill>
                <a:effectLst/>
                <a:uLnTx/>
                <a:uFillTx/>
                <a:cs typeface="Arial" panose="020B0604020202020204" pitchFamily="34" charset="0"/>
              </a:rPr>
              <a:t>2.Model Comparison and Evaluation</a:t>
            </a:r>
            <a:endParaRPr kumimoji="0" lang="en-US" altLang="zh-CN" sz="1400" b="1" i="0" u="none" strike="noStrike" kern="0" cap="none" spc="0" normalizeH="0" baseline="0" noProof="0">
              <a:ln>
                <a:noFill/>
              </a:ln>
              <a:solidFill>
                <a:schemeClr val="tx1"/>
              </a:solidFill>
              <a:effectLst/>
              <a:uLnTx/>
              <a:uFillTx/>
              <a:cs typeface="Arial" panose="020B0604020202020204" pitchFamily="34" charset="0"/>
            </a:endParaRPr>
          </a:p>
          <a:p>
            <a:pPr marL="0" marR="0" lvl="0" indent="0" algn="ctr" defTabSz="914400" eaLnBrk="1" fontAlgn="auto" latinLnBrk="0" hangingPunct="1">
              <a:lnSpc>
                <a:spcPct val="150000"/>
              </a:lnSpc>
              <a:spcBef>
                <a:spcPct val="0"/>
              </a:spcBef>
              <a:spcAft>
                <a:spcPct val="0"/>
              </a:spcAft>
              <a:buClrTx/>
              <a:buSzTx/>
              <a:buFontTx/>
              <a:buNone/>
              <a:defRPr/>
            </a:pPr>
            <a:r>
              <a:rPr lang="en-US" altLang="zh-CN" sz="1400" b="1" kern="0" noProof="0">
                <a:ln>
                  <a:noFill/>
                </a:ln>
                <a:solidFill>
                  <a:schemeClr val="tx1"/>
                </a:solidFill>
                <a:effectLst/>
                <a:uLnTx/>
                <a:uFillTx/>
                <a:cs typeface="Arial" panose="020B0604020202020204" pitchFamily="34" charset="0"/>
              </a:rPr>
              <a:t>3</a:t>
            </a:r>
            <a:r>
              <a:rPr lang="en-US" altLang="zh-CN" sz="1400" b="1" kern="0" noProof="0">
                <a:ln>
                  <a:noFill/>
                </a:ln>
                <a:solidFill>
                  <a:schemeClr val="tx1"/>
                </a:solidFill>
                <a:effectLst/>
                <a:uLnTx/>
                <a:uFillTx/>
                <a:cs typeface="Arial" panose="020B0604020202020204" pitchFamily="34" charset="0"/>
              </a:rPr>
              <a:t>.Hyperparameter Tuninng</a:t>
            </a:r>
            <a:endParaRPr kumimoji="0" lang="en-US" altLang="zh-CN" sz="1400" b="1" i="0" u="none" strike="noStrike" kern="0" cap="none" spc="0" normalizeH="0" baseline="0" noProof="0">
              <a:ln>
                <a:noFill/>
              </a:ln>
              <a:solidFill>
                <a:schemeClr val="tx1"/>
              </a:solidFill>
              <a:effectLst/>
              <a:uLnTx/>
              <a:uFillTx/>
              <a:cs typeface="Arial" panose="020B0604020202020204" pitchFamily="34" charset="0"/>
            </a:endParaRPr>
          </a:p>
          <a:p>
            <a:pPr marL="0" marR="0" lvl="0" indent="0" algn="ctr" defTabSz="914400" eaLnBrk="1" fontAlgn="auto" latinLnBrk="0" hangingPunct="1">
              <a:lnSpc>
                <a:spcPct val="150000"/>
              </a:lnSpc>
              <a:spcBef>
                <a:spcPct val="0"/>
              </a:spcBef>
              <a:spcAft>
                <a:spcPct val="0"/>
              </a:spcAft>
              <a:buClrTx/>
              <a:buSzTx/>
              <a:buFontTx/>
              <a:buNone/>
              <a:defRPr/>
            </a:pPr>
            <a:endParaRPr kumimoji="0" lang="en-US" altLang="zh-CN" sz="1400" b="1" i="0" u="none" strike="noStrike" kern="0" cap="none" spc="0" normalizeH="0" baseline="0" noProof="0">
              <a:ln>
                <a:noFill/>
              </a:ln>
              <a:solidFill>
                <a:schemeClr val="tx1"/>
              </a:solidFill>
              <a:effectLst/>
              <a:uLnTx/>
              <a:uFillTx/>
              <a:cs typeface="Arial" panose="020B0604020202020204" pitchFamily="34" charset="0"/>
            </a:endParaRPr>
          </a:p>
        </p:txBody>
      </p:sp>
      <p:cxnSp>
        <p:nvCxnSpPr>
          <p:cNvPr id="23" name="直接连接符 22"/>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6"/>
          <p:cNvSpPr txBox="1">
            <a:spLocks noChangeArrowheads="1"/>
          </p:cNvSpPr>
          <p:nvPr/>
        </p:nvSpPr>
        <p:spPr bwMode="auto">
          <a:xfrm>
            <a:off x="3396633" y="514930"/>
            <a:ext cx="235077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zh-CN" altLang="en-US" sz="1600" b="1">
                <a:solidFill>
                  <a:schemeClr val="tx1">
                    <a:lumMod val="85000"/>
                    <a:lumOff val="15000"/>
                  </a:schemeClr>
                </a:solidFill>
                <a:ea typeface="方正兰亭黑_GBK" charset="0"/>
              </a:rPr>
              <a:t>1</a:t>
            </a:r>
            <a:r>
              <a:rPr lang="en-US" altLang="zh-CN" sz="1600" b="1">
                <a:solidFill>
                  <a:schemeClr val="tx1">
                    <a:lumMod val="85000"/>
                    <a:lumOff val="15000"/>
                  </a:schemeClr>
                </a:solidFill>
                <a:ea typeface="方正兰亭黑_GBK" charset="0"/>
                <a:cs typeface="Arial" panose="020B0604020202020204" pitchFamily="34" charset="0"/>
              </a:rPr>
              <a:t>.Implementation Path</a:t>
            </a:r>
            <a:endParaRPr lang="en-US" altLang="zh-CN" sz="1600" b="1">
              <a:solidFill>
                <a:schemeClr val="tx1">
                  <a:lumMod val="85000"/>
                  <a:lumOff val="15000"/>
                </a:schemeClr>
              </a:solidFill>
              <a:ea typeface="方正兰亭黑_GBK"/>
            </a:endParaRPr>
          </a:p>
          <a:p>
            <a:pPr algn="l" fontAlgn="base">
              <a:spcBef>
                <a:spcPct val="0"/>
              </a:spcBef>
              <a:spcAft>
                <a:spcPct val="0"/>
              </a:spcAft>
              <a:defRPr/>
            </a:pPr>
            <a:endParaRPr lang="en-US" altLang="zh-CN" sz="1600" b="1">
              <a:solidFill>
                <a:schemeClr val="tx1">
                  <a:lumMod val="85000"/>
                  <a:lumOff val="15000"/>
                </a:schemeClr>
              </a:solidFill>
              <a:ea typeface="方正兰亭黑_GBK"/>
            </a:endParaRPr>
          </a:p>
        </p:txBody>
      </p:sp>
      <p:cxnSp>
        <p:nvCxnSpPr>
          <p:cNvPr id="75" name="直接连接符 74"/>
          <p:cNvCxnSpPr/>
          <p:nvPr/>
        </p:nvCxnSpPr>
        <p:spPr>
          <a:xfrm>
            <a:off x="4267265" y="870044"/>
            <a:ext cx="4466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84302" y="820194"/>
            <a:ext cx="537143" cy="537143"/>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矩形 21"/>
          <p:cNvSpPr/>
          <p:nvPr/>
        </p:nvSpPr>
        <p:spPr>
          <a:xfrm>
            <a:off x="621445" y="735358"/>
            <a:ext cx="8423849" cy="4408106"/>
          </a:xfrm>
          <a:prstGeom prst="rect">
            <a:avLst/>
          </a:prstGeom>
        </p:spPr>
        <p:txBody>
          <a:bodyPr wrap="square">
            <a:noAutofit/>
          </a:bodyPr>
          <a:lstStyle/>
          <a:p>
            <a:pPr>
              <a:lnSpc>
                <a:spcPct val="150000"/>
              </a:lnSpc>
              <a:spcBef>
                <a:spcPts val="600"/>
              </a:spcBef>
            </a:pPr>
            <a:r>
              <a:rPr lang="en-US" altLang="zh-CN" sz="1600" b="1">
                <a:solidFill>
                  <a:schemeClr val="tx1">
                    <a:lumMod val="85000"/>
                    <a:lumOff val="15000"/>
                  </a:schemeClr>
                </a:solidFill>
              </a:rPr>
              <a:t>SFT （ Supervised Fine-Tuning </a:t>
            </a:r>
            <a:r>
              <a:rPr lang="zh-CN" altLang="en-US" sz="1600" b="1">
                <a:solidFill>
                  <a:schemeClr val="tx1">
                    <a:lumMod val="85000"/>
                    <a:lumOff val="15000"/>
                  </a:schemeClr>
                </a:solidFill>
              </a:rPr>
              <a:t>）</a:t>
            </a:r>
            <a:endParaRPr lang="en-US" altLang="zh-CN" sz="1600" b="1">
              <a:solidFill>
                <a:schemeClr val="tx1">
                  <a:lumMod val="85000"/>
                  <a:lumOff val="15000"/>
                </a:schemeClr>
              </a:solidFill>
            </a:endParaRPr>
          </a:p>
          <a:p>
            <a:pPr>
              <a:lnSpc>
                <a:spcPct val="150000"/>
              </a:lnSpc>
              <a:spcBef>
                <a:spcPts val="600"/>
              </a:spcBef>
            </a:pPr>
            <a:r>
              <a:rPr lang="en-US" altLang="zh-CN" sz="1400">
                <a:solidFill>
                  <a:schemeClr val="tx1">
                    <a:lumMod val="85000"/>
                    <a:lumOff val="15000"/>
                  </a:schemeClr>
                </a:solidFill>
              </a:rPr>
              <a:t>Based on the pre-trained large language models </a:t>
            </a:r>
            <a:r>
              <a:rPr lang="en-US" altLang="zh-CN" sz="1400" b="1">
                <a:solidFill>
                  <a:schemeClr val="tx1">
                    <a:lumMod val="85000"/>
                    <a:lumOff val="15000"/>
                  </a:schemeClr>
                </a:solidFill>
              </a:rPr>
              <a:t>Qwen2-7B, LLaMA3-8B, and GLM-4-9B</a:t>
            </a:r>
            <a:r>
              <a:rPr lang="en-US" altLang="zh-CN" sz="1400">
                <a:solidFill>
                  <a:schemeClr val="tx1">
                    <a:lumMod val="85000"/>
                    <a:lumOff val="15000"/>
                  </a:schemeClr>
                </a:solidFill>
              </a:rPr>
              <a:t>, we further train the models using </a:t>
            </a:r>
            <a:r>
              <a:rPr lang="en-US" altLang="zh-CN" sz="1400" b="1">
                <a:solidFill>
                  <a:schemeClr val="tx1">
                    <a:lumMod val="85000"/>
                    <a:lumOff val="15000"/>
                  </a:schemeClr>
                </a:solidFill>
              </a:rPr>
              <a:t>supervised samples</a:t>
            </a:r>
            <a:r>
              <a:rPr lang="en-US" altLang="zh-CN" sz="1400">
                <a:solidFill>
                  <a:schemeClr val="tx1">
                    <a:lumMod val="85000"/>
                    <a:lumOff val="15000"/>
                  </a:schemeClr>
                </a:solidFill>
              </a:rPr>
              <a:t> from</a:t>
            </a:r>
            <a:r>
              <a:rPr lang="en-US" altLang="zh-CN" sz="1400">
                <a:solidFill>
                  <a:schemeClr val="tx1">
                    <a:lumMod val="85000"/>
                    <a:lumOff val="15000"/>
                  </a:schemeClr>
                </a:solidFill>
              </a:rPr>
              <a:t> tech_advisor_sft_data.json, whose outputs are structured as </a:t>
            </a:r>
            <a:r>
              <a:rPr lang="en-US" altLang="zh-CN" sz="1400" b="1">
                <a:solidFill>
                  <a:schemeClr val="tx1">
                    <a:lumMod val="85000"/>
                    <a:lumOff val="15000"/>
                  </a:schemeClr>
                </a:solidFill>
              </a:rPr>
              <a:t>["reason", "gap", "suggestion"]</a:t>
            </a:r>
            <a:r>
              <a:rPr lang="en-US" altLang="zh-CN" sz="1400">
                <a:solidFill>
                  <a:schemeClr val="tx1">
                    <a:lumMod val="85000"/>
                    <a:lumOff val="15000"/>
                  </a:schemeClr>
                </a:solidFill>
              </a:rPr>
              <a:t>, in order to improve the output stability and task-matching ability of the models in the internship recommendation scenario for statistics students.</a:t>
            </a:r>
            <a:endParaRPr lang="en-US" altLang="zh-CN" sz="1400">
              <a:solidFill>
                <a:schemeClr val="tx1">
                  <a:lumMod val="85000"/>
                  <a:lumOff val="15000"/>
                </a:schemeClr>
              </a:solidFill>
            </a:endParaRPr>
          </a:p>
          <a:p>
            <a:pPr>
              <a:lnSpc>
                <a:spcPct val="150000"/>
              </a:lnSpc>
              <a:spcBef>
                <a:spcPts val="600"/>
              </a:spcBef>
            </a:pPr>
            <a:r>
              <a:rPr lang="en-US" altLang="zh-CN" sz="1600" b="1">
                <a:solidFill>
                  <a:schemeClr val="tx1">
                    <a:lumMod val="85000"/>
                    <a:lumOff val="15000"/>
                  </a:schemeClr>
                </a:solidFill>
              </a:rPr>
              <a:t>Core Algorithm — QLoRA</a:t>
            </a:r>
            <a:endParaRPr lang="en-US" altLang="zh-CN" sz="1600" b="1">
              <a:solidFill>
                <a:schemeClr val="tx1">
                  <a:lumMod val="85000"/>
                  <a:lumOff val="15000"/>
                </a:schemeClr>
              </a:solidFill>
            </a:endParaRPr>
          </a:p>
          <a:p>
            <a:pPr>
              <a:lnSpc>
                <a:spcPct val="150000"/>
              </a:lnSpc>
              <a:spcBef>
                <a:spcPts val="600"/>
              </a:spcBef>
            </a:pPr>
            <a:r>
              <a:rPr lang="en-US" altLang="zh-CN" sz="1400" b="1">
                <a:solidFill>
                  <a:schemeClr val="tx1">
                    <a:lumMod val="85000"/>
                    <a:lumOff val="15000"/>
                  </a:schemeClr>
                </a:solidFill>
              </a:rPr>
              <a:t>① 4-bit Base Model Quantization</a:t>
            </a:r>
            <a:endParaRPr lang="en-US" altLang="zh-CN" sz="1400" b="1">
              <a:solidFill>
                <a:schemeClr val="tx1">
                  <a:lumMod val="85000"/>
                  <a:lumOff val="15000"/>
                </a:schemeClr>
              </a:solidFill>
            </a:endParaRPr>
          </a:p>
          <a:p>
            <a:pPr>
              <a:lnSpc>
                <a:spcPct val="150000"/>
              </a:lnSpc>
              <a:spcBef>
                <a:spcPts val="600"/>
              </a:spcBef>
            </a:pPr>
            <a:r>
              <a:rPr lang="en-US" altLang="zh-CN" sz="1400">
                <a:solidFill>
                  <a:schemeClr val="tx1">
                    <a:lumMod val="85000"/>
                    <a:lumOff val="15000"/>
                  </a:schemeClr>
                </a:solidFill>
              </a:rPr>
              <a:t>Load the original large language model weights in 4-bit precision, which significantly </a:t>
            </a:r>
            <a:r>
              <a:rPr lang="en-US" altLang="zh-CN" sz="1400" b="1">
                <a:solidFill>
                  <a:schemeClr val="tx1">
                    <a:lumMod val="85000"/>
                    <a:lumOff val="15000"/>
                  </a:schemeClr>
                </a:solidFill>
              </a:rPr>
              <a:t>reduces GPU memory requirements</a:t>
            </a:r>
            <a:r>
              <a:rPr lang="en-US" altLang="zh-CN" sz="1400">
                <a:solidFill>
                  <a:schemeClr val="tx1">
                    <a:lumMod val="85000"/>
                    <a:lumOff val="15000"/>
                  </a:schemeClr>
                </a:solidFill>
              </a:rPr>
              <a:t>.</a:t>
            </a:r>
            <a:endParaRPr lang="en-US" altLang="zh-CN" sz="1400">
              <a:solidFill>
                <a:schemeClr val="tx1">
                  <a:lumMod val="85000"/>
                  <a:lumOff val="15000"/>
                </a:schemeClr>
              </a:solidFill>
            </a:endParaRPr>
          </a:p>
          <a:p>
            <a:pPr>
              <a:lnSpc>
                <a:spcPct val="150000"/>
              </a:lnSpc>
              <a:spcBef>
                <a:spcPts val="600"/>
              </a:spcBef>
            </a:pPr>
            <a:r>
              <a:rPr lang="en-US" altLang="zh-CN" sz="1400" b="1">
                <a:solidFill>
                  <a:schemeClr val="tx1">
                    <a:lumMod val="85000"/>
                    <a:lumOff val="15000"/>
                  </a:schemeClr>
                </a:solidFill>
              </a:rPr>
              <a:t>② LoRA (Low-Rank Adaptation)</a:t>
            </a:r>
            <a:endParaRPr lang="en-US" altLang="zh-CN" sz="1400" b="1">
              <a:solidFill>
                <a:schemeClr val="tx1">
                  <a:lumMod val="85000"/>
                  <a:lumOff val="15000"/>
                </a:schemeClr>
              </a:solidFill>
            </a:endParaRPr>
          </a:p>
          <a:p>
            <a:pPr>
              <a:lnSpc>
                <a:spcPct val="150000"/>
              </a:lnSpc>
              <a:spcBef>
                <a:spcPts val="600"/>
              </a:spcBef>
            </a:pPr>
            <a:r>
              <a:rPr lang="en-US" altLang="zh-CN" sz="1400">
                <a:solidFill>
                  <a:schemeClr val="tx1">
                    <a:lumMod val="85000"/>
                    <a:lumOff val="15000"/>
                  </a:schemeClr>
                </a:solidFill>
              </a:rPr>
              <a:t>Instead of directly updating all parameters of the large language model, LoRA adds a small number of </a:t>
            </a:r>
            <a:r>
              <a:rPr lang="en-US" altLang="zh-CN" sz="1400" b="1">
                <a:solidFill>
                  <a:schemeClr val="tx1">
                    <a:lumMod val="85000"/>
                    <a:lumOff val="15000"/>
                  </a:schemeClr>
                </a:solidFill>
              </a:rPr>
              <a:t>trainable low-rank matrices</a:t>
            </a:r>
            <a:r>
              <a:rPr lang="en-US" altLang="zh-CN" sz="1400">
                <a:solidFill>
                  <a:schemeClr val="tx1">
                    <a:lumMod val="85000"/>
                    <a:lumOff val="15000"/>
                  </a:schemeClr>
                </a:solidFill>
              </a:rPr>
              <a:t> to the model and only trains these additional matrices.</a:t>
            </a:r>
            <a:endParaRPr lang="en-US" altLang="zh-CN" sz="1400">
              <a:solidFill>
                <a:schemeClr val="tx1">
                  <a:lumMod val="85000"/>
                  <a:lumOff val="15000"/>
                </a:schemeClr>
              </a:solidFill>
            </a:endParaRPr>
          </a:p>
        </p:txBody>
      </p:sp>
      <p:sp>
        <p:nvSpPr>
          <p:cNvPr id="5" name="文本框 5"/>
          <p:cNvSpPr txBox="1">
            <a:spLocks noChangeArrowheads="1"/>
          </p:cNvSpPr>
          <p:nvPr/>
        </p:nvSpPr>
        <p:spPr bwMode="auto">
          <a:xfrm>
            <a:off x="-992469" y="71812"/>
            <a:ext cx="101365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2" indent="457200"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pic>
        <p:nvPicPr>
          <p:cNvPr id="2" name="图片 1" descr="post_object_image_2577310714"/>
          <p:cNvPicPr>
            <a:picLocks noChangeAspect="1"/>
          </p:cNvPicPr>
          <p:nvPr/>
        </p:nvPicPr>
        <p:blipFill>
          <a:blip r:embed="rId1"/>
          <a:stretch>
            <a:fillRect/>
          </a:stretch>
        </p:blipFill>
        <p:spPr>
          <a:xfrm>
            <a:off x="14278062" y="20130843"/>
            <a:ext cx="3868223" cy="44894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6"/>
          <p:cNvSpPr txBox="1">
            <a:spLocks noChangeArrowheads="1"/>
          </p:cNvSpPr>
          <p:nvPr/>
        </p:nvSpPr>
        <p:spPr bwMode="auto">
          <a:xfrm>
            <a:off x="3396633" y="514930"/>
            <a:ext cx="235077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zh-CN" altLang="en-US" sz="1600" b="1">
                <a:solidFill>
                  <a:schemeClr val="tx1">
                    <a:lumMod val="85000"/>
                    <a:lumOff val="15000"/>
                  </a:schemeClr>
                </a:solidFill>
                <a:ea typeface="方正兰亭黑_GBK" charset="0"/>
              </a:rPr>
              <a:t>1</a:t>
            </a:r>
            <a:r>
              <a:rPr lang="en-US" altLang="zh-CN" sz="1600" b="1">
                <a:solidFill>
                  <a:schemeClr val="tx1">
                    <a:lumMod val="85000"/>
                    <a:lumOff val="15000"/>
                  </a:schemeClr>
                </a:solidFill>
                <a:ea typeface="方正兰亭黑_GBK" charset="0"/>
                <a:cs typeface="Arial" panose="020B0604020202020204" pitchFamily="34" charset="0"/>
              </a:rPr>
              <a:t>.Implementation Path</a:t>
            </a:r>
            <a:endParaRPr lang="en-US" altLang="zh-CN" sz="1600" b="1">
              <a:solidFill>
                <a:schemeClr val="tx1">
                  <a:lumMod val="85000"/>
                  <a:lumOff val="15000"/>
                </a:schemeClr>
              </a:solidFill>
              <a:ea typeface="方正兰亭黑_GBK"/>
            </a:endParaRPr>
          </a:p>
          <a:p>
            <a:pPr algn="l" fontAlgn="base">
              <a:spcBef>
                <a:spcPct val="0"/>
              </a:spcBef>
              <a:spcAft>
                <a:spcPct val="0"/>
              </a:spcAft>
              <a:defRPr/>
            </a:pPr>
            <a:endParaRPr lang="en-US" altLang="zh-CN" sz="1600" b="1">
              <a:solidFill>
                <a:schemeClr val="tx1">
                  <a:lumMod val="85000"/>
                  <a:lumOff val="15000"/>
                </a:schemeClr>
              </a:solidFill>
              <a:ea typeface="方正兰亭黑_GBK"/>
            </a:endParaRPr>
          </a:p>
        </p:txBody>
      </p:sp>
      <p:cxnSp>
        <p:nvCxnSpPr>
          <p:cNvPr id="75" name="直接连接符 74"/>
          <p:cNvCxnSpPr/>
          <p:nvPr/>
        </p:nvCxnSpPr>
        <p:spPr>
          <a:xfrm>
            <a:off x="4267265" y="870044"/>
            <a:ext cx="44665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743696" y="759066"/>
            <a:ext cx="8423849" cy="537162"/>
          </a:xfrm>
          <a:prstGeom prst="rect">
            <a:avLst/>
          </a:prstGeom>
        </p:spPr>
        <p:txBody>
          <a:bodyPr wrap="square">
            <a:noAutofit/>
          </a:bodyPr>
          <a:lstStyle/>
          <a:p>
            <a:pPr>
              <a:lnSpc>
                <a:spcPct val="150000"/>
              </a:lnSpc>
              <a:spcBef>
                <a:spcPts val="600"/>
              </a:spcBef>
            </a:pPr>
            <a:r>
              <a:rPr lang="en-US" altLang="zh-CN" sz="1800" b="1">
                <a:solidFill>
                  <a:schemeClr val="tx1">
                    <a:lumMod val="85000"/>
                    <a:lumOff val="15000"/>
                  </a:schemeClr>
                </a:solidFill>
              </a:rPr>
              <a:t>Fine-tuned Model Web Interface Demo</a:t>
            </a:r>
            <a:endParaRPr lang="en-US" altLang="zh-CN" sz="1800" b="1">
              <a:solidFill>
                <a:schemeClr val="tx1">
                  <a:lumMod val="85000"/>
                  <a:lumOff val="15000"/>
                </a:schemeClr>
              </a:solidFill>
            </a:endParaRPr>
          </a:p>
          <a:p>
            <a:pPr>
              <a:lnSpc>
                <a:spcPct val="150000"/>
              </a:lnSpc>
              <a:spcBef>
                <a:spcPts val="600"/>
              </a:spcBef>
            </a:pPr>
            <a:endParaRPr lang="en-US" altLang="zh-CN" sz="1800" b="1">
              <a:solidFill>
                <a:schemeClr val="tx1">
                  <a:lumMod val="85000"/>
                  <a:lumOff val="15000"/>
                </a:schemeClr>
              </a:solidFill>
            </a:endParaRPr>
          </a:p>
        </p:txBody>
      </p:sp>
      <p:sp>
        <p:nvSpPr>
          <p:cNvPr id="5" name="文本框 5"/>
          <p:cNvSpPr txBox="1">
            <a:spLocks noChangeArrowheads="1"/>
          </p:cNvSpPr>
          <p:nvPr/>
        </p:nvSpPr>
        <p:spPr bwMode="auto">
          <a:xfrm>
            <a:off x="-992469" y="71812"/>
            <a:ext cx="101365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lvl="2" indent="457200"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pic>
        <p:nvPicPr>
          <p:cNvPr id="2" name="图片 1" descr="post_object_image_2577310714"/>
          <p:cNvPicPr>
            <a:picLocks noChangeAspect="1"/>
          </p:cNvPicPr>
          <p:nvPr/>
        </p:nvPicPr>
        <p:blipFill>
          <a:blip r:embed="rId1"/>
          <a:stretch>
            <a:fillRect/>
          </a:stretch>
        </p:blipFill>
        <p:spPr>
          <a:xfrm>
            <a:off x="14278062" y="20130843"/>
            <a:ext cx="3868223" cy="4489493"/>
          </a:xfrm>
          <a:prstGeom prst="rect">
            <a:avLst/>
          </a:prstGeom>
        </p:spPr>
      </p:pic>
      <p:sp>
        <p:nvSpPr>
          <p:cNvPr id="6" name="椭圆 5"/>
          <p:cNvSpPr/>
          <p:nvPr/>
        </p:nvSpPr>
        <p:spPr>
          <a:xfrm>
            <a:off x="206553" y="870061"/>
            <a:ext cx="537143" cy="537143"/>
          </a:xfrm>
          <a:prstGeom prst="ellipse">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 name="矩形 6"/>
          <p:cNvSpPr/>
          <p:nvPr/>
        </p:nvSpPr>
        <p:spPr>
          <a:xfrm>
            <a:off x="813559" y="1251166"/>
            <a:ext cx="7336569" cy="3892351"/>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 name="图片 7" descr="post_object_image_2982808468"/>
          <p:cNvPicPr>
            <a:picLocks noChangeAspect="1"/>
          </p:cNvPicPr>
          <p:nvPr/>
        </p:nvPicPr>
        <p:blipFill>
          <a:blip r:embed="rId2"/>
          <a:srcRect t="13978"/>
          <a:stretch>
            <a:fillRect/>
          </a:stretch>
        </p:blipFill>
        <p:spPr>
          <a:xfrm>
            <a:off x="871273" y="1340127"/>
            <a:ext cx="7238767" cy="37965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554366" y="916957"/>
            <a:ext cx="5555013" cy="2815567"/>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079351" y="499258"/>
            <a:ext cx="32473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2</a:t>
            </a:r>
            <a:r>
              <a:rPr lang="en-US" altLang="zh-CN" sz="1400" b="1">
                <a:solidFill>
                  <a:schemeClr val="tx1"/>
                </a:solidFill>
                <a:ea typeface="方正兰亭黑_GBK"/>
              </a:rPr>
              <a:t>.Model Comparison and Evaluation</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descr="post_object_image_1130475617"/>
          <p:cNvPicPr>
            <a:picLocks noChangeAspect="1"/>
          </p:cNvPicPr>
          <p:nvPr/>
        </p:nvPicPr>
        <p:blipFill>
          <a:blip r:embed="rId1"/>
          <a:stretch>
            <a:fillRect/>
          </a:stretch>
        </p:blipFill>
        <p:spPr>
          <a:xfrm>
            <a:off x="665483" y="1021260"/>
            <a:ext cx="5332853" cy="2573701"/>
          </a:xfrm>
          <a:prstGeom prst="rect">
            <a:avLst/>
          </a:prstGeom>
        </p:spPr>
      </p:pic>
      <p:sp>
        <p:nvSpPr>
          <p:cNvPr id="3" name="矩形 2"/>
          <p:cNvSpPr/>
          <p:nvPr/>
        </p:nvSpPr>
        <p:spPr>
          <a:xfrm>
            <a:off x="6263915" y="838408"/>
            <a:ext cx="2826720" cy="3839929"/>
          </a:xfrm>
          <a:prstGeom prst="rect">
            <a:avLst/>
          </a:prstGeom>
        </p:spPr>
        <p:txBody>
          <a:bodyPr wrap="square">
            <a:noAutofit/>
          </a:bodyPr>
          <a:lstStyle/>
          <a:p>
            <a:pPr>
              <a:lnSpc>
                <a:spcPct val="150000"/>
              </a:lnSpc>
            </a:pPr>
            <a:r>
              <a:rPr lang="en-US" altLang="zh-CN" sz="1600" b="1">
                <a:solidFill>
                  <a:schemeClr val="tx1"/>
                </a:solidFill>
              </a:rPr>
              <a:t>Training Setup Comparison</a:t>
            </a:r>
            <a:endParaRPr lang="en-US" altLang="zh-CN" sz="1600" b="1">
              <a:solidFill>
                <a:schemeClr val="tx1"/>
              </a:solidFill>
            </a:endParaRPr>
          </a:p>
          <a:p>
            <a:pPr>
              <a:lnSpc>
                <a:spcPct val="150000"/>
              </a:lnSpc>
            </a:pPr>
            <a:r>
              <a:rPr lang="en-US" altLang="zh-CN" sz="1400">
                <a:solidFill>
                  <a:schemeClr val="tx1">
                    <a:lumMod val="85000"/>
                    <a:lumOff val="15000"/>
                  </a:schemeClr>
                </a:solidFill>
              </a:rPr>
              <a:t>The three models were fine-tuned under the same training setting, while differing in model family and parameter scale, enabling a fair comparison of model performance and efficiency. </a:t>
            </a:r>
            <a:endParaRPr lang="en-US" altLang="zh-CN" sz="1400">
              <a:solidFill>
                <a:schemeClr val="tx1">
                  <a:lumMod val="85000"/>
                  <a:lumOff val="15000"/>
                </a:schemeClr>
              </a:solidFill>
            </a:endParaRPr>
          </a:p>
          <a:p>
            <a:pPr>
              <a:lnSpc>
                <a:spcPct val="150000"/>
              </a:lnSpc>
            </a:pPr>
            <a:endParaRPr lang="en-US" altLang="zh-CN" sz="1400"/>
          </a:p>
        </p:txBody>
      </p:sp>
      <p:pic>
        <p:nvPicPr>
          <p:cNvPr id="5" name="图片 4" descr="post_object_image_2066664725"/>
          <p:cNvPicPr>
            <a:picLocks noChangeAspect="1"/>
          </p:cNvPicPr>
          <p:nvPr/>
        </p:nvPicPr>
        <p:blipFill>
          <a:blip r:embed="rId2"/>
          <a:stretch>
            <a:fillRect/>
          </a:stretch>
        </p:blipFill>
        <p:spPr>
          <a:xfrm>
            <a:off x="6326751" y="3332368"/>
            <a:ext cx="2345389" cy="480953"/>
          </a:xfrm>
          <a:prstGeom prst="rect">
            <a:avLst/>
          </a:prstGeom>
        </p:spPr>
      </p:pic>
      <p:sp>
        <p:nvSpPr>
          <p:cNvPr id="6" name="矩形 5"/>
          <p:cNvSpPr/>
          <p:nvPr/>
        </p:nvSpPr>
        <p:spPr>
          <a:xfrm>
            <a:off x="477013" y="3918688"/>
            <a:ext cx="8972674" cy="1224776"/>
          </a:xfrm>
          <a:prstGeom prst="rect">
            <a:avLst/>
          </a:prstGeom>
        </p:spPr>
        <p:txBody>
          <a:bodyPr wrap="square">
            <a:noAutofit/>
          </a:bodyPr>
          <a:lstStyle/>
          <a:p>
            <a:pPr>
              <a:lnSpc>
                <a:spcPct val="150000"/>
              </a:lnSpc>
            </a:pPr>
            <a:r>
              <a:rPr lang="en-US" altLang="zh-CN" sz="1400" b="1">
                <a:solidFill>
                  <a:schemeClr val="tx1">
                    <a:lumMod val="85000"/>
                    <a:lumOff val="15000"/>
                  </a:schemeClr>
                </a:solidFill>
              </a:rPr>
              <a:t>learning</a:t>
            </a:r>
            <a:r>
              <a:rPr lang="zh-CN" altLang="en-US" sz="1400" b="1">
                <a:solidFill>
                  <a:schemeClr val="tx1">
                    <a:lumMod val="85000"/>
                    <a:lumOff val="15000"/>
                  </a:schemeClr>
                </a:solidFill>
              </a:rPr>
              <a:t>-</a:t>
            </a:r>
            <a:r>
              <a:rPr lang="en-US" altLang="zh-CN" sz="1400" b="1">
                <a:solidFill>
                  <a:schemeClr val="tx1">
                    <a:lumMod val="85000"/>
                    <a:lumOff val="15000"/>
                  </a:schemeClr>
                </a:solidFill>
              </a:rPr>
              <a:t>rate(η) = 2e</a:t>
            </a:r>
            <a:r>
              <a:rPr lang="zh-CN" altLang="en-US" sz="1400" b="1">
                <a:solidFill>
                  <a:schemeClr val="tx1">
                    <a:lumMod val="85000"/>
                    <a:lumOff val="15000"/>
                  </a:schemeClr>
                </a:solidFill>
              </a:rPr>
              <a:t>-</a:t>
            </a:r>
            <a:r>
              <a:rPr lang="en-US" altLang="zh-CN" sz="1400" b="1">
                <a:solidFill>
                  <a:schemeClr val="tx1">
                    <a:lumMod val="85000"/>
                    <a:lumOff val="15000"/>
                  </a:schemeClr>
                </a:solidFill>
              </a:rPr>
              <a:t>4</a:t>
            </a:r>
            <a:r>
              <a:rPr lang="en-US" altLang="zh-CN" sz="1400">
                <a:solidFill>
                  <a:schemeClr val="tx1">
                    <a:lumMod val="85000"/>
                    <a:lumOff val="15000"/>
                  </a:schemeClr>
                </a:solidFill>
              </a:rPr>
              <a:t> The magnitude of parameter adjustment when the model corrects its errors each time.</a:t>
            </a:r>
            <a:endParaRPr lang="en-US" altLang="zh-CN" sz="1400">
              <a:solidFill>
                <a:schemeClr val="tx1">
                  <a:lumMod val="85000"/>
                  <a:lumOff val="15000"/>
                </a:schemeClr>
              </a:solidFill>
            </a:endParaRPr>
          </a:p>
          <a:p>
            <a:pPr>
              <a:lnSpc>
                <a:spcPct val="150000"/>
              </a:lnSpc>
            </a:pPr>
            <a:r>
              <a:rPr lang="en-US" altLang="zh-CN" sz="1400" b="1">
                <a:solidFill>
                  <a:schemeClr val="tx1">
                    <a:lumMod val="85000"/>
                    <a:lumOff val="15000"/>
                  </a:schemeClr>
                </a:solidFill>
              </a:rPr>
              <a:t>Loss function</a:t>
            </a:r>
            <a:r>
              <a:rPr lang="en-US" altLang="zh-CN" sz="1400">
                <a:solidFill>
                  <a:schemeClr val="tx1">
                    <a:lumMod val="85000"/>
                    <a:lumOff val="15000"/>
                  </a:schemeClr>
                </a:solidFill>
              </a:rPr>
              <a:t> </a:t>
            </a:r>
            <a:r>
              <a:rPr lang="en-US" altLang="zh-CN" sz="1400">
                <a:solidFill>
                  <a:schemeClr val="tx1">
                    <a:lumMod val="85000"/>
                    <a:lumOff val="15000"/>
                  </a:schemeClr>
                </a:solidFill>
              </a:rPr>
              <a:t> measures the difference between the model’s predicted output and the target answer. During fine-tuning, the model gradually makes its output closer to the target answer by continuously reducing the loss.</a:t>
            </a:r>
            <a:endParaRPr lang="en-US" altLang="zh-CN" sz="1400">
              <a:solidFill>
                <a:schemeClr val="tx1">
                  <a:lumMod val="85000"/>
                  <a:lumOff val="1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038117" y="507833"/>
            <a:ext cx="32473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2</a:t>
            </a:r>
            <a:r>
              <a:rPr lang="en-US" altLang="zh-CN" sz="1400" b="1">
                <a:solidFill>
                  <a:schemeClr val="tx1"/>
                </a:solidFill>
                <a:ea typeface="方正兰亭黑_GBK"/>
              </a:rPr>
              <a:t>.Model Comparison and Evaluation</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sp>
        <p:nvSpPr>
          <p:cNvPr id="3" name="矩形 2"/>
          <p:cNvSpPr/>
          <p:nvPr/>
        </p:nvSpPr>
        <p:spPr>
          <a:xfrm>
            <a:off x="4180887" y="838361"/>
            <a:ext cx="4587580" cy="3848662"/>
          </a:xfrm>
          <a:prstGeom prst="rect">
            <a:avLst/>
          </a:prstGeom>
        </p:spPr>
        <p:txBody>
          <a:bodyPr wrap="square">
            <a:noAutofit/>
          </a:bodyPr>
          <a:lstStyle/>
          <a:p>
            <a:pPr>
              <a:lnSpc>
                <a:spcPct val="150000"/>
              </a:lnSpc>
            </a:pPr>
            <a:r>
              <a:rPr lang="en-US" altLang="zh-CN" sz="1600" b="1">
                <a:solidFill>
                  <a:schemeClr val="tx1"/>
                </a:solidFill>
              </a:rPr>
              <a:t>Loss Curve Comparison</a:t>
            </a:r>
            <a:endParaRPr lang="en-US" altLang="zh-CN" sz="1600" b="1">
              <a:solidFill>
                <a:schemeClr val="tx1"/>
              </a:solidFill>
            </a:endParaRPr>
          </a:p>
          <a:p>
            <a:pPr>
              <a:lnSpc>
                <a:spcPct val="150000"/>
              </a:lnSpc>
            </a:pPr>
            <a:r>
              <a:rPr lang="en-US" altLang="zh-CN" sz="1400">
                <a:solidFill>
                  <a:schemeClr val="tx1"/>
                </a:solidFill>
              </a:rPr>
              <a:t>Interpretation:</a:t>
            </a:r>
            <a:endParaRPr lang="en-US" altLang="zh-CN" sz="1400">
              <a:solidFill>
                <a:schemeClr val="tx1"/>
              </a:solidFill>
            </a:endParaRPr>
          </a:p>
          <a:p>
            <a:pPr>
              <a:lnSpc>
                <a:spcPct val="150000"/>
              </a:lnSpc>
            </a:pPr>
            <a:r>
              <a:rPr lang="en-US" altLang="zh-CN" sz="1400">
                <a:solidFill>
                  <a:schemeClr val="tx1"/>
                </a:solidFill>
              </a:rPr>
              <a:t>①All three curves show a clear downward trend, indicating that all three models </a:t>
            </a:r>
            <a:r>
              <a:rPr lang="en-US" altLang="zh-CN" sz="1400" b="1">
                <a:solidFill>
                  <a:schemeClr val="tx1"/>
                </a:solidFill>
              </a:rPr>
              <a:t>successfully converged</a:t>
            </a:r>
            <a:r>
              <a:rPr lang="en-US" altLang="zh-CN" sz="1400">
                <a:solidFill>
                  <a:schemeClr val="tx1"/>
                </a:solidFill>
              </a:rPr>
              <a:t>.</a:t>
            </a:r>
            <a:endParaRPr lang="zh-CN" altLang="en-US" sz="1400">
              <a:solidFill>
                <a:schemeClr val="tx1"/>
              </a:solidFill>
            </a:endParaRPr>
          </a:p>
          <a:p>
            <a:pPr>
              <a:lnSpc>
                <a:spcPct val="150000"/>
              </a:lnSpc>
            </a:pPr>
            <a:r>
              <a:rPr lang="zh-CN" altLang="en-US" sz="1400">
                <a:solidFill>
                  <a:schemeClr val="tx1"/>
                </a:solidFill>
              </a:rPr>
              <a:t>②</a:t>
            </a:r>
            <a:r>
              <a:rPr lang="en-US" altLang="zh-CN" sz="1400">
                <a:solidFill>
                  <a:schemeClr val="tx1"/>
                </a:solidFill>
              </a:rPr>
              <a:t>GLM4-9B may fit the training set more strongly, but its performance on the validation set is </a:t>
            </a:r>
            <a:r>
              <a:rPr lang="en-US" altLang="zh-CN" sz="1400">
                <a:solidFill>
                  <a:schemeClr val="tx1"/>
                </a:solidFill>
              </a:rPr>
              <a:t>not as good as LLaMA3-8B.</a:t>
            </a:r>
            <a:endParaRPr lang="zh-CN" altLang="en-US" sz="1400">
              <a:solidFill>
                <a:schemeClr val="tx1"/>
              </a:solidFill>
            </a:endParaRPr>
          </a:p>
          <a:p>
            <a:pPr>
              <a:lnSpc>
                <a:spcPct val="150000"/>
              </a:lnSpc>
            </a:pPr>
            <a:r>
              <a:rPr lang="zh-CN" altLang="en-US" sz="1400">
                <a:solidFill>
                  <a:schemeClr val="tx1"/>
                </a:solidFill>
              </a:rPr>
              <a:t>③</a:t>
            </a:r>
            <a:r>
              <a:rPr lang="en-US" altLang="zh-CN" sz="1400" b="1">
                <a:solidFill>
                  <a:schemeClr val="tx1"/>
                </a:solidFill>
              </a:rPr>
              <a:t>LLaMA3-8B performs best on the validation set</a:t>
            </a:r>
            <a:r>
              <a:rPr lang="en-US" altLang="zh-CN" sz="1400">
                <a:solidFill>
                  <a:schemeClr val="tx1"/>
                </a:solidFill>
              </a:rPr>
              <a:t> and shows the best overall performance among the three models.</a:t>
            </a:r>
            <a:endParaRPr lang="en-US" altLang="zh-CN" sz="1400">
              <a:solidFill>
                <a:schemeClr val="tx1"/>
              </a:solidFill>
            </a:endParaRPr>
          </a:p>
        </p:txBody>
      </p:sp>
      <p:sp>
        <p:nvSpPr>
          <p:cNvPr id="6" name="矩形 5"/>
          <p:cNvSpPr/>
          <p:nvPr/>
        </p:nvSpPr>
        <p:spPr>
          <a:xfrm>
            <a:off x="466997" y="777230"/>
            <a:ext cx="3520281" cy="4318844"/>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 name="图片 1" descr="post_object_image_3261719541"/>
          <p:cNvPicPr>
            <a:picLocks noChangeAspect="1"/>
          </p:cNvPicPr>
          <p:nvPr/>
        </p:nvPicPr>
        <p:blipFill>
          <a:blip r:embed="rId1"/>
          <a:stretch>
            <a:fillRect/>
          </a:stretch>
        </p:blipFill>
        <p:spPr>
          <a:xfrm>
            <a:off x="554366" y="838361"/>
            <a:ext cx="3349599" cy="2075653"/>
          </a:xfrm>
          <a:prstGeom prst="rect">
            <a:avLst/>
          </a:prstGeom>
        </p:spPr>
      </p:pic>
      <p:pic>
        <p:nvPicPr>
          <p:cNvPr id="4" name="图片 3" descr="post_object_image_1082812796"/>
          <p:cNvPicPr>
            <a:picLocks noChangeAspect="1"/>
          </p:cNvPicPr>
          <p:nvPr/>
        </p:nvPicPr>
        <p:blipFill>
          <a:blip r:embed="rId2"/>
          <a:stretch>
            <a:fillRect/>
          </a:stretch>
        </p:blipFill>
        <p:spPr>
          <a:xfrm>
            <a:off x="548078" y="2981432"/>
            <a:ext cx="3355888" cy="20703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046850" y="507820"/>
            <a:ext cx="32473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2</a:t>
            </a:r>
            <a:r>
              <a:rPr lang="en-US" altLang="zh-CN" sz="1400" b="1">
                <a:solidFill>
                  <a:schemeClr val="tx1"/>
                </a:solidFill>
                <a:ea typeface="方正兰亭黑_GBK"/>
              </a:rPr>
              <a:t>.Model Comparison and Evaluation</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467429" y="838361"/>
            <a:ext cx="2755150" cy="3839929"/>
          </a:xfrm>
          <a:prstGeom prst="rect">
            <a:avLst/>
          </a:prstGeom>
        </p:spPr>
        <p:txBody>
          <a:bodyPr wrap="square">
            <a:noAutofit/>
          </a:bodyPr>
          <a:lstStyle/>
          <a:p>
            <a:pPr>
              <a:lnSpc>
                <a:spcPct val="150000"/>
              </a:lnSpc>
            </a:pPr>
            <a:r>
              <a:rPr lang="en-US" altLang="zh-CN" sz="1600" b="1">
                <a:solidFill>
                  <a:schemeClr val="tx1"/>
                </a:solidFill>
              </a:rPr>
              <a:t>LoRA Efficiency Comparison</a:t>
            </a:r>
            <a:endParaRPr lang="en-US" altLang="zh-CN" sz="1600" b="1">
              <a:solidFill>
                <a:schemeClr val="tx1"/>
              </a:solidFill>
            </a:endParaRPr>
          </a:p>
          <a:p>
            <a:pPr>
              <a:lnSpc>
                <a:spcPct val="150000"/>
              </a:lnSpc>
            </a:pPr>
            <a:r>
              <a:rPr lang="en-US" altLang="zh-CN" sz="1400">
                <a:solidFill>
                  <a:schemeClr val="tx1"/>
                </a:solidFill>
              </a:rPr>
              <a:t>All three models update less than 0.3% of their total parameters during LoRA fine-tuning.</a:t>
            </a:r>
            <a:endParaRPr lang="en-US" altLang="zh-CN" sz="1400">
              <a:solidFill>
                <a:schemeClr val="tx1"/>
              </a:solidFill>
            </a:endParaRPr>
          </a:p>
          <a:p>
            <a:pPr>
              <a:lnSpc>
                <a:spcPct val="150000"/>
              </a:lnSpc>
            </a:pPr>
            <a:r>
              <a:rPr lang="en-US" altLang="zh-CN" sz="1400">
                <a:solidFill>
                  <a:schemeClr val="tx1"/>
                </a:solidFill>
              </a:rPr>
              <a:t>(LoRA only trains a very small proportion of parameters, yet it can still fine-tune 7B–9B models effectively.)</a:t>
            </a:r>
            <a:endParaRPr lang="en-US" altLang="zh-CN" sz="1400">
              <a:solidFill>
                <a:schemeClr val="tx1"/>
              </a:solidFill>
            </a:endParaRPr>
          </a:p>
        </p:txBody>
      </p:sp>
      <p:sp>
        <p:nvSpPr>
          <p:cNvPr id="6" name="矩形 5"/>
          <p:cNvSpPr/>
          <p:nvPr/>
        </p:nvSpPr>
        <p:spPr>
          <a:xfrm>
            <a:off x="493196" y="969354"/>
            <a:ext cx="5801059" cy="1854945"/>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 name="图片 1" descr="post_object_image_3907785119"/>
          <p:cNvPicPr>
            <a:picLocks noChangeAspect="1"/>
          </p:cNvPicPr>
          <p:nvPr/>
        </p:nvPicPr>
        <p:blipFill>
          <a:blip r:embed="rId1"/>
          <a:stretch>
            <a:fillRect/>
          </a:stretch>
        </p:blipFill>
        <p:spPr>
          <a:xfrm>
            <a:off x="538238" y="1029786"/>
            <a:ext cx="5710926" cy="17230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256440" y="560217"/>
            <a:ext cx="32473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2</a:t>
            </a:r>
            <a:r>
              <a:rPr lang="en-US" altLang="zh-CN" sz="1400" b="1">
                <a:solidFill>
                  <a:schemeClr val="tx1"/>
                </a:solidFill>
                <a:ea typeface="方正兰亭黑_GBK"/>
              </a:rPr>
              <a:t>.Model Comparison and Evaluation</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493196" y="969354"/>
            <a:ext cx="5616183" cy="2710772"/>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7" name="图片 6" descr="post_object_image_229092000"/>
          <p:cNvPicPr>
            <a:picLocks noChangeAspect="1"/>
          </p:cNvPicPr>
          <p:nvPr/>
        </p:nvPicPr>
        <p:blipFill>
          <a:blip r:embed="rId1"/>
          <a:stretch>
            <a:fillRect/>
          </a:stretch>
        </p:blipFill>
        <p:spPr>
          <a:xfrm>
            <a:off x="599581" y="1082893"/>
            <a:ext cx="5366777" cy="2459773"/>
          </a:xfrm>
          <a:prstGeom prst="rect">
            <a:avLst/>
          </a:prstGeom>
        </p:spPr>
      </p:pic>
      <p:sp>
        <p:nvSpPr>
          <p:cNvPr id="4" name="矩形 3"/>
          <p:cNvSpPr/>
          <p:nvPr/>
        </p:nvSpPr>
        <p:spPr>
          <a:xfrm>
            <a:off x="6165164" y="838408"/>
            <a:ext cx="2826720" cy="3839929"/>
          </a:xfrm>
          <a:prstGeom prst="rect">
            <a:avLst/>
          </a:prstGeom>
        </p:spPr>
        <p:txBody>
          <a:bodyPr wrap="square">
            <a:noAutofit/>
          </a:bodyPr>
          <a:lstStyle/>
          <a:p>
            <a:pPr>
              <a:lnSpc>
                <a:spcPct val="150000"/>
              </a:lnSpc>
            </a:pPr>
            <a:r>
              <a:rPr lang="en-US" altLang="zh-CN" sz="1400"/>
              <a:t>We compare three models: ①Qwen2-7B shows the best training efficiency and performs well on Chinese tasks. </a:t>
            </a:r>
            <a:endParaRPr lang="en-US" altLang="zh-CN" sz="1400"/>
          </a:p>
          <a:p>
            <a:pPr>
              <a:lnSpc>
                <a:spcPct val="150000"/>
              </a:lnSpc>
            </a:pPr>
            <a:r>
              <a:rPr lang="en-US" altLang="zh-CN" sz="1400"/>
              <a:t>②LLaMA3-8B achieves the lowest validation loss, indicating the best fitting performance, so it is selected as the best overall model. </a:t>
            </a:r>
            <a:endParaRPr lang="en-US" altLang="zh-CN" sz="1400"/>
          </a:p>
          <a:p>
            <a:pPr>
              <a:lnSpc>
                <a:spcPct val="150000"/>
              </a:lnSpc>
            </a:pPr>
            <a:r>
              <a:rPr lang="en-US" altLang="zh-CN" sz="1400"/>
              <a:t>③GLM4-9B has the largest parameter scale and longer context length, but its training cost is higher, so it is mainly used as an extended comparison model.</a:t>
            </a:r>
            <a:endParaRPr lang="en-US" altLang="zh-CN" sz="1400"/>
          </a:p>
        </p:txBody>
      </p:sp>
      <p:sp>
        <p:nvSpPr>
          <p:cNvPr id="36" name="文本框 5"/>
          <p:cNvSpPr txBox="1">
            <a:spLocks noChangeArrowheads="1"/>
          </p:cNvSpPr>
          <p:nvPr/>
        </p:nvSpPr>
        <p:spPr bwMode="auto">
          <a:xfrm>
            <a:off x="287339" y="3880164"/>
            <a:ext cx="5679004" cy="126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600" smtClean="0">
                <a:solidFill>
                  <a:schemeClr val="accent1"/>
                </a:solidFill>
                <a:ea typeface="Calibri Light" panose="020F0302020204030204" pitchFamily="34" charset="0"/>
                <a:cs typeface="Calibri Light" panose="020F0302020204030204" pitchFamily="34" charset="0"/>
              </a:rPr>
              <a:t>Conclusion</a:t>
            </a:r>
            <a:r>
              <a:rPr lang="zh-CN" altLang="en-US" sz="1600" smtClean="0">
                <a:solidFill>
                  <a:schemeClr val="accent1"/>
                </a:solidFill>
                <a:ea typeface="Calibri Light" panose="020F0302020204030204" pitchFamily="34" charset="0"/>
                <a:cs typeface="Calibri Light" panose="020F0302020204030204" pitchFamily="34" charset="0"/>
              </a:rPr>
              <a:t>：</a:t>
            </a:r>
            <a:r>
              <a:rPr lang="en-US" altLang="zh-CN" sz="1600" smtClean="0">
                <a:solidFill>
                  <a:schemeClr val="accent1"/>
                </a:solidFill>
                <a:ea typeface="Calibri Light" panose="020F0302020204030204" pitchFamily="34" charset="0"/>
                <a:cs typeface="Calibri Light" panose="020F0302020204030204" pitchFamily="34" charset="0"/>
              </a:rPr>
              <a:t>After the baseline comparison,</a:t>
            </a:r>
            <a:r>
              <a:rPr lang="en-US" altLang="zh-CN" sz="1600" b="1" smtClean="0">
                <a:solidFill>
                  <a:schemeClr val="accent1"/>
                </a:solidFill>
                <a:ea typeface="Calibri Light" panose="020F0302020204030204" pitchFamily="34" charset="0"/>
                <a:cs typeface="Calibri Light" panose="020F0302020204030204" pitchFamily="34" charset="0"/>
              </a:rPr>
              <a:t> LLaMA3-8B</a:t>
            </a:r>
            <a:r>
              <a:rPr lang="en-US" altLang="zh-CN" sz="1600" smtClean="0">
                <a:solidFill>
                  <a:schemeClr val="accent1"/>
                </a:solidFill>
                <a:ea typeface="Calibri Light" panose="020F0302020204030204" pitchFamily="34" charset="0"/>
                <a:cs typeface="Calibri Light" panose="020F0302020204030204" pitchFamily="34" charset="0"/>
              </a:rPr>
              <a:t> is selected as the main model for further hyperparameter tuning because it achieved the lowest validation loss among the completed baseline models.</a:t>
            </a:r>
            <a:endParaRPr lang="en-US" altLang="zh-CN" sz="1600" smtClean="0">
              <a:solidFill>
                <a:schemeClr val="accent1"/>
              </a:solidFill>
              <a:ea typeface="Calibri Light" panose="020F0302020204030204" pitchFamily="34" charset="0"/>
              <a:cs typeface="Calibri Light" panose="020F0302020204030204" pitchFamily="34" charset="0"/>
            </a:endParaRPr>
          </a:p>
          <a:p>
            <a:pPr fontAlgn="base">
              <a:spcBef>
                <a:spcPct val="0"/>
              </a:spcBef>
              <a:spcAft>
                <a:spcPct val="0"/>
              </a:spcAft>
              <a:defRPr/>
            </a:pPr>
            <a:endParaRPr lang="en-US" altLang="zh-CN" sz="1600" smtClean="0">
              <a:solidFill>
                <a:schemeClr val="accent1"/>
              </a:solidFill>
              <a:ea typeface="Calibri Light" panose="020F0302020204030204" pitchFamily="34" charset="0"/>
              <a:cs typeface="Calibri Light" panose="020F03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0" y="868045"/>
            <a:ext cx="9144000" cy="4530090"/>
          </a:xfrm>
          <a:prstGeom prst="rect">
            <a:avLst/>
          </a:prstGeom>
        </p:spPr>
        <p:txBody>
          <a:bodyPr wrap="square">
            <a:noAutofit/>
          </a:bodyPr>
          <a:lstStyle/>
          <a:p>
            <a:pPr indent="457200">
              <a:lnSpc>
                <a:spcPct val="150000"/>
              </a:lnSpc>
            </a:pPr>
            <a:r>
              <a:rPr lang="zh-CN" altLang="en-US" sz="1400">
                <a:solidFill>
                  <a:schemeClr val="tx1"/>
                </a:solidFill>
              </a:rPr>
              <a:t>在上一步中，本研究基于 </a:t>
            </a:r>
            <a:r>
              <a:rPr lang="en-US" altLang="zh-CN" sz="1400">
                <a:solidFill>
                  <a:schemeClr val="tx1"/>
                </a:solidFill>
              </a:rPr>
              <a:t>GPTQ </a:t>
            </a:r>
            <a:r>
              <a:rPr lang="zh-CN" altLang="en-US" sz="1400">
                <a:solidFill>
                  <a:schemeClr val="tx1"/>
                </a:solidFill>
              </a:rPr>
              <a:t>量化后</a:t>
            </a:r>
            <a:r>
              <a:rPr lang="en-US" altLang="zh-CN" sz="1400">
                <a:solidFill>
                  <a:schemeClr val="tx1"/>
                </a:solidFill>
              </a:rPr>
              <a:t>Qwen2-7B, LLaMA3-8B, GLM-4-9B</a:t>
            </a:r>
            <a:r>
              <a:rPr lang="zh-CN" altLang="en-US" sz="1400">
                <a:solidFill>
                  <a:schemeClr val="tx1"/>
                </a:solidFill>
              </a:rPr>
              <a:t>模型进行了 </a:t>
            </a:r>
            <a:r>
              <a:rPr lang="en-US" altLang="zh-CN" sz="1400">
                <a:solidFill>
                  <a:schemeClr val="tx1"/>
                </a:solidFill>
              </a:rPr>
              <a:t>LoRA </a:t>
            </a:r>
            <a:r>
              <a:rPr lang="zh-CN" altLang="en-US" sz="1400">
                <a:solidFill>
                  <a:schemeClr val="tx1"/>
                </a:solidFill>
              </a:rPr>
              <a:t>微调,并选出表现最好的</a:t>
            </a:r>
            <a:r>
              <a:rPr lang="en-US" altLang="zh-CN" sz="1400">
                <a:solidFill>
                  <a:schemeClr val="tx1"/>
                </a:solidFill>
              </a:rPr>
              <a:t>LLaMA3-8B</a:t>
            </a:r>
            <a:r>
              <a:rPr lang="zh-CN" altLang="en-US" sz="1400">
                <a:solidFill>
                  <a:schemeClr val="tx1"/>
                </a:solidFill>
              </a:rPr>
              <a:t>作为后续分析的基线模型。接下来，本研究在该微调框架的基础上，将超参数选取与调优分为两个阶段。阶段一采用</a:t>
            </a:r>
            <a:r>
              <a:rPr lang="en-US" altLang="zh-CN" sz="1400">
                <a:solidFill>
                  <a:schemeClr val="tx1"/>
                </a:solidFill>
              </a:rPr>
              <a:t>BOHB（Bayesian Optimization and Hyperband），</a:t>
            </a:r>
            <a:r>
              <a:rPr lang="zh-CN" altLang="en-US" sz="1400">
                <a:solidFill>
                  <a:schemeClr val="tx1"/>
                </a:solidFill>
              </a:rPr>
              <a:t>首先调节 </a:t>
            </a:r>
            <a:r>
              <a:rPr lang="en-US" altLang="zh-CN" sz="1400">
                <a:solidFill>
                  <a:schemeClr val="tx1"/>
                </a:solidFill>
              </a:rPr>
              <a:t>LoRA </a:t>
            </a:r>
            <a:r>
              <a:rPr lang="zh-CN" altLang="en-US" sz="1400">
                <a:solidFill>
                  <a:schemeClr val="tx1"/>
                </a:solidFill>
              </a:rPr>
              <a:t>参数，其次调节学习率、</a:t>
            </a:r>
            <a:r>
              <a:rPr lang="en-US" altLang="zh-CN" sz="1400">
                <a:solidFill>
                  <a:schemeClr val="tx1"/>
                </a:solidFill>
              </a:rPr>
              <a:t>warmup ratio </a:t>
            </a:r>
            <a:r>
              <a:rPr lang="zh-CN" altLang="en-US" sz="1400">
                <a:solidFill>
                  <a:schemeClr val="tx1"/>
                </a:solidFill>
              </a:rPr>
              <a:t>和 </a:t>
            </a:r>
            <a:r>
              <a:rPr lang="en-US" altLang="zh-CN" sz="1400">
                <a:solidFill>
                  <a:schemeClr val="tx1"/>
                </a:solidFill>
              </a:rPr>
              <a:t>scheduler </a:t>
            </a:r>
            <a:r>
              <a:rPr lang="zh-CN" altLang="en-US" sz="1400">
                <a:solidFill>
                  <a:schemeClr val="tx1"/>
                </a:solidFill>
              </a:rPr>
              <a:t>等优化过程参数；阶段二进一步将 </a:t>
            </a:r>
            <a:r>
              <a:rPr lang="en-US" altLang="zh-CN" sz="1400">
                <a:solidFill>
                  <a:schemeClr val="tx1"/>
                </a:solidFill>
              </a:rPr>
              <a:t>NEFTune </a:t>
            </a:r>
            <a:r>
              <a:rPr lang="zh-CN" altLang="en-US" sz="1400">
                <a:solidFill>
                  <a:schemeClr val="tx1"/>
                </a:solidFill>
              </a:rPr>
              <a:t>作为训练阶段的正则化增强方法纳入调参框架，以提升模型的泛化能力和输出稳定性。</a:t>
            </a:r>
            <a:endParaRPr lang="zh-CN" altLang="en-US" sz="14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0" y="838200"/>
            <a:ext cx="9144000" cy="4530090"/>
          </a:xfrm>
          <a:prstGeom prst="rect">
            <a:avLst/>
          </a:prstGeom>
        </p:spPr>
        <p:txBody>
          <a:bodyPr wrap="square">
            <a:noAutofit/>
          </a:bodyPr>
          <a:lstStyle/>
          <a:p>
            <a:pPr indent="457200">
              <a:lnSpc>
                <a:spcPct val="150000"/>
              </a:lnSpc>
            </a:pPr>
            <a:r>
              <a:rPr lang="en-US" altLang="zh-CN" sz="1600" b="1">
                <a:solidFill>
                  <a:schemeClr val="tx1"/>
                </a:solidFill>
              </a:rPr>
              <a:t>stage1——BOHB（Bayesian Optimization and Hyperband）</a:t>
            </a:r>
            <a:endParaRPr lang="en-US" altLang="zh-CN" sz="1600" b="1">
              <a:solidFill>
                <a:schemeClr val="tx1"/>
              </a:solidFill>
            </a:endParaRPr>
          </a:p>
          <a:p>
            <a:pPr indent="457200">
              <a:lnSpc>
                <a:spcPct val="150000"/>
              </a:lnSpc>
            </a:pPr>
            <a:r>
              <a:rPr lang="en-US" altLang="zh-CN" sz="1400">
                <a:solidFill>
                  <a:schemeClr val="tx1"/>
                </a:solidFill>
              </a:rPr>
              <a:t>BOHB（Bayesian Optimization and Hyperband）</a:t>
            </a:r>
            <a:r>
              <a:rPr lang="zh-CN" altLang="en-US" sz="1400">
                <a:solidFill>
                  <a:schemeClr val="tx1"/>
                </a:solidFill>
              </a:rPr>
              <a:t>是一种高级超参数优化方法,由 </a:t>
            </a:r>
            <a:r>
              <a:rPr lang="en-US" altLang="zh-CN" sz="1400">
                <a:solidFill>
                  <a:schemeClr val="tx1"/>
                </a:solidFill>
              </a:rPr>
              <a:t>Falkner, Klein </a:t>
            </a:r>
            <a:r>
              <a:rPr lang="zh-CN" altLang="en-US" sz="1400">
                <a:solidFill>
                  <a:schemeClr val="tx1"/>
                </a:solidFill>
              </a:rPr>
              <a:t>和 </a:t>
            </a:r>
            <a:r>
              <a:rPr lang="en-US" altLang="zh-CN" sz="1400">
                <a:solidFill>
                  <a:schemeClr val="tx1"/>
                </a:solidFill>
              </a:rPr>
              <a:t>Hutter </a:t>
            </a:r>
            <a:r>
              <a:rPr lang="zh-CN" altLang="en-US" sz="1400">
                <a:solidFill>
                  <a:schemeClr val="tx1"/>
                </a:solidFill>
              </a:rPr>
              <a:t>在 2018 年提出，核心目标是在有限资源下实现更高效、鲁棒的超参数搜索。它把贝叶斯优化和 </a:t>
            </a:r>
            <a:r>
              <a:rPr lang="en-US" altLang="zh-CN" sz="1400">
                <a:solidFill>
                  <a:schemeClr val="tx1"/>
                </a:solidFill>
              </a:rPr>
              <a:t>Hyperband </a:t>
            </a:r>
            <a:r>
              <a:rPr lang="zh-CN" altLang="en-US" sz="1400">
                <a:solidFill>
                  <a:schemeClr val="tx1"/>
                </a:solidFill>
              </a:rPr>
              <a:t>早停机制 结合起来：一方面，</a:t>
            </a:r>
            <a:r>
              <a:rPr lang="en-US" altLang="zh-CN" sz="1400">
                <a:solidFill>
                  <a:schemeClr val="tx1"/>
                </a:solidFill>
              </a:rPr>
              <a:t>BOHB </a:t>
            </a:r>
            <a:r>
              <a:rPr lang="zh-CN" altLang="en-US" sz="1400">
                <a:solidFill>
                  <a:schemeClr val="tx1"/>
                </a:solidFill>
              </a:rPr>
              <a:t>不像 </a:t>
            </a:r>
            <a:r>
              <a:rPr lang="en-US" altLang="zh-CN" sz="1400">
                <a:solidFill>
                  <a:schemeClr val="tx1"/>
                </a:solidFill>
              </a:rPr>
              <a:t>grid search </a:t>
            </a:r>
            <a:r>
              <a:rPr lang="zh-CN" altLang="en-US" sz="1400">
                <a:solidFill>
                  <a:schemeClr val="tx1"/>
                </a:solidFill>
              </a:rPr>
              <a:t>那样盲目遍历所有组合，而是根据已有实验结果预测哪些超参数更可能有效；另一方面，它会像 </a:t>
            </a:r>
            <a:r>
              <a:rPr lang="en-US" altLang="zh-CN" sz="1400">
                <a:solidFill>
                  <a:schemeClr val="tx1"/>
                </a:solidFill>
              </a:rPr>
              <a:t>Hyperband </a:t>
            </a:r>
            <a:r>
              <a:rPr lang="zh-CN" altLang="en-US" sz="1400">
                <a:solidFill>
                  <a:schemeClr val="tx1"/>
                </a:solidFill>
              </a:rPr>
              <a:t>一样先给很多候选配置分配少量训练资源，并提前淘汰表现差的配置，从而节省大模型微调的计算成本。</a:t>
            </a: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r>
              <a:rPr lang="zh-CN" altLang="en-US" sz="1400">
                <a:solidFill>
                  <a:schemeClr val="tx1"/>
                </a:solidFill>
              </a:rPr>
              <a:t>研究围绕 </a:t>
            </a:r>
            <a:r>
              <a:rPr lang="en-US" altLang="zh-CN" sz="1400">
                <a:solidFill>
                  <a:schemeClr val="tx1"/>
                </a:solidFill>
              </a:rPr>
              <a:t>LoRA rank、LoRA alpha、LoRA dropout、learning rate、warmup ratio </a:t>
            </a:r>
            <a:r>
              <a:rPr lang="zh-CN" altLang="en-US" sz="1400">
                <a:solidFill>
                  <a:schemeClr val="tx1"/>
                </a:solidFill>
              </a:rPr>
              <a:t>和 </a:t>
            </a:r>
            <a:r>
              <a:rPr lang="en-US" altLang="zh-CN" sz="1400">
                <a:solidFill>
                  <a:schemeClr val="tx1"/>
                </a:solidFill>
              </a:rPr>
              <a:t>lr scheduler </a:t>
            </a:r>
            <a:r>
              <a:rPr lang="zh-CN" altLang="en-US" sz="1400">
                <a:solidFill>
                  <a:schemeClr val="tx1"/>
                </a:solidFill>
              </a:rPr>
              <a:t>等 </a:t>
            </a:r>
            <a:r>
              <a:rPr lang="en-US" altLang="zh-CN" sz="1400">
                <a:solidFill>
                  <a:schemeClr val="tx1"/>
                </a:solidFill>
              </a:rPr>
              <a:t>LoRA </a:t>
            </a:r>
            <a:r>
              <a:rPr lang="zh-CN" altLang="en-US" sz="1400">
                <a:solidFill>
                  <a:schemeClr val="tx1"/>
                </a:solidFill>
              </a:rPr>
              <a:t>结构参数与优化过程参数构建 12 组 </a:t>
            </a:r>
            <a:r>
              <a:rPr lang="en-US" altLang="zh-CN" sz="1400">
                <a:solidFill>
                  <a:schemeClr val="tx1"/>
                </a:solidFill>
              </a:rPr>
              <a:t>BOHB-style </a:t>
            </a:r>
            <a:r>
              <a:rPr lang="zh-CN" altLang="en-US" sz="1400">
                <a:solidFill>
                  <a:schemeClr val="tx1"/>
                </a:solidFill>
              </a:rPr>
              <a:t>候选配置并进行</a:t>
            </a:r>
            <a:r>
              <a:rPr lang="zh-CN" altLang="en-US" sz="1400">
                <a:solidFill>
                  <a:schemeClr val="tx1"/>
                </a:solidFill>
              </a:rPr>
              <a:t>实验。</a:t>
            </a:r>
            <a:endParaRPr lang="zh-CN" altLang="en-US" sz="1400">
              <a:solidFill>
                <a:schemeClr val="tx1"/>
              </a:solidFill>
            </a:endParaRPr>
          </a:p>
        </p:txBody>
      </p:sp>
      <p:pic>
        <p:nvPicPr>
          <p:cNvPr id="2" name="图片 1"/>
          <p:cNvPicPr>
            <a:picLocks noChangeAspect="1"/>
          </p:cNvPicPr>
          <p:nvPr/>
        </p:nvPicPr>
        <p:blipFill>
          <a:blip r:embed="rId1"/>
          <a:stretch>
            <a:fillRect/>
          </a:stretch>
        </p:blipFill>
        <p:spPr>
          <a:xfrm>
            <a:off x="523875" y="3093085"/>
            <a:ext cx="1769745" cy="555625"/>
          </a:xfrm>
          <a:prstGeom prst="rect">
            <a:avLst/>
          </a:prstGeom>
        </p:spPr>
      </p:pic>
      <p:pic>
        <p:nvPicPr>
          <p:cNvPr id="4" name="图片 3"/>
          <p:cNvPicPr>
            <a:picLocks noChangeAspect="1"/>
          </p:cNvPicPr>
          <p:nvPr/>
        </p:nvPicPr>
        <p:blipFill>
          <a:blip r:embed="rId2"/>
          <a:stretch>
            <a:fillRect/>
          </a:stretch>
        </p:blipFill>
        <p:spPr>
          <a:xfrm>
            <a:off x="2646680" y="2961640"/>
            <a:ext cx="1985645" cy="8185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5208270" y="838200"/>
            <a:ext cx="3802380" cy="4530090"/>
          </a:xfrm>
          <a:prstGeom prst="rect">
            <a:avLst/>
          </a:prstGeom>
        </p:spPr>
        <p:txBody>
          <a:bodyPr wrap="square">
            <a:noAutofit/>
          </a:bodyPr>
          <a:lstStyle/>
          <a:p>
            <a:pPr>
              <a:lnSpc>
                <a:spcPct val="150000"/>
              </a:lnSpc>
            </a:pPr>
            <a:r>
              <a:rPr lang="en-US" altLang="zh-CN" sz="1800" b="1">
                <a:solidFill>
                  <a:schemeClr val="tx1"/>
                </a:solidFill>
              </a:rPr>
              <a:t>eval loss ranking</a:t>
            </a:r>
            <a:endParaRPr lang="en-US" altLang="zh-CN" sz="1800" b="1">
              <a:solidFill>
                <a:schemeClr val="tx1"/>
              </a:solidFill>
            </a:endParaRPr>
          </a:p>
          <a:p>
            <a:pPr>
              <a:lnSpc>
                <a:spcPct val="150000"/>
              </a:lnSpc>
            </a:pPr>
            <a:r>
              <a:rPr lang="en-US" altLang="zh-CN" sz="1400">
                <a:solidFill>
                  <a:schemeClr val="tx1"/>
                </a:solidFill>
              </a:rPr>
              <a:t>bohb_03 </a:t>
            </a:r>
            <a:r>
              <a:rPr lang="zh-CN" altLang="en-US" sz="1400">
                <a:solidFill>
                  <a:schemeClr val="tx1"/>
                </a:solidFill>
              </a:rPr>
              <a:t>的 </a:t>
            </a:r>
            <a:r>
              <a:rPr lang="en-US" altLang="zh-CN" sz="1400">
                <a:solidFill>
                  <a:schemeClr val="tx1"/>
                </a:solidFill>
              </a:rPr>
              <a:t>eval_loss </a:t>
            </a:r>
            <a:r>
              <a:rPr lang="zh-CN" altLang="en-US" sz="1400">
                <a:solidFill>
                  <a:schemeClr val="tx1"/>
                </a:solidFill>
              </a:rPr>
              <a:t>最低，但它和 </a:t>
            </a:r>
            <a:r>
              <a:rPr lang="en-US" altLang="zh-CN" sz="1400">
                <a:solidFill>
                  <a:schemeClr val="tx1"/>
                </a:solidFill>
              </a:rPr>
              <a:t>bohb_05、bohb_10、bohb_09、bohb_07 </a:t>
            </a:r>
            <a:r>
              <a:rPr lang="zh-CN" altLang="en-US" sz="1400">
                <a:solidFill>
                  <a:schemeClr val="tx1"/>
                </a:solidFill>
              </a:rPr>
              <a:t>的差距并不是特别大。</a:t>
            </a:r>
            <a:endParaRPr lang="zh-CN" altLang="en-US" sz="1400">
              <a:solidFill>
                <a:schemeClr val="tx1"/>
              </a:solidFill>
            </a:endParaRPr>
          </a:p>
        </p:txBody>
      </p:sp>
      <p:sp>
        <p:nvSpPr>
          <p:cNvPr id="4" name="矩形 3"/>
          <p:cNvSpPr/>
          <p:nvPr/>
        </p:nvSpPr>
        <p:spPr>
          <a:xfrm>
            <a:off x="266065" y="942975"/>
            <a:ext cx="4847590" cy="294132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6" name="图片 6"/>
          <p:cNvPicPr>
            <a:picLocks noChangeAspect="1"/>
          </p:cNvPicPr>
          <p:nvPr/>
        </p:nvPicPr>
        <p:blipFill>
          <a:blip r:embed="rId1"/>
          <a:stretch>
            <a:fillRect/>
          </a:stretch>
        </p:blipFill>
        <p:spPr>
          <a:xfrm>
            <a:off x="342265" y="1000760"/>
            <a:ext cx="4695825" cy="28181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713220" y="838200"/>
            <a:ext cx="2377440" cy="4424680"/>
          </a:xfrm>
          <a:prstGeom prst="rect">
            <a:avLst/>
          </a:prstGeom>
        </p:spPr>
        <p:txBody>
          <a:bodyPr wrap="square">
            <a:noAutofit/>
          </a:bodyPr>
          <a:lstStyle/>
          <a:p>
            <a:pPr>
              <a:lnSpc>
                <a:spcPct val="150000"/>
              </a:lnSpc>
            </a:pPr>
            <a:r>
              <a:rPr lang="en-US" altLang="zh-CN" sz="1800" b="1">
                <a:solidFill>
                  <a:schemeClr val="tx1"/>
                </a:solidFill>
              </a:rPr>
              <a:t>Train loss  vs  Eval loss</a:t>
            </a:r>
            <a:endParaRPr lang="en-US" altLang="zh-CN" sz="1800" b="1">
              <a:solidFill>
                <a:schemeClr val="tx1"/>
              </a:solidFill>
            </a:endParaRPr>
          </a:p>
          <a:p>
            <a:pPr>
              <a:lnSpc>
                <a:spcPct val="150000"/>
              </a:lnSpc>
            </a:pPr>
            <a:r>
              <a:rPr lang="zh-CN" altLang="en-US" sz="1400">
                <a:solidFill>
                  <a:schemeClr val="tx1"/>
                </a:solidFill>
              </a:rPr>
              <a:t>从不同候选配置之间的比较来看，</a:t>
            </a:r>
            <a:r>
              <a:rPr lang="en-US" altLang="zh-CN" sz="1400">
                <a:solidFill>
                  <a:schemeClr val="tx1"/>
                </a:solidFill>
              </a:rPr>
              <a:t>bohb_03、bohb_05 </a:t>
            </a:r>
            <a:r>
              <a:rPr lang="zh-CN" altLang="en-US" sz="1400">
                <a:solidFill>
                  <a:schemeClr val="tx1"/>
                </a:solidFill>
              </a:rPr>
              <a:t>和 </a:t>
            </a:r>
            <a:r>
              <a:rPr lang="en-US" altLang="zh-CN" sz="1400">
                <a:solidFill>
                  <a:schemeClr val="tx1"/>
                </a:solidFill>
              </a:rPr>
              <a:t>bohb_10 </a:t>
            </a:r>
            <a:r>
              <a:rPr lang="zh-CN" altLang="en-US" sz="1400">
                <a:solidFill>
                  <a:schemeClr val="tx1"/>
                </a:solidFill>
              </a:rPr>
              <a:t>的验证损失相对较低，其中 </a:t>
            </a:r>
            <a:r>
              <a:rPr lang="en-US" altLang="zh-CN" sz="1400">
                <a:solidFill>
                  <a:schemeClr val="tx1"/>
                </a:solidFill>
              </a:rPr>
              <a:t>bohb_03 </a:t>
            </a:r>
            <a:r>
              <a:rPr lang="zh-CN" altLang="en-US" sz="1400">
                <a:solidFill>
                  <a:schemeClr val="tx1"/>
                </a:solidFill>
              </a:rPr>
              <a:t>的 </a:t>
            </a:r>
            <a:r>
              <a:rPr lang="en-US" altLang="zh-CN" sz="1400">
                <a:solidFill>
                  <a:schemeClr val="tx1"/>
                </a:solidFill>
              </a:rPr>
              <a:t>eval_loss </a:t>
            </a:r>
            <a:r>
              <a:rPr lang="zh-CN" altLang="en-US" sz="1400">
                <a:solidFill>
                  <a:schemeClr val="tx1"/>
                </a:solidFill>
              </a:rPr>
              <a:t>最低，说明该配置在验证集上的表现最好。相比之下，</a:t>
            </a:r>
            <a:r>
              <a:rPr lang="en-US" altLang="zh-CN" sz="1400">
                <a:solidFill>
                  <a:schemeClr val="tx1"/>
                </a:solidFill>
              </a:rPr>
              <a:t>bohb_01、bohb_08 </a:t>
            </a:r>
            <a:r>
              <a:rPr lang="zh-CN" altLang="en-US" sz="1400">
                <a:solidFill>
                  <a:schemeClr val="tx1"/>
                </a:solidFill>
              </a:rPr>
              <a:t>和 </a:t>
            </a:r>
            <a:r>
              <a:rPr lang="en-US" altLang="zh-CN" sz="1400">
                <a:solidFill>
                  <a:schemeClr val="tx1"/>
                </a:solidFill>
              </a:rPr>
              <a:t>bohb_11 </a:t>
            </a:r>
            <a:r>
              <a:rPr lang="zh-CN" altLang="en-US" sz="1400">
                <a:solidFill>
                  <a:schemeClr val="tx1"/>
                </a:solidFill>
              </a:rPr>
              <a:t>的训练损失与验证损失均相对较高，表明这些配置在当前短训预算下的拟合效果和泛化效果都不占优势。</a:t>
            </a:r>
            <a:endParaRPr lang="zh-CN" altLang="en-US" sz="1400">
              <a:solidFill>
                <a:schemeClr val="tx1"/>
              </a:solidFill>
            </a:endParaRPr>
          </a:p>
        </p:txBody>
      </p:sp>
      <p:sp>
        <p:nvSpPr>
          <p:cNvPr id="4" name="矩形 3"/>
          <p:cNvSpPr/>
          <p:nvPr/>
        </p:nvSpPr>
        <p:spPr>
          <a:xfrm>
            <a:off x="266065" y="942975"/>
            <a:ext cx="6387465" cy="289687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7" name="图片 7"/>
          <p:cNvPicPr>
            <a:picLocks noChangeAspect="1"/>
          </p:cNvPicPr>
          <p:nvPr/>
        </p:nvPicPr>
        <p:blipFill>
          <a:blip r:embed="rId1"/>
          <a:stretch>
            <a:fillRect/>
          </a:stretch>
        </p:blipFill>
        <p:spPr>
          <a:xfrm>
            <a:off x="313055" y="1021080"/>
            <a:ext cx="6266180" cy="274193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5113655" y="836930"/>
            <a:ext cx="3976370" cy="4530090"/>
          </a:xfrm>
          <a:prstGeom prst="rect">
            <a:avLst/>
          </a:prstGeom>
        </p:spPr>
        <p:txBody>
          <a:bodyPr wrap="square">
            <a:noAutofit/>
          </a:bodyPr>
          <a:lstStyle/>
          <a:p>
            <a:pPr>
              <a:lnSpc>
                <a:spcPct val="150000"/>
              </a:lnSpc>
            </a:pPr>
            <a:r>
              <a:rPr lang="en-US" altLang="zh-CN" sz="1800" b="1">
                <a:solidFill>
                  <a:schemeClr val="tx1"/>
                </a:solidFill>
              </a:rPr>
              <a:t>Eval loss vs generalization gap</a:t>
            </a:r>
            <a:endParaRPr lang="en-US" altLang="zh-CN" sz="1800" b="1">
              <a:solidFill>
                <a:schemeClr val="tx1"/>
              </a:solidFill>
            </a:endParaRPr>
          </a:p>
          <a:p>
            <a:pPr>
              <a:lnSpc>
                <a:spcPct val="150000"/>
              </a:lnSpc>
            </a:pPr>
            <a:r>
              <a:rPr lang="zh-CN" altLang="en-US" sz="1400">
                <a:solidFill>
                  <a:schemeClr val="tx1"/>
                </a:solidFill>
              </a:rPr>
              <a:t>图中展示了 12 组 </a:t>
            </a:r>
            <a:r>
              <a:rPr lang="en-US" altLang="zh-CN" sz="1400">
                <a:solidFill>
                  <a:schemeClr val="tx1"/>
                </a:solidFill>
              </a:rPr>
              <a:t>BOHB </a:t>
            </a:r>
            <a:r>
              <a:rPr lang="zh-CN" altLang="en-US" sz="1400">
                <a:solidFill>
                  <a:schemeClr val="tx1"/>
                </a:solidFill>
              </a:rPr>
              <a:t>候选配置的 </a:t>
            </a:r>
            <a:r>
              <a:rPr lang="en-US" altLang="zh-CN" sz="1400">
                <a:solidFill>
                  <a:schemeClr val="tx1"/>
                </a:solidFill>
              </a:rPr>
              <a:t>generalization gap，</a:t>
            </a:r>
            <a:r>
              <a:rPr lang="zh-CN" altLang="en-US" sz="1400">
                <a:solidFill>
                  <a:schemeClr val="tx1"/>
                </a:solidFill>
              </a:rPr>
              <a:t>即验证损失与训练损失之差。结果显示，所有候选配置的 </a:t>
            </a:r>
            <a:r>
              <a:rPr lang="en-US" altLang="zh-CN" sz="1400">
                <a:solidFill>
                  <a:schemeClr val="tx1"/>
                </a:solidFill>
              </a:rPr>
              <a:t>gap </a:t>
            </a:r>
            <a:r>
              <a:rPr lang="zh-CN" altLang="en-US" sz="1400">
                <a:solidFill>
                  <a:schemeClr val="tx1"/>
                </a:solidFill>
              </a:rPr>
              <a:t>均为负值，说明各组配置的验证损失均低于训练损失，未出现典型的训练集损失低而验证集损失高的过拟合现象。从 </a:t>
            </a:r>
            <a:r>
              <a:rPr lang="en-US" altLang="zh-CN" sz="1400">
                <a:solidFill>
                  <a:schemeClr val="tx1"/>
                </a:solidFill>
              </a:rPr>
              <a:t>gap </a:t>
            </a:r>
            <a:r>
              <a:rPr lang="zh-CN" altLang="en-US" sz="1400">
                <a:solidFill>
                  <a:schemeClr val="tx1"/>
                </a:solidFill>
              </a:rPr>
              <a:t>的绝对值来看，部分配置如 </a:t>
            </a:r>
            <a:r>
              <a:rPr lang="en-US" altLang="zh-CN" sz="1400">
                <a:solidFill>
                  <a:schemeClr val="tx1"/>
                </a:solidFill>
              </a:rPr>
              <a:t>bohb_12、bohb_05 </a:t>
            </a:r>
            <a:r>
              <a:rPr lang="zh-CN" altLang="en-US" sz="1400">
                <a:solidFill>
                  <a:schemeClr val="tx1"/>
                </a:solidFill>
              </a:rPr>
              <a:t>和 </a:t>
            </a:r>
            <a:r>
              <a:rPr lang="en-US" altLang="zh-CN" sz="1400">
                <a:solidFill>
                  <a:schemeClr val="tx1"/>
                </a:solidFill>
              </a:rPr>
              <a:t>bohb_10 </a:t>
            </a:r>
            <a:r>
              <a:rPr lang="zh-CN" altLang="en-US" sz="1400">
                <a:solidFill>
                  <a:schemeClr val="tx1"/>
                </a:solidFill>
              </a:rPr>
              <a:t>的训练—验证损失差距较小，表现更为平衡；而 </a:t>
            </a:r>
            <a:r>
              <a:rPr lang="en-US" altLang="zh-CN" sz="1400">
                <a:solidFill>
                  <a:schemeClr val="tx1"/>
                </a:solidFill>
              </a:rPr>
              <a:t>bohb_01、bohb_11 </a:t>
            </a:r>
            <a:r>
              <a:rPr lang="zh-CN" altLang="en-US" sz="1400">
                <a:solidFill>
                  <a:schemeClr val="tx1"/>
                </a:solidFill>
              </a:rPr>
              <a:t>等配置的差距相对较大。综合验证损失排名与 </a:t>
            </a:r>
            <a:r>
              <a:rPr lang="en-US" altLang="zh-CN" sz="1400">
                <a:solidFill>
                  <a:schemeClr val="tx1"/>
                </a:solidFill>
              </a:rPr>
              <a:t>generalization gap，bohb_03 </a:t>
            </a:r>
            <a:r>
              <a:rPr lang="zh-CN" altLang="en-US" sz="1400">
                <a:solidFill>
                  <a:schemeClr val="tx1"/>
                </a:solidFill>
              </a:rPr>
              <a:t>在取得最低 </a:t>
            </a:r>
            <a:r>
              <a:rPr lang="en-US" altLang="zh-CN" sz="1400">
                <a:solidFill>
                  <a:schemeClr val="tx1"/>
                </a:solidFill>
              </a:rPr>
              <a:t>eval_loss </a:t>
            </a:r>
            <a:r>
              <a:rPr lang="zh-CN" altLang="en-US" sz="1400">
                <a:solidFill>
                  <a:schemeClr val="tx1"/>
                </a:solidFill>
              </a:rPr>
              <a:t>的同时并未表现出异常的泛化差距，因此可作为 </a:t>
            </a:r>
            <a:r>
              <a:rPr lang="en-US" altLang="zh-CN" sz="1400">
                <a:solidFill>
                  <a:schemeClr val="tx1"/>
                </a:solidFill>
              </a:rPr>
              <a:t>Stage2 </a:t>
            </a:r>
            <a:r>
              <a:rPr lang="zh-CN" altLang="en-US" sz="1400">
                <a:solidFill>
                  <a:schemeClr val="tx1"/>
                </a:solidFill>
              </a:rPr>
              <a:t>的基础配置。</a:t>
            </a:r>
            <a:endParaRPr lang="zh-CN" altLang="en-US" sz="1400">
              <a:solidFill>
                <a:schemeClr val="tx1"/>
              </a:solidFill>
            </a:endParaRPr>
          </a:p>
        </p:txBody>
      </p:sp>
      <p:sp>
        <p:nvSpPr>
          <p:cNvPr id="4" name="矩形 3"/>
          <p:cNvSpPr/>
          <p:nvPr/>
        </p:nvSpPr>
        <p:spPr>
          <a:xfrm>
            <a:off x="266065" y="942975"/>
            <a:ext cx="4847590" cy="296926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8" name="图片 8"/>
          <p:cNvPicPr>
            <a:picLocks noChangeAspect="1"/>
          </p:cNvPicPr>
          <p:nvPr/>
        </p:nvPicPr>
        <p:blipFill>
          <a:blip r:embed="rId1"/>
          <a:stretch>
            <a:fillRect/>
          </a:stretch>
        </p:blipFill>
        <p:spPr>
          <a:xfrm>
            <a:off x="358140" y="1041400"/>
            <a:ext cx="4636770" cy="278320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559550" y="715010"/>
            <a:ext cx="2666365" cy="4530090"/>
          </a:xfrm>
          <a:prstGeom prst="rect">
            <a:avLst/>
          </a:prstGeom>
        </p:spPr>
        <p:txBody>
          <a:bodyPr wrap="square">
            <a:noAutofit/>
          </a:bodyPr>
          <a:lstStyle/>
          <a:p>
            <a:pPr>
              <a:lnSpc>
                <a:spcPct val="150000"/>
              </a:lnSpc>
            </a:pPr>
            <a:r>
              <a:rPr lang="en-US" altLang="zh-CN" sz="1800" b="1">
                <a:solidFill>
                  <a:schemeClr val="tx1"/>
                </a:solidFill>
              </a:rPr>
              <a:t>Hyperparameter </a:t>
            </a:r>
            <a:endParaRPr lang="en-US" altLang="zh-CN" sz="1800" b="1">
              <a:solidFill>
                <a:schemeClr val="tx1"/>
              </a:solidFill>
            </a:endParaRPr>
          </a:p>
          <a:p>
            <a:pPr>
              <a:lnSpc>
                <a:spcPct val="150000"/>
              </a:lnSpc>
            </a:pPr>
            <a:r>
              <a:rPr lang="en-US" altLang="zh-CN" sz="1800" b="1">
                <a:solidFill>
                  <a:schemeClr val="tx1"/>
                </a:solidFill>
              </a:rPr>
              <a:t>vs eval_loss </a:t>
            </a:r>
            <a:r>
              <a:rPr lang="zh-CN" altLang="en-US" sz="1600" b="1">
                <a:solidFill>
                  <a:schemeClr val="tx1"/>
                </a:solidFill>
              </a:rPr>
              <a:t>汇总图</a:t>
            </a:r>
            <a:endParaRPr lang="zh-CN" altLang="en-US" sz="1800" b="1">
              <a:solidFill>
                <a:schemeClr val="tx1"/>
              </a:solidFill>
            </a:endParaRPr>
          </a:p>
          <a:p>
            <a:pPr>
              <a:lnSpc>
                <a:spcPct val="150000"/>
              </a:lnSpc>
            </a:pPr>
            <a:r>
              <a:rPr lang="zh-CN" altLang="en-US" sz="1400">
                <a:solidFill>
                  <a:schemeClr val="tx1"/>
                </a:solidFill>
              </a:rPr>
              <a:t>较大的 </a:t>
            </a:r>
            <a:r>
              <a:rPr lang="en-US" altLang="zh-CN" sz="1400">
                <a:solidFill>
                  <a:schemeClr val="tx1"/>
                </a:solidFill>
              </a:rPr>
              <a:t>LoRA rank </a:t>
            </a:r>
            <a:r>
              <a:rPr lang="zh-CN" altLang="en-US" sz="1400">
                <a:solidFill>
                  <a:schemeClr val="tx1"/>
                </a:solidFill>
              </a:rPr>
              <a:t>并不必然带来更低的验证损失，说明单纯增加可训练参数量并不能稳定提升泛化表现。</a:t>
            </a:r>
            <a:endParaRPr lang="zh-CN" altLang="en-US" sz="1400">
              <a:solidFill>
                <a:schemeClr val="tx1"/>
              </a:solidFill>
            </a:endParaRPr>
          </a:p>
          <a:p>
            <a:pPr>
              <a:lnSpc>
                <a:spcPct val="150000"/>
              </a:lnSpc>
            </a:pPr>
            <a:r>
              <a:rPr lang="zh-CN" altLang="en-US" sz="1400">
                <a:solidFill>
                  <a:schemeClr val="tx1"/>
                </a:solidFill>
              </a:rPr>
              <a:t>相比之下，</a:t>
            </a:r>
            <a:r>
              <a:rPr lang="en-US" altLang="zh-CN" sz="1400">
                <a:solidFill>
                  <a:schemeClr val="tx1"/>
                </a:solidFill>
              </a:rPr>
              <a:t>learning rate </a:t>
            </a:r>
            <a:r>
              <a:rPr lang="zh-CN" altLang="en-US" sz="1400">
                <a:solidFill>
                  <a:schemeClr val="tx1"/>
                </a:solidFill>
              </a:rPr>
              <a:t>与 </a:t>
            </a:r>
            <a:r>
              <a:rPr lang="en-US" altLang="zh-CN" sz="1400">
                <a:solidFill>
                  <a:schemeClr val="tx1"/>
                </a:solidFill>
              </a:rPr>
              <a:t>warmup ratio </a:t>
            </a:r>
            <a:r>
              <a:rPr lang="zh-CN" altLang="en-US" sz="1400">
                <a:solidFill>
                  <a:schemeClr val="tx1"/>
                </a:solidFill>
              </a:rPr>
              <a:t>对验证损失的影响更为明显，其中 </a:t>
            </a:r>
            <a:r>
              <a:rPr lang="en-US" altLang="zh-CN" sz="1400">
                <a:solidFill>
                  <a:schemeClr val="tx1"/>
                </a:solidFill>
              </a:rPr>
              <a:t>bohb_03 </a:t>
            </a:r>
            <a:r>
              <a:rPr lang="zh-CN" altLang="en-US" sz="1400">
                <a:solidFill>
                  <a:schemeClr val="tx1"/>
                </a:solidFill>
              </a:rPr>
              <a:t>在当前搜索空间中取得最低 </a:t>
            </a:r>
            <a:r>
              <a:rPr lang="en-US" altLang="zh-CN" sz="1400">
                <a:solidFill>
                  <a:schemeClr val="tx1"/>
                </a:solidFill>
              </a:rPr>
              <a:t>eval_loss。scheduler </a:t>
            </a:r>
            <a:r>
              <a:rPr lang="zh-CN" altLang="en-US" sz="1400">
                <a:solidFill>
                  <a:schemeClr val="tx1"/>
                </a:solidFill>
              </a:rPr>
              <a:t>的平均表现差异较小，说明其在本轮短训中的区分度有限。</a:t>
            </a:r>
            <a:endParaRPr lang="zh-CN" altLang="en-US" sz="1400">
              <a:solidFill>
                <a:schemeClr val="tx1"/>
              </a:solidFill>
            </a:endParaRPr>
          </a:p>
        </p:txBody>
      </p:sp>
      <p:sp>
        <p:nvSpPr>
          <p:cNvPr id="4" name="矩形 3"/>
          <p:cNvSpPr/>
          <p:nvPr/>
        </p:nvSpPr>
        <p:spPr>
          <a:xfrm>
            <a:off x="266065" y="942975"/>
            <a:ext cx="6293485" cy="3582035"/>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9" name="图片 9"/>
          <p:cNvPicPr>
            <a:picLocks noChangeAspect="1"/>
          </p:cNvPicPr>
          <p:nvPr/>
        </p:nvPicPr>
        <p:blipFill>
          <a:blip r:embed="rId1"/>
          <a:stretch>
            <a:fillRect/>
          </a:stretch>
        </p:blipFill>
        <p:spPr>
          <a:xfrm>
            <a:off x="337503" y="1024573"/>
            <a:ext cx="6146165" cy="341439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445885" y="838200"/>
            <a:ext cx="2785110" cy="4530090"/>
          </a:xfrm>
          <a:prstGeom prst="rect">
            <a:avLst/>
          </a:prstGeom>
        </p:spPr>
        <p:txBody>
          <a:bodyPr wrap="square">
            <a:noAutofit/>
          </a:bodyPr>
          <a:lstStyle/>
          <a:p>
            <a:pPr>
              <a:lnSpc>
                <a:spcPct val="150000"/>
              </a:lnSpc>
            </a:pPr>
            <a:r>
              <a:rPr lang="zh-CN" altLang="en-US" sz="1600" b="1">
                <a:solidFill>
                  <a:schemeClr val="tx1"/>
                </a:solidFill>
              </a:rPr>
              <a:t>最优超参数配置(</a:t>
            </a:r>
            <a:r>
              <a:rPr lang="en-US" altLang="zh-CN" sz="1600" b="1">
                <a:solidFill>
                  <a:schemeClr val="tx1"/>
                </a:solidFill>
              </a:rPr>
              <a:t>bohb_03)</a:t>
            </a:r>
            <a:endParaRPr lang="en-US" altLang="zh-CN" sz="1600" b="1">
              <a:solidFill>
                <a:schemeClr val="tx1"/>
              </a:solidFill>
            </a:endParaRPr>
          </a:p>
          <a:p>
            <a:pPr>
              <a:lnSpc>
                <a:spcPct val="150000"/>
              </a:lnSpc>
            </a:pPr>
            <a:r>
              <a:rPr lang="en-US" altLang="zh-CN" sz="1400">
                <a:solidFill>
                  <a:schemeClr val="tx1"/>
                </a:solidFill>
              </a:rPr>
              <a:t>bohb_03 </a:t>
            </a:r>
            <a:r>
              <a:rPr lang="zh-CN" altLang="en-US" sz="1400">
                <a:solidFill>
                  <a:schemeClr val="tx1"/>
                </a:solidFill>
              </a:rPr>
              <a:t>的优势来自多个超参数的共同作用，因此可作为后续 </a:t>
            </a:r>
            <a:r>
              <a:rPr lang="en-US" altLang="zh-CN" sz="1400">
                <a:solidFill>
                  <a:schemeClr val="tx1"/>
                </a:solidFill>
              </a:rPr>
              <a:t>Stage 2 </a:t>
            </a:r>
            <a:r>
              <a:rPr lang="zh-CN" altLang="en-US" sz="1400">
                <a:solidFill>
                  <a:schemeClr val="tx1"/>
                </a:solidFill>
              </a:rPr>
              <a:t>正则化增强实验的基础配置</a:t>
            </a:r>
            <a:endParaRPr lang="zh-CN" altLang="en-US" sz="1400">
              <a:solidFill>
                <a:schemeClr val="tx1"/>
              </a:solidFill>
            </a:endParaRPr>
          </a:p>
        </p:txBody>
      </p:sp>
      <p:sp>
        <p:nvSpPr>
          <p:cNvPr id="4" name="矩形 3"/>
          <p:cNvSpPr/>
          <p:nvPr/>
        </p:nvSpPr>
        <p:spPr>
          <a:xfrm>
            <a:off x="266065" y="942975"/>
            <a:ext cx="6181090" cy="310515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 name="图片 1"/>
          <p:cNvPicPr>
            <a:picLocks noChangeAspect="1"/>
          </p:cNvPicPr>
          <p:nvPr/>
        </p:nvPicPr>
        <p:blipFill>
          <a:blip r:embed="rId1"/>
          <a:srcRect l="1112" t="10595" r="-1112"/>
          <a:stretch>
            <a:fillRect/>
          </a:stretch>
        </p:blipFill>
        <p:spPr>
          <a:xfrm>
            <a:off x="334010" y="998220"/>
            <a:ext cx="6112510" cy="29686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0" y="838200"/>
            <a:ext cx="9144000" cy="4530090"/>
          </a:xfrm>
          <a:prstGeom prst="rect">
            <a:avLst/>
          </a:prstGeom>
        </p:spPr>
        <p:txBody>
          <a:bodyPr wrap="square">
            <a:noAutofit/>
          </a:bodyPr>
          <a:lstStyle/>
          <a:p>
            <a:pPr indent="457200">
              <a:lnSpc>
                <a:spcPct val="150000"/>
              </a:lnSpc>
            </a:pPr>
            <a:r>
              <a:rPr lang="en-US" altLang="zh-CN" sz="1600" b="1">
                <a:solidFill>
                  <a:schemeClr val="tx1"/>
                </a:solidFill>
              </a:rPr>
              <a:t>stage2——NEFTune</a:t>
            </a:r>
            <a:endParaRPr lang="en-US" altLang="zh-CN" sz="1600" b="1">
              <a:solidFill>
                <a:schemeClr val="tx1"/>
              </a:solidFill>
            </a:endParaRPr>
          </a:p>
          <a:p>
            <a:pPr indent="457200">
              <a:lnSpc>
                <a:spcPct val="150000"/>
              </a:lnSpc>
            </a:pPr>
            <a:r>
              <a:rPr lang="en-US" altLang="zh-CN" sz="1400">
                <a:solidFill>
                  <a:schemeClr val="tx1"/>
                </a:solidFill>
              </a:rPr>
              <a:t>NEFTune </a:t>
            </a:r>
            <a:r>
              <a:rPr lang="zh-CN" altLang="en-US" sz="1400">
                <a:solidFill>
                  <a:schemeClr val="tx1"/>
                </a:solidFill>
              </a:rPr>
              <a:t>是一种面向大语言模型指令微调的正则化增强方法，其核心思想是在训练阶段向 </a:t>
            </a:r>
            <a:r>
              <a:rPr lang="en-US" altLang="zh-CN" sz="1400">
                <a:solidFill>
                  <a:schemeClr val="tx1"/>
                </a:solidFill>
              </a:rPr>
              <a:t>token embedding </a:t>
            </a:r>
            <a:r>
              <a:rPr lang="zh-CN" altLang="en-US" sz="1400">
                <a:solidFill>
                  <a:schemeClr val="tx1"/>
                </a:solidFill>
              </a:rPr>
              <a:t>中加入随机噪声，从而增强模型对输入表示扰动的鲁棒性。具体而言，设原始 </a:t>
            </a:r>
            <a:r>
              <a:rPr lang="en-US" altLang="zh-CN" sz="1400">
                <a:solidFill>
                  <a:schemeClr val="tx1"/>
                </a:solidFill>
              </a:rPr>
              <a:t>token embedding </a:t>
            </a:r>
            <a:r>
              <a:rPr lang="zh-CN" altLang="en-US" sz="1400">
                <a:solidFill>
                  <a:schemeClr val="tx1"/>
                </a:solidFill>
              </a:rPr>
              <a:t>为 </a:t>
            </a:r>
            <a:r>
              <a:rPr lang="en-US" altLang="zh-CN" sz="1400">
                <a:solidFill>
                  <a:schemeClr val="tx1"/>
                </a:solidFill>
              </a:rPr>
              <a:t>e，NEFTune </a:t>
            </a:r>
            <a:r>
              <a:rPr lang="zh-CN" altLang="en-US" sz="1400">
                <a:solidFill>
                  <a:schemeClr val="tx1"/>
                </a:solidFill>
              </a:rPr>
              <a:t>在前向传播时将其替换为加入噪声后的表示 </a:t>
            </a:r>
            <a:r>
              <a:rPr lang="en-US" altLang="zh-CN" sz="1400">
                <a:solidFill>
                  <a:schemeClr val="tx1"/>
                </a:solidFill>
              </a:rPr>
              <a:t>e，</a:t>
            </a:r>
            <a:r>
              <a:rPr lang="zh-CN" altLang="en-US" sz="1400">
                <a:solidFill>
                  <a:schemeClr val="tx1"/>
                </a:solidFill>
              </a:rPr>
              <a:t>即</a:t>
            </a: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r>
              <a:rPr lang="zh-CN" altLang="en-US" sz="1400">
                <a:solidFill>
                  <a:schemeClr val="tx1"/>
                </a:solidFill>
              </a:rPr>
              <a:t>在阶段二中，我们固定阶段一选出的最优基础配置 </a:t>
            </a:r>
            <a:r>
              <a:rPr lang="en-US" altLang="zh-CN" sz="1400">
                <a:solidFill>
                  <a:schemeClr val="tx1"/>
                </a:solidFill>
              </a:rPr>
              <a:t>bohb_03，</a:t>
            </a:r>
            <a:r>
              <a:rPr lang="zh-CN" altLang="en-US" sz="1400">
                <a:solidFill>
                  <a:schemeClr val="tx1"/>
                </a:solidFill>
              </a:rPr>
              <a:t>只额外比较 </a:t>
            </a:r>
            <a:r>
              <a:rPr lang="en-US" altLang="zh-CN" sz="1400">
                <a:solidFill>
                  <a:schemeClr val="tx1"/>
                </a:solidFill>
              </a:rPr>
              <a:t>NEFTune </a:t>
            </a:r>
            <a:r>
              <a:rPr lang="zh-CN" altLang="en-US" sz="1400">
                <a:solidFill>
                  <a:schemeClr val="tx1"/>
                </a:solidFill>
              </a:rPr>
              <a:t>正则化增强效果。换句话说，本研究仅调整 </a:t>
            </a:r>
            <a:r>
              <a:rPr lang="en-US" altLang="zh-CN" sz="1400">
                <a:solidFill>
                  <a:schemeClr val="tx1"/>
                </a:solidFill>
              </a:rPr>
              <a:t>neftune_noise_alpha，</a:t>
            </a:r>
            <a:r>
              <a:rPr lang="zh-CN" altLang="en-US" sz="1400">
                <a:solidFill>
                  <a:schemeClr val="tx1"/>
                </a:solidFill>
              </a:rPr>
              <a:t>比较无 </a:t>
            </a:r>
            <a:r>
              <a:rPr lang="en-US" altLang="zh-CN" sz="1400">
                <a:solidFill>
                  <a:schemeClr val="tx1"/>
                </a:solidFill>
              </a:rPr>
              <a:t>NEFTune、NEFTune alpha = 5 </a:t>
            </a:r>
            <a:r>
              <a:rPr lang="zh-CN" altLang="en-US" sz="1400">
                <a:solidFill>
                  <a:schemeClr val="tx1"/>
                </a:solidFill>
              </a:rPr>
              <a:t>和 </a:t>
            </a:r>
            <a:r>
              <a:rPr lang="en-US" altLang="zh-CN" sz="1400">
                <a:solidFill>
                  <a:schemeClr val="tx1"/>
                </a:solidFill>
              </a:rPr>
              <a:t>NEFTune alpha = 10 </a:t>
            </a:r>
            <a:r>
              <a:rPr lang="zh-CN" altLang="en-US" sz="1400">
                <a:solidFill>
                  <a:schemeClr val="tx1"/>
                </a:solidFill>
              </a:rPr>
              <a:t>三组结果。通过比较 </a:t>
            </a:r>
            <a:r>
              <a:rPr lang="en-US" altLang="zh-CN" sz="1400">
                <a:solidFill>
                  <a:schemeClr val="tx1"/>
                </a:solidFill>
              </a:rPr>
              <a:t>eval_loss、train_loss、generalization gap </a:t>
            </a:r>
            <a:r>
              <a:rPr lang="zh-CN" altLang="en-US" sz="1400">
                <a:solidFill>
                  <a:schemeClr val="tx1"/>
                </a:solidFill>
              </a:rPr>
              <a:t>和训练时间，可以判断 </a:t>
            </a:r>
            <a:r>
              <a:rPr lang="en-US" altLang="zh-CN" sz="1400">
                <a:solidFill>
                  <a:schemeClr val="tx1"/>
                </a:solidFill>
              </a:rPr>
              <a:t>NEFTune </a:t>
            </a:r>
            <a:r>
              <a:rPr lang="zh-CN" altLang="en-US" sz="1400">
                <a:solidFill>
                  <a:schemeClr val="tx1"/>
                </a:solidFill>
              </a:rPr>
              <a:t>是否在不显著增加训练成本的情况下提升模型泛化能力。</a:t>
            </a:r>
            <a:endParaRPr lang="zh-CN" altLang="en-US" sz="1400">
              <a:solidFill>
                <a:schemeClr val="tx1"/>
              </a:solidFill>
            </a:endParaRPr>
          </a:p>
        </p:txBody>
      </p:sp>
      <p:pic>
        <p:nvPicPr>
          <p:cNvPr id="5" name="图片 4"/>
          <p:cNvPicPr>
            <a:picLocks noChangeAspect="1"/>
          </p:cNvPicPr>
          <p:nvPr/>
        </p:nvPicPr>
        <p:blipFill>
          <a:blip r:embed="rId1"/>
          <a:stretch>
            <a:fillRect/>
          </a:stretch>
        </p:blipFill>
        <p:spPr>
          <a:xfrm>
            <a:off x="2644140" y="2244725"/>
            <a:ext cx="3206115" cy="6534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554361" y="38247"/>
            <a:ext cx="85363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tx1">
                    <a:lumMod val="85000"/>
                    <a:lumOff val="15000"/>
                  </a:schemeClr>
                </a:solidFill>
                <a:latin typeface="+mj-ea"/>
                <a:ea typeface="+mj-ea"/>
              </a:rPr>
              <a:t>Model Training and Hyperparameter Tuning</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4333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charset="0"/>
              </a:rPr>
              <a:t>3</a:t>
            </a:r>
            <a:r>
              <a:rPr lang="en-US" altLang="zh-CN" sz="1400" b="1">
                <a:solidFill>
                  <a:schemeClr val="tx1"/>
                </a:solidFill>
                <a:ea typeface="方正兰亭黑_GBK"/>
              </a:rPr>
              <a:t>.Hyperparameter Tuninng</a:t>
            </a:r>
            <a:endParaRPr lang="en-US" altLang="zh-CN" sz="1400" b="1">
              <a:solidFill>
                <a:schemeClr val="tx1"/>
              </a:solidFill>
              <a:ea typeface="方正兰亭黑_GBK"/>
            </a:endParaRPr>
          </a:p>
          <a:p>
            <a:pPr algn="l" fontAlgn="base">
              <a:spcBef>
                <a:spcPct val="0"/>
              </a:spcBef>
              <a:spcAft>
                <a:spcPct val="0"/>
              </a:spcAft>
              <a:defRPr/>
            </a:pP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6429375" y="676910"/>
            <a:ext cx="2765425" cy="4530090"/>
          </a:xfrm>
          <a:prstGeom prst="rect">
            <a:avLst/>
          </a:prstGeom>
        </p:spPr>
        <p:txBody>
          <a:bodyPr wrap="square">
            <a:noAutofit/>
          </a:bodyPr>
          <a:lstStyle/>
          <a:p>
            <a:pPr>
              <a:lnSpc>
                <a:spcPct val="150000"/>
              </a:lnSpc>
            </a:pPr>
            <a:r>
              <a:rPr lang="en-US" altLang="zh-CN" sz="1600" b="1">
                <a:solidFill>
                  <a:schemeClr val="tx1"/>
                </a:solidFill>
              </a:rPr>
              <a:t>NEFTune </a:t>
            </a:r>
            <a:r>
              <a:rPr lang="zh-CN" altLang="en-US" sz="1600" b="1">
                <a:solidFill>
                  <a:schemeClr val="tx1"/>
                </a:solidFill>
              </a:rPr>
              <a:t>正则化增强实验结果对比</a:t>
            </a:r>
            <a:endParaRPr lang="zh-CN" altLang="en-US" sz="1600" b="1">
              <a:solidFill>
                <a:schemeClr val="tx1"/>
              </a:solidFill>
            </a:endParaRPr>
          </a:p>
          <a:p>
            <a:pPr>
              <a:lnSpc>
                <a:spcPct val="150000"/>
              </a:lnSpc>
            </a:pPr>
            <a:r>
              <a:rPr lang="zh-CN" altLang="en-US" sz="1400">
                <a:solidFill>
                  <a:schemeClr val="tx1"/>
                </a:solidFill>
              </a:rPr>
              <a:t>随着 </a:t>
            </a:r>
            <a:r>
              <a:rPr lang="en-US" altLang="zh-CN" sz="1400">
                <a:solidFill>
                  <a:schemeClr val="tx1"/>
                </a:solidFill>
              </a:rPr>
              <a:t>neftune_noise_alpha </a:t>
            </a:r>
            <a:r>
              <a:rPr lang="zh-CN" altLang="en-US" sz="1400">
                <a:solidFill>
                  <a:schemeClr val="tx1"/>
                </a:solidFill>
              </a:rPr>
              <a:t>从 0 增加到 5 和 10，模型的 </a:t>
            </a:r>
            <a:r>
              <a:rPr lang="en-US" altLang="zh-CN" sz="1400">
                <a:solidFill>
                  <a:schemeClr val="tx1"/>
                </a:solidFill>
              </a:rPr>
              <a:t>eval_loss、train_loss </a:t>
            </a:r>
            <a:r>
              <a:rPr lang="zh-CN" altLang="en-US" sz="1400">
                <a:solidFill>
                  <a:schemeClr val="tx1"/>
                </a:solidFill>
              </a:rPr>
              <a:t>以及训练时间均呈上升趋势，说明在当前 </a:t>
            </a:r>
            <a:r>
              <a:rPr lang="en-US" altLang="zh-CN" sz="1400">
                <a:solidFill>
                  <a:schemeClr val="tx1"/>
                </a:solidFill>
              </a:rPr>
              <a:t>GPTQ + LoRA </a:t>
            </a:r>
            <a:r>
              <a:rPr lang="zh-CN" altLang="en-US" sz="1400">
                <a:solidFill>
                  <a:schemeClr val="tx1"/>
                </a:solidFill>
              </a:rPr>
              <a:t>微调设置下，</a:t>
            </a:r>
            <a:r>
              <a:rPr lang="en-US" altLang="zh-CN" sz="1400">
                <a:solidFill>
                  <a:schemeClr val="tx1"/>
                </a:solidFill>
              </a:rPr>
              <a:t>NEFTune </a:t>
            </a:r>
            <a:r>
              <a:rPr lang="zh-CN" altLang="en-US" sz="1400">
                <a:solidFill>
                  <a:schemeClr val="tx1"/>
                </a:solidFill>
              </a:rPr>
              <a:t>并未进一步提升模型泛化能力，较强的 </a:t>
            </a:r>
            <a:r>
              <a:rPr lang="en-US" altLang="zh-CN" sz="1400">
                <a:solidFill>
                  <a:schemeClr val="tx1"/>
                </a:solidFill>
              </a:rPr>
              <a:t>embedding </a:t>
            </a:r>
            <a:r>
              <a:rPr lang="zh-CN" altLang="en-US" sz="1400">
                <a:solidFill>
                  <a:schemeClr val="tx1"/>
                </a:solidFill>
              </a:rPr>
              <a:t>噪声反而可能增加训练难度并削弱验证集表现。因此，综合验证损失、训练稳定性与计算成本，本研究最终保留 </a:t>
            </a:r>
            <a:r>
              <a:rPr lang="en-US" altLang="zh-CN" sz="1400">
                <a:solidFill>
                  <a:schemeClr val="tx1"/>
                </a:solidFill>
              </a:rPr>
              <a:t>stage2_base </a:t>
            </a:r>
            <a:r>
              <a:rPr lang="zh-CN" altLang="en-US" sz="1400">
                <a:solidFill>
                  <a:schemeClr val="tx1"/>
                </a:solidFill>
              </a:rPr>
              <a:t>作为更优配置。</a:t>
            </a:r>
            <a:endParaRPr lang="zh-CN" altLang="en-US" sz="1400">
              <a:solidFill>
                <a:schemeClr val="tx1"/>
              </a:solidFill>
            </a:endParaRPr>
          </a:p>
        </p:txBody>
      </p:sp>
      <p:sp>
        <p:nvSpPr>
          <p:cNvPr id="4" name="矩形 3"/>
          <p:cNvSpPr/>
          <p:nvPr/>
        </p:nvSpPr>
        <p:spPr>
          <a:xfrm>
            <a:off x="266065" y="942975"/>
            <a:ext cx="6163310" cy="415036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16" name="图片 15"/>
          <p:cNvPicPr>
            <a:picLocks noChangeAspect="1"/>
          </p:cNvPicPr>
          <p:nvPr/>
        </p:nvPicPr>
        <p:blipFill>
          <a:blip r:embed="rId1"/>
          <a:stretch>
            <a:fillRect/>
          </a:stretch>
        </p:blipFill>
        <p:spPr>
          <a:xfrm>
            <a:off x="335280" y="1016635"/>
            <a:ext cx="6007100" cy="39973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3285066" y="-715433"/>
            <a:ext cx="2573867" cy="91440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996143"/>
            <a:ext cx="8587946" cy="3645244"/>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5"/>
          <p:cNvSpPr txBox="1">
            <a:spLocks noChangeArrowheads="1"/>
          </p:cNvSpPr>
          <p:nvPr/>
        </p:nvSpPr>
        <p:spPr bwMode="auto">
          <a:xfrm>
            <a:off x="838835" y="2039620"/>
            <a:ext cx="7597140" cy="73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3600" b="1">
                <a:solidFill>
                  <a:schemeClr val="accent1"/>
                </a:solidFill>
                <a:latin typeface="+mj-ea"/>
                <a:ea typeface="+mj-ea"/>
              </a:rPr>
              <a:t>Comparison and Ablation Study</a:t>
            </a:r>
            <a:endParaRPr lang="en-US" altLang="zh-CN" sz="3600" b="1">
              <a:solidFill>
                <a:schemeClr val="accent1"/>
              </a:solidFill>
              <a:latin typeface="+mj-ea"/>
              <a:ea typeface="+mj-ea"/>
            </a:endParaRPr>
          </a:p>
        </p:txBody>
      </p:sp>
      <p:sp>
        <p:nvSpPr>
          <p:cNvPr id="22" name="矩形 21"/>
          <p:cNvSpPr/>
          <p:nvPr/>
        </p:nvSpPr>
        <p:spPr>
          <a:xfrm>
            <a:off x="2588017" y="2819522"/>
            <a:ext cx="3877797" cy="414020"/>
          </a:xfrm>
          <a:prstGeom prst="rect">
            <a:avLst/>
          </a:prstGeom>
        </p:spPr>
        <p:txBody>
          <a:bodyPr wrap="square">
            <a:spAutoFit/>
          </a:bodyPr>
          <a:lstStyle/>
          <a:p>
            <a:pPr marL="0" marR="0" lvl="0" indent="0" algn="ctr" defTabSz="914400" eaLnBrk="1" fontAlgn="auto" latinLnBrk="0" hangingPunct="1">
              <a:lnSpc>
                <a:spcPct val="150000"/>
              </a:lnSpc>
              <a:spcBef>
                <a:spcPct val="0"/>
              </a:spcBef>
              <a:spcAft>
                <a:spcPct val="0"/>
              </a:spcAft>
              <a:buClrTx/>
              <a:buSzTx/>
              <a:buFontTx/>
              <a:buNone/>
              <a:defRPr/>
            </a:pPr>
            <a:r>
              <a:rPr lang="en-US" altLang="zh-CN" sz="1400" b="1" kern="0" noProof="0">
                <a:ln>
                  <a:noFill/>
                </a:ln>
                <a:solidFill>
                  <a:schemeClr val="tx1">
                    <a:lumMod val="85000"/>
                    <a:lumOff val="15000"/>
                  </a:schemeClr>
                </a:solidFill>
                <a:effectLst/>
                <a:uLnTx/>
                <a:uFillTx/>
                <a:cs typeface="Arial" panose="020B0604020202020204" pitchFamily="34" charset="0"/>
              </a:rPr>
              <a:t>Taguchi Orthogonal Design</a:t>
            </a:r>
            <a:endParaRPr lang="en-US" altLang="zh-CN" sz="1400" b="1" kern="0" noProof="0">
              <a:ln>
                <a:noFill/>
              </a:ln>
              <a:solidFill>
                <a:schemeClr val="tx1">
                  <a:lumMod val="85000"/>
                  <a:lumOff val="15000"/>
                </a:schemeClr>
              </a:solidFill>
              <a:effectLst/>
              <a:uLnTx/>
              <a:uFillTx/>
              <a:cs typeface="Arial" panose="020B0604020202020204" pitchFamily="34" charset="0"/>
            </a:endParaRPr>
          </a:p>
        </p:txBody>
      </p:sp>
      <p:cxnSp>
        <p:nvCxnSpPr>
          <p:cNvPr id="23" name="直接连接符 22"/>
          <p:cNvCxnSpPr/>
          <p:nvPr/>
        </p:nvCxnSpPr>
        <p:spPr>
          <a:xfrm>
            <a:off x="4463537" y="2819169"/>
            <a:ext cx="21692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521466" y="68092"/>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838200"/>
            <a:ext cx="9144000" cy="4530090"/>
          </a:xfrm>
          <a:prstGeom prst="rect">
            <a:avLst/>
          </a:prstGeom>
        </p:spPr>
        <p:txBody>
          <a:bodyPr wrap="square">
            <a:noAutofit/>
          </a:bodyPr>
          <a:lstStyle/>
          <a:p>
            <a:pPr indent="457200">
              <a:lnSpc>
                <a:spcPct val="150000"/>
              </a:lnSpc>
            </a:pPr>
            <a:r>
              <a:rPr lang="en-US" altLang="zh-CN" sz="1400" b="1">
                <a:solidFill>
                  <a:schemeClr val="tx1"/>
                </a:solidFill>
              </a:rPr>
              <a:t>Taguchi </a:t>
            </a:r>
            <a:r>
              <a:rPr lang="zh-CN" altLang="en-US" sz="1400" b="1">
                <a:solidFill>
                  <a:schemeClr val="tx1"/>
                </a:solidFill>
              </a:rPr>
              <a:t>正交设计</a:t>
            </a:r>
            <a:r>
              <a:rPr lang="zh-CN" altLang="en-US" sz="1400">
                <a:solidFill>
                  <a:schemeClr val="tx1"/>
                </a:solidFill>
              </a:rPr>
              <a:t>是一种基于正交表的实验设计方法，能够在多个因素、多种水平同时存在时，用少量代表性实验替代完整全因子实验。其核心思想是使各因素水平在实验组合中均衡出现，从而以较低计算成本分析不同因素对结果的主要影响。相比普通正交设计，</a:t>
            </a:r>
            <a:r>
              <a:rPr lang="en-US" altLang="zh-CN" sz="1400">
                <a:solidFill>
                  <a:schemeClr val="tx1"/>
                </a:solidFill>
              </a:rPr>
              <a:t>Taguchi </a:t>
            </a:r>
            <a:r>
              <a:rPr lang="zh-CN" altLang="en-US" sz="1400">
                <a:solidFill>
                  <a:schemeClr val="tx1"/>
                </a:solidFill>
              </a:rPr>
              <a:t>方法进一步强调实验结果的稳定性和鲁棒性。</a:t>
            </a:r>
            <a:endParaRPr lang="zh-CN" altLang="en-US" sz="1400">
              <a:solidFill>
                <a:schemeClr val="tx1"/>
              </a:solidFill>
            </a:endParaRPr>
          </a:p>
          <a:p>
            <a:pPr indent="457200">
              <a:lnSpc>
                <a:spcPct val="150000"/>
              </a:lnSpc>
            </a:pPr>
            <a:r>
              <a:rPr lang="zh-CN" altLang="en-US" sz="1400">
                <a:solidFill>
                  <a:schemeClr val="tx1"/>
                </a:solidFill>
              </a:rPr>
              <a:t>若评价指标为损失值，且目标是“越小越好”，可使用小望目信噪比：</a:t>
            </a: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r>
              <a:rPr lang="zh-CN" altLang="en-US" sz="1400">
                <a:solidFill>
                  <a:schemeClr val="tx1"/>
                </a:solidFill>
              </a:rPr>
              <a:t>其中，</a:t>
            </a:r>
            <a:r>
              <a:rPr lang="en-US" altLang="zh-CN" sz="1400">
                <a:solidFill>
                  <a:schemeClr val="tx1"/>
                </a:solidFill>
              </a:rPr>
              <a:t>yi </a:t>
            </a:r>
            <a:r>
              <a:rPr lang="zh-CN" altLang="en-US" sz="1400">
                <a:solidFill>
                  <a:schemeClr val="tx1"/>
                </a:solidFill>
              </a:rPr>
              <a:t>表示第 </a:t>
            </a:r>
            <a:r>
              <a:rPr lang="en-US" altLang="zh-CN" sz="1400">
                <a:solidFill>
                  <a:schemeClr val="tx1"/>
                </a:solidFill>
              </a:rPr>
              <a:t>i </a:t>
            </a:r>
            <a:r>
              <a:rPr lang="zh-CN" altLang="en-US" sz="1400">
                <a:solidFill>
                  <a:schemeClr val="tx1"/>
                </a:solidFill>
              </a:rPr>
              <a:t>次实验的损失值，</a:t>
            </a:r>
            <a:r>
              <a:rPr lang="en-US" altLang="zh-CN" sz="1400">
                <a:solidFill>
                  <a:schemeClr val="tx1"/>
                </a:solidFill>
              </a:rPr>
              <a:t>n </a:t>
            </a:r>
            <a:r>
              <a:rPr lang="zh-CN" altLang="en-US" sz="1400">
                <a:solidFill>
                  <a:schemeClr val="tx1"/>
                </a:solidFill>
              </a:rPr>
              <a:t>表示实验或评价次数。</a:t>
            </a:r>
            <a:r>
              <a:rPr lang="en-US" altLang="zh-CN" sz="1400">
                <a:solidFill>
                  <a:schemeClr val="tx1"/>
                </a:solidFill>
              </a:rPr>
              <a:t>S/N </a:t>
            </a:r>
            <a:r>
              <a:rPr lang="zh-CN" altLang="en-US" sz="1400">
                <a:solidFill>
                  <a:schemeClr val="tx1"/>
                </a:solidFill>
              </a:rPr>
              <a:t>越大，说明该配置的损失越小且表现越稳定。</a:t>
            </a:r>
            <a:endParaRPr lang="zh-CN" altLang="en-US" sz="1400">
              <a:solidFill>
                <a:schemeClr val="tx1"/>
              </a:solidFill>
            </a:endParaRPr>
          </a:p>
          <a:p>
            <a:pPr indent="457200">
              <a:lnSpc>
                <a:spcPct val="150000"/>
              </a:lnSpc>
            </a:pPr>
            <a:endParaRPr lang="zh-CN" altLang="en-US" sz="1400">
              <a:solidFill>
                <a:schemeClr val="tx1"/>
              </a:solidFill>
            </a:endParaRPr>
          </a:p>
          <a:p>
            <a:pPr indent="457200">
              <a:lnSpc>
                <a:spcPct val="150000"/>
              </a:lnSpc>
            </a:pPr>
            <a:r>
              <a:rPr lang="zh-CN" altLang="en-US" sz="1400">
                <a:solidFill>
                  <a:schemeClr val="tx1"/>
                </a:solidFill>
              </a:rPr>
              <a:t>本研究采用 </a:t>
            </a:r>
            <a:r>
              <a:rPr lang="en-US" altLang="zh-CN" sz="1400">
                <a:solidFill>
                  <a:schemeClr val="tx1"/>
                </a:solidFill>
              </a:rPr>
              <a:t>Taguchi </a:t>
            </a:r>
            <a:r>
              <a:rPr lang="zh-CN" altLang="en-US" sz="1400">
                <a:solidFill>
                  <a:schemeClr val="tx1"/>
                </a:solidFill>
              </a:rPr>
              <a:t>正交设计思想构建 </a:t>
            </a:r>
            <a:r>
              <a:rPr lang="en-US" altLang="zh-CN" sz="1400">
                <a:solidFill>
                  <a:schemeClr val="tx1"/>
                </a:solidFill>
              </a:rPr>
              <a:t>L9 </a:t>
            </a:r>
            <a:r>
              <a:rPr lang="zh-CN" altLang="en-US" sz="1400">
                <a:solidFill>
                  <a:schemeClr val="tx1"/>
                </a:solidFill>
              </a:rPr>
              <a:t>实验矩阵，但考虑到计算资源限制，当前主要完成其中与 </a:t>
            </a:r>
            <a:r>
              <a:rPr lang="en-US" altLang="zh-CN" sz="1400">
                <a:solidFill>
                  <a:schemeClr val="tx1"/>
                </a:solidFill>
              </a:rPr>
              <a:t>LLaMA3-8B </a:t>
            </a:r>
            <a:r>
              <a:rPr lang="zh-CN" altLang="en-US" sz="1400">
                <a:solidFill>
                  <a:schemeClr val="tx1"/>
                </a:solidFill>
              </a:rPr>
              <a:t>主线相关的代表性实验，并结合已有 </a:t>
            </a:r>
            <a:r>
              <a:rPr lang="en-US" altLang="zh-CN" sz="1400">
                <a:solidFill>
                  <a:schemeClr val="tx1"/>
                </a:solidFill>
              </a:rPr>
              <a:t>BOHB、NEFTune </a:t>
            </a:r>
            <a:r>
              <a:rPr lang="zh-CN" altLang="en-US" sz="1400">
                <a:solidFill>
                  <a:schemeClr val="tx1"/>
                </a:solidFill>
              </a:rPr>
              <a:t>和数据规模实验进行主效应分析。</a:t>
            </a:r>
            <a:endParaRPr lang="zh-CN" altLang="en-US" sz="1400">
              <a:solidFill>
                <a:schemeClr val="tx1"/>
              </a:solidFill>
            </a:endParaRPr>
          </a:p>
          <a:p>
            <a:pPr indent="457200">
              <a:lnSpc>
                <a:spcPct val="150000"/>
              </a:lnSpc>
            </a:pPr>
            <a:endParaRPr lang="zh-CN" altLang="en-US" sz="1400">
              <a:solidFill>
                <a:schemeClr val="tx1"/>
              </a:solidFill>
            </a:endParaRPr>
          </a:p>
        </p:txBody>
      </p:sp>
      <p:pic>
        <p:nvPicPr>
          <p:cNvPr id="6" name="图片 5"/>
          <p:cNvPicPr>
            <a:picLocks noChangeAspect="1"/>
          </p:cNvPicPr>
          <p:nvPr/>
        </p:nvPicPr>
        <p:blipFill>
          <a:blip r:embed="rId1"/>
          <a:stretch>
            <a:fillRect/>
          </a:stretch>
        </p:blipFill>
        <p:spPr>
          <a:xfrm>
            <a:off x="3453130" y="2252980"/>
            <a:ext cx="2237105" cy="6369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567833" y="74153"/>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18954" y="531656"/>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5026660" y="793115"/>
            <a:ext cx="4083050" cy="4530090"/>
          </a:xfrm>
          <a:prstGeom prst="rect">
            <a:avLst/>
          </a:prstGeom>
        </p:spPr>
        <p:txBody>
          <a:bodyPr wrap="square">
            <a:noAutofit/>
          </a:bodyPr>
          <a:lstStyle/>
          <a:p>
            <a:pPr>
              <a:lnSpc>
                <a:spcPct val="150000"/>
              </a:lnSpc>
            </a:pPr>
            <a:r>
              <a:rPr lang="en-US" altLang="zh-CN" sz="1800" b="1">
                <a:solidFill>
                  <a:schemeClr val="tx1"/>
                </a:solidFill>
              </a:rPr>
              <a:t>Taguchi L9 </a:t>
            </a:r>
            <a:r>
              <a:rPr lang="zh-CN" altLang="en-US" sz="1800" b="1">
                <a:solidFill>
                  <a:schemeClr val="tx1"/>
                </a:solidFill>
              </a:rPr>
              <a:t>实验结果汇总</a:t>
            </a:r>
            <a:endParaRPr lang="en-US" altLang="zh-CN" sz="1800" b="1">
              <a:solidFill>
                <a:schemeClr val="tx1"/>
              </a:solidFill>
            </a:endParaRPr>
          </a:p>
          <a:p>
            <a:pPr>
              <a:lnSpc>
                <a:spcPct val="150000"/>
              </a:lnSpc>
            </a:pPr>
            <a:r>
              <a:rPr lang="zh-CN" altLang="en-US" sz="1600">
                <a:solidFill>
                  <a:schemeClr val="tx1"/>
                </a:solidFill>
              </a:rPr>
              <a:t>该表展示了 </a:t>
            </a:r>
            <a:r>
              <a:rPr lang="en-US" altLang="zh-CN" sz="1600">
                <a:solidFill>
                  <a:schemeClr val="tx1"/>
                </a:solidFill>
              </a:rPr>
              <a:t>Taguchi L9 </a:t>
            </a:r>
            <a:r>
              <a:rPr lang="zh-CN" altLang="en-US" sz="1600">
                <a:solidFill>
                  <a:schemeClr val="tx1"/>
                </a:solidFill>
              </a:rPr>
              <a:t>正交实验的完整结果。该表将数据规模、调参策略和训练资源作为三个主要因素，每个因素设置三个水平，并通过 9 组实验比较不同组合下的模型表现。</a:t>
            </a:r>
            <a:endParaRPr lang="zh-CN" altLang="en-US" sz="1600">
              <a:solidFill>
                <a:schemeClr val="tx1"/>
              </a:solidFill>
            </a:endParaRPr>
          </a:p>
        </p:txBody>
      </p:sp>
      <p:sp>
        <p:nvSpPr>
          <p:cNvPr id="4" name="矩形 3"/>
          <p:cNvSpPr/>
          <p:nvPr/>
        </p:nvSpPr>
        <p:spPr>
          <a:xfrm>
            <a:off x="266065" y="942975"/>
            <a:ext cx="4678045" cy="388239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5" name="图片 4"/>
          <p:cNvPicPr>
            <a:picLocks noChangeAspect="1"/>
          </p:cNvPicPr>
          <p:nvPr/>
        </p:nvPicPr>
        <p:blipFill>
          <a:blip r:embed="rId1"/>
          <a:stretch>
            <a:fillRect/>
          </a:stretch>
        </p:blipFill>
        <p:spPr>
          <a:xfrm>
            <a:off x="325755" y="1005840"/>
            <a:ext cx="4559300" cy="37452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521466" y="68092"/>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98755" y="2144395"/>
            <a:ext cx="8783320" cy="4530090"/>
          </a:xfrm>
          <a:prstGeom prst="rect">
            <a:avLst/>
          </a:prstGeom>
        </p:spPr>
        <p:txBody>
          <a:bodyPr wrap="square">
            <a:noAutofit/>
          </a:bodyPr>
          <a:lstStyle/>
          <a:p>
            <a:pPr>
              <a:lnSpc>
                <a:spcPct val="150000"/>
              </a:lnSpc>
            </a:pPr>
            <a:r>
              <a:rPr lang="zh-CN" altLang="en-US" sz="1600" b="1">
                <a:solidFill>
                  <a:schemeClr val="tx1"/>
                </a:solidFill>
              </a:rPr>
              <a:t>数据规模主效应分析</a:t>
            </a:r>
            <a:endParaRPr lang="zh-CN" altLang="en-US" sz="1600" b="1">
              <a:solidFill>
                <a:schemeClr val="tx1"/>
              </a:solidFill>
            </a:endParaRPr>
          </a:p>
          <a:p>
            <a:pPr>
              <a:lnSpc>
                <a:spcPct val="150000"/>
              </a:lnSpc>
            </a:pPr>
            <a:r>
              <a:rPr lang="zh-CN" altLang="en-US" sz="1400">
                <a:solidFill>
                  <a:schemeClr val="tx1"/>
                </a:solidFill>
              </a:rPr>
              <a:t>通过比较 30%、60% 和 100% 三种数据规模下的平均 </a:t>
            </a:r>
            <a:r>
              <a:rPr lang="en-US" altLang="zh-CN" sz="1400">
                <a:solidFill>
                  <a:schemeClr val="tx1"/>
                </a:solidFill>
              </a:rPr>
              <a:t>eval_loss </a:t>
            </a:r>
            <a:r>
              <a:rPr lang="zh-CN" altLang="en-US" sz="1400">
                <a:solidFill>
                  <a:schemeClr val="tx1"/>
                </a:solidFill>
              </a:rPr>
              <a:t>可以发现，100% 数据规模取得最低平均 </a:t>
            </a:r>
            <a:r>
              <a:rPr lang="en-US" altLang="zh-CN" sz="1400">
                <a:solidFill>
                  <a:schemeClr val="tx1"/>
                </a:solidFill>
              </a:rPr>
              <a:t>eval_loss，</a:t>
            </a:r>
            <a:r>
              <a:rPr lang="zh-CN" altLang="en-US" sz="1400">
                <a:solidFill>
                  <a:schemeClr val="tx1"/>
                </a:solidFill>
              </a:rPr>
              <a:t>为 0.5535；60% 数据规模次之，为 0.5731；而 30% 数据规模的平均 </a:t>
            </a:r>
            <a:r>
              <a:rPr lang="en-US" altLang="zh-CN" sz="1400">
                <a:solidFill>
                  <a:schemeClr val="tx1"/>
                </a:solidFill>
              </a:rPr>
              <a:t>eval_loss </a:t>
            </a:r>
            <a:r>
              <a:rPr lang="zh-CN" altLang="en-US" sz="1400">
                <a:solidFill>
                  <a:schemeClr val="tx1"/>
                </a:solidFill>
              </a:rPr>
              <a:t>高达 1.1673，明显高于另外两组。这说明数据规模对模型表现具有显著影响，尤其是训练数据过少时，模型难以充分学习岗位推荐任务中的稳定模式，导致验证集表现明显下降。因此，在本实验中，数据规模是影响模型泛化能力的最重要因素之一。</a:t>
            </a:r>
            <a:endParaRPr lang="zh-CN" altLang="en-US" sz="1400">
              <a:solidFill>
                <a:schemeClr val="tx1"/>
              </a:solidFill>
            </a:endParaRPr>
          </a:p>
        </p:txBody>
      </p:sp>
      <p:sp>
        <p:nvSpPr>
          <p:cNvPr id="4" name="矩形 3"/>
          <p:cNvSpPr/>
          <p:nvPr/>
        </p:nvSpPr>
        <p:spPr>
          <a:xfrm>
            <a:off x="266065" y="942975"/>
            <a:ext cx="6007100" cy="982345"/>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5" name="图片 4"/>
          <p:cNvPicPr>
            <a:picLocks noChangeAspect="1"/>
          </p:cNvPicPr>
          <p:nvPr/>
        </p:nvPicPr>
        <p:blipFill>
          <a:blip r:embed="rId1"/>
          <a:stretch>
            <a:fillRect/>
          </a:stretch>
        </p:blipFill>
        <p:spPr>
          <a:xfrm>
            <a:off x="327025" y="1006475"/>
            <a:ext cx="5856605" cy="8274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580521" y="38247"/>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98755" y="2144395"/>
            <a:ext cx="8780145" cy="4530090"/>
          </a:xfrm>
          <a:prstGeom prst="rect">
            <a:avLst/>
          </a:prstGeom>
        </p:spPr>
        <p:txBody>
          <a:bodyPr wrap="square">
            <a:noAutofit/>
          </a:bodyPr>
          <a:lstStyle/>
          <a:p>
            <a:pPr>
              <a:lnSpc>
                <a:spcPct val="150000"/>
              </a:lnSpc>
            </a:pPr>
            <a:r>
              <a:rPr lang="zh-CN" altLang="en-US" sz="1600" b="1">
                <a:solidFill>
                  <a:schemeClr val="tx1"/>
                </a:solidFill>
              </a:rPr>
              <a:t>调参策略主效应分析</a:t>
            </a:r>
            <a:endParaRPr lang="zh-CN" altLang="en-US" sz="1600" b="1">
              <a:solidFill>
                <a:schemeClr val="tx1"/>
              </a:solidFill>
            </a:endParaRPr>
          </a:p>
          <a:p>
            <a:pPr>
              <a:lnSpc>
                <a:spcPct val="150000"/>
              </a:lnSpc>
            </a:pPr>
            <a:r>
              <a:rPr lang="zh-CN" altLang="en-US" sz="1400">
                <a:solidFill>
                  <a:schemeClr val="tx1"/>
                </a:solidFill>
              </a:rPr>
              <a:t>结果显示，</a:t>
            </a:r>
            <a:r>
              <a:rPr lang="en-US" altLang="zh-CN" sz="1400">
                <a:solidFill>
                  <a:schemeClr val="tx1"/>
                </a:solidFill>
              </a:rPr>
              <a:t>Baseline </a:t>
            </a:r>
            <a:r>
              <a:rPr lang="zh-CN" altLang="en-US" sz="1400">
                <a:solidFill>
                  <a:schemeClr val="tx1"/>
                </a:solidFill>
              </a:rPr>
              <a:t>的平均 </a:t>
            </a:r>
            <a:r>
              <a:rPr lang="en-US" altLang="zh-CN" sz="1400">
                <a:solidFill>
                  <a:schemeClr val="tx1"/>
                </a:solidFill>
              </a:rPr>
              <a:t>eval_loss </a:t>
            </a:r>
            <a:r>
              <a:rPr lang="zh-CN" altLang="en-US" sz="1400">
                <a:solidFill>
                  <a:schemeClr val="tx1"/>
                </a:solidFill>
              </a:rPr>
              <a:t>为 0.6516，</a:t>
            </a:r>
            <a:r>
              <a:rPr lang="en-US" altLang="zh-CN" sz="1400">
                <a:solidFill>
                  <a:schemeClr val="tx1"/>
                </a:solidFill>
              </a:rPr>
              <a:t>BOHB-best </a:t>
            </a:r>
            <a:r>
              <a:rPr lang="zh-CN" altLang="en-US" sz="1400">
                <a:solidFill>
                  <a:schemeClr val="tx1"/>
                </a:solidFill>
              </a:rPr>
              <a:t>为 0.7631，</a:t>
            </a:r>
            <a:r>
              <a:rPr lang="en-US" altLang="zh-CN" sz="1400">
                <a:solidFill>
                  <a:schemeClr val="tx1"/>
                </a:solidFill>
              </a:rPr>
              <a:t>BOHB+NEFTune </a:t>
            </a:r>
            <a:r>
              <a:rPr lang="zh-CN" altLang="en-US" sz="1400">
                <a:solidFill>
                  <a:schemeClr val="tx1"/>
                </a:solidFill>
              </a:rPr>
              <a:t>为 0.8791。从平均表现来看，</a:t>
            </a:r>
            <a:r>
              <a:rPr lang="en-US" altLang="zh-CN" sz="1400">
                <a:solidFill>
                  <a:schemeClr val="tx1"/>
                </a:solidFill>
              </a:rPr>
              <a:t>Baseline </a:t>
            </a:r>
            <a:r>
              <a:rPr lang="zh-CN" altLang="en-US" sz="1400">
                <a:solidFill>
                  <a:schemeClr val="tx1"/>
                </a:solidFill>
              </a:rPr>
              <a:t>反而取得较低的验证损失，说明 </a:t>
            </a:r>
            <a:r>
              <a:rPr lang="en-US" altLang="zh-CN" sz="1400">
                <a:solidFill>
                  <a:schemeClr val="tx1"/>
                </a:solidFill>
              </a:rPr>
              <a:t>BOHB </a:t>
            </a:r>
            <a:r>
              <a:rPr lang="zh-CN" altLang="en-US" sz="1400">
                <a:solidFill>
                  <a:schemeClr val="tx1"/>
                </a:solidFill>
              </a:rPr>
              <a:t>和 </a:t>
            </a:r>
            <a:r>
              <a:rPr lang="en-US" altLang="zh-CN" sz="1400">
                <a:solidFill>
                  <a:schemeClr val="tx1"/>
                </a:solidFill>
              </a:rPr>
              <a:t>NEFTune </a:t>
            </a:r>
            <a:r>
              <a:rPr lang="zh-CN" altLang="en-US" sz="1400">
                <a:solidFill>
                  <a:schemeClr val="tx1"/>
                </a:solidFill>
              </a:rPr>
              <a:t>并不在所有组合下都稳定优于基础配置。不过需要注意的是，在单组实验中，</a:t>
            </a:r>
            <a:r>
              <a:rPr lang="en-US" altLang="zh-CN" sz="1400">
                <a:solidFill>
                  <a:schemeClr val="tx1"/>
                </a:solidFill>
              </a:rPr>
              <a:t>BOHB+NEFTune </a:t>
            </a:r>
            <a:r>
              <a:rPr lang="zh-CN" altLang="en-US" sz="1400">
                <a:solidFill>
                  <a:schemeClr val="tx1"/>
                </a:solidFill>
              </a:rPr>
              <a:t>对应的 </a:t>
            </a:r>
            <a:r>
              <a:rPr lang="en-US" altLang="zh-CN" sz="1400">
                <a:solidFill>
                  <a:schemeClr val="tx1"/>
                </a:solidFill>
              </a:rPr>
              <a:t>T9 </a:t>
            </a:r>
            <a:r>
              <a:rPr lang="zh-CN" altLang="en-US" sz="1400">
                <a:solidFill>
                  <a:schemeClr val="tx1"/>
                </a:solidFill>
              </a:rPr>
              <a:t>取得了全局最低 </a:t>
            </a:r>
            <a:r>
              <a:rPr lang="en-US" altLang="zh-CN" sz="1400">
                <a:solidFill>
                  <a:schemeClr val="tx1"/>
                </a:solidFill>
              </a:rPr>
              <a:t>eval_loss，</a:t>
            </a:r>
            <a:r>
              <a:rPr lang="zh-CN" altLang="en-US" sz="1400">
                <a:solidFill>
                  <a:schemeClr val="tx1"/>
                </a:solidFill>
              </a:rPr>
              <a:t>说明该策略在合适的数据规模和训练资源下仍然可能带来提升。因此，调参策略的效果具有明显的条件依赖性，不能脱离数据规模和训练资源单独判断。</a:t>
            </a:r>
            <a:endParaRPr lang="zh-CN" altLang="en-US" sz="1400">
              <a:solidFill>
                <a:schemeClr val="tx1"/>
              </a:solidFill>
            </a:endParaRPr>
          </a:p>
        </p:txBody>
      </p:sp>
      <p:sp>
        <p:nvSpPr>
          <p:cNvPr id="4" name="矩形 3"/>
          <p:cNvSpPr/>
          <p:nvPr/>
        </p:nvSpPr>
        <p:spPr>
          <a:xfrm>
            <a:off x="266065" y="942975"/>
            <a:ext cx="6425565" cy="982345"/>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 name="图片 1"/>
          <p:cNvPicPr>
            <a:picLocks noChangeAspect="1"/>
          </p:cNvPicPr>
          <p:nvPr/>
        </p:nvPicPr>
        <p:blipFill>
          <a:blip r:embed="rId1"/>
          <a:stretch>
            <a:fillRect/>
          </a:stretch>
        </p:blipFill>
        <p:spPr>
          <a:xfrm>
            <a:off x="307975" y="1007110"/>
            <a:ext cx="6313805" cy="8547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586236" y="38247"/>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98755" y="2144395"/>
            <a:ext cx="8944610" cy="4530090"/>
          </a:xfrm>
          <a:prstGeom prst="rect">
            <a:avLst/>
          </a:prstGeom>
        </p:spPr>
        <p:txBody>
          <a:bodyPr wrap="square">
            <a:noAutofit/>
          </a:bodyPr>
          <a:lstStyle/>
          <a:p>
            <a:pPr>
              <a:lnSpc>
                <a:spcPct val="150000"/>
              </a:lnSpc>
            </a:pPr>
            <a:r>
              <a:rPr lang="zh-CN" altLang="en-US" sz="1600" b="1">
                <a:solidFill>
                  <a:schemeClr val="tx1"/>
                </a:solidFill>
              </a:rPr>
              <a:t>训练资源主效应分析</a:t>
            </a:r>
            <a:endParaRPr lang="zh-CN" altLang="en-US" sz="1600" b="1">
              <a:solidFill>
                <a:schemeClr val="tx1"/>
              </a:solidFill>
            </a:endParaRPr>
          </a:p>
          <a:p>
            <a:pPr>
              <a:lnSpc>
                <a:spcPct val="150000"/>
              </a:lnSpc>
            </a:pPr>
            <a:r>
              <a:rPr lang="zh-CN" altLang="en-US" sz="1400">
                <a:solidFill>
                  <a:schemeClr val="tx1"/>
                </a:solidFill>
              </a:rPr>
              <a:t>结果显示，</a:t>
            </a:r>
            <a:r>
              <a:rPr lang="en-US" altLang="zh-CN" sz="1400">
                <a:solidFill>
                  <a:schemeClr val="tx1"/>
                </a:solidFill>
              </a:rPr>
              <a:t>medium </a:t>
            </a:r>
            <a:r>
              <a:rPr lang="zh-CN" altLang="en-US" sz="1400">
                <a:solidFill>
                  <a:schemeClr val="tx1"/>
                </a:solidFill>
              </a:rPr>
              <a:t>训练资源取得最低平均 </a:t>
            </a:r>
            <a:r>
              <a:rPr lang="en-US" altLang="zh-CN" sz="1400">
                <a:solidFill>
                  <a:schemeClr val="tx1"/>
                </a:solidFill>
              </a:rPr>
              <a:t>eval_loss，</a:t>
            </a:r>
            <a:r>
              <a:rPr lang="zh-CN" altLang="en-US" sz="1400">
                <a:solidFill>
                  <a:schemeClr val="tx1"/>
                </a:solidFill>
              </a:rPr>
              <a:t>为 0.7040；</a:t>
            </a:r>
            <a:r>
              <a:rPr lang="en-US" altLang="zh-CN" sz="1400">
                <a:solidFill>
                  <a:schemeClr val="tx1"/>
                </a:solidFill>
              </a:rPr>
              <a:t>short </a:t>
            </a:r>
            <a:r>
              <a:rPr lang="zh-CN" altLang="en-US" sz="1400">
                <a:solidFill>
                  <a:schemeClr val="tx1"/>
                </a:solidFill>
              </a:rPr>
              <a:t>训练资源略高，为 0.7141；而 </a:t>
            </a:r>
            <a:r>
              <a:rPr lang="en-US" altLang="zh-CN" sz="1400">
                <a:solidFill>
                  <a:schemeClr val="tx1"/>
                </a:solidFill>
              </a:rPr>
              <a:t>full </a:t>
            </a:r>
            <a:r>
              <a:rPr lang="zh-CN" altLang="en-US" sz="1400">
                <a:solidFill>
                  <a:schemeClr val="tx1"/>
                </a:solidFill>
              </a:rPr>
              <a:t>训练资源的平均 </a:t>
            </a:r>
            <a:r>
              <a:rPr lang="en-US" altLang="zh-CN" sz="1400">
                <a:solidFill>
                  <a:schemeClr val="tx1"/>
                </a:solidFill>
              </a:rPr>
              <a:t>eval_loss </a:t>
            </a:r>
            <a:r>
              <a:rPr lang="zh-CN" altLang="en-US" sz="1400">
                <a:solidFill>
                  <a:schemeClr val="tx1"/>
                </a:solidFill>
              </a:rPr>
              <a:t>最高，为 0.8757。这说明在当前实验设置下，训练资源并非越多越好。适中的训练步数可能更有利于模型在训练成本和泛化能力之间取得平衡，而过长训练在部分配置下可能增加训练成本，却没有带来更好的验证集表现。因此，训练资源也是影响模型表现的重要因素，但其作用需要结合具体配置进行分析。</a:t>
            </a:r>
            <a:endParaRPr lang="zh-CN" altLang="en-US" sz="1400">
              <a:solidFill>
                <a:schemeClr val="tx1"/>
              </a:solidFill>
            </a:endParaRPr>
          </a:p>
        </p:txBody>
      </p:sp>
      <p:sp>
        <p:nvSpPr>
          <p:cNvPr id="4" name="矩形 3"/>
          <p:cNvSpPr/>
          <p:nvPr/>
        </p:nvSpPr>
        <p:spPr>
          <a:xfrm>
            <a:off x="266065" y="942975"/>
            <a:ext cx="6007100" cy="982345"/>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2" name="图片 1"/>
          <p:cNvPicPr>
            <a:picLocks noChangeAspect="1"/>
          </p:cNvPicPr>
          <p:nvPr/>
        </p:nvPicPr>
        <p:blipFill>
          <a:blip r:embed="rId1"/>
          <a:stretch>
            <a:fillRect/>
          </a:stretch>
        </p:blipFill>
        <p:spPr>
          <a:xfrm>
            <a:off x="335915" y="1007110"/>
            <a:ext cx="5867400" cy="8547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文本框 5"/>
          <p:cNvSpPr txBox="1">
            <a:spLocks noChangeArrowheads="1"/>
          </p:cNvSpPr>
          <p:nvPr/>
        </p:nvSpPr>
        <p:spPr bwMode="auto">
          <a:xfrm>
            <a:off x="1485906" y="38247"/>
            <a:ext cx="588264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2800" b="1">
                <a:solidFill>
                  <a:schemeClr val="accent1"/>
                </a:solidFill>
                <a:latin typeface="+mj-ea"/>
                <a:ea typeface="+mj-ea"/>
                <a:sym typeface="+mn-ea"/>
              </a:rPr>
              <a:t>Comparison and Ablation Study</a:t>
            </a:r>
            <a:endParaRPr lang="en-US" altLang="zh-CN" sz="2800" b="1">
              <a:solidFill>
                <a:schemeClr val="tx1">
                  <a:lumMod val="85000"/>
                  <a:lumOff val="15000"/>
                </a:schemeClr>
              </a:solidFill>
              <a:latin typeface="+mj-ea"/>
              <a:ea typeface="+mj-ea"/>
            </a:endParaRPr>
          </a:p>
        </p:txBody>
      </p:sp>
      <p:sp>
        <p:nvSpPr>
          <p:cNvPr id="74" name="文本框 6"/>
          <p:cNvSpPr txBox="1">
            <a:spLocks noChangeArrowheads="1"/>
          </p:cNvSpPr>
          <p:nvPr/>
        </p:nvSpPr>
        <p:spPr bwMode="auto">
          <a:xfrm>
            <a:off x="3506174" y="560217"/>
            <a:ext cx="210629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l" fontAlgn="base">
              <a:spcBef>
                <a:spcPct val="0"/>
              </a:spcBef>
              <a:spcAft>
                <a:spcPct val="0"/>
              </a:spcAft>
              <a:defRPr/>
            </a:pPr>
            <a:r>
              <a:rPr lang="en-US" altLang="zh-CN" sz="1400" b="1">
                <a:solidFill>
                  <a:schemeClr val="tx1"/>
                </a:solidFill>
                <a:ea typeface="方正兰亭黑_GBK"/>
              </a:rPr>
              <a:t>Taguchi Orthogonal Design</a:t>
            </a:r>
            <a:endParaRPr lang="en-US" altLang="zh-CN" sz="1400" b="1">
              <a:solidFill>
                <a:schemeClr val="tx1"/>
              </a:solidFill>
              <a:ea typeface="方正兰亭黑_GBK"/>
            </a:endParaRPr>
          </a:p>
        </p:txBody>
      </p:sp>
      <p:cxnSp>
        <p:nvCxnSpPr>
          <p:cNvPr id="75" name="直接连接符 74"/>
          <p:cNvCxnSpPr/>
          <p:nvPr/>
        </p:nvCxnSpPr>
        <p:spPr>
          <a:xfrm>
            <a:off x="4433191" y="838402"/>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198755" y="2289810"/>
            <a:ext cx="8813165" cy="4530090"/>
          </a:xfrm>
          <a:prstGeom prst="rect">
            <a:avLst/>
          </a:prstGeom>
        </p:spPr>
        <p:txBody>
          <a:bodyPr wrap="square">
            <a:noAutofit/>
          </a:bodyPr>
          <a:lstStyle/>
          <a:p>
            <a:pPr>
              <a:lnSpc>
                <a:spcPct val="150000"/>
              </a:lnSpc>
            </a:pPr>
            <a:r>
              <a:rPr lang="zh-CN" altLang="en-US" sz="1600" b="1">
                <a:solidFill>
                  <a:schemeClr val="tx1"/>
                </a:solidFill>
              </a:rPr>
              <a:t>因素重要性</a:t>
            </a:r>
            <a:r>
              <a:rPr lang="zh-CN" altLang="en-US" sz="1600" b="1">
                <a:solidFill>
                  <a:schemeClr val="tx1"/>
                </a:solidFill>
              </a:rPr>
              <a:t>总结</a:t>
            </a:r>
            <a:endParaRPr lang="zh-CN" altLang="en-US" sz="1600" b="1">
              <a:solidFill>
                <a:schemeClr val="tx1"/>
              </a:solidFill>
            </a:endParaRPr>
          </a:p>
          <a:p>
            <a:pPr>
              <a:lnSpc>
                <a:spcPct val="150000"/>
              </a:lnSpc>
            </a:pPr>
            <a:r>
              <a:rPr lang="zh-CN" altLang="en-US" sz="1400">
                <a:solidFill>
                  <a:schemeClr val="tx1"/>
                </a:solidFill>
              </a:rPr>
              <a:t>综合 </a:t>
            </a:r>
            <a:r>
              <a:rPr lang="en-US" altLang="zh-CN" sz="1400">
                <a:solidFill>
                  <a:schemeClr val="tx1"/>
                </a:solidFill>
              </a:rPr>
              <a:t>Taguchi L9 </a:t>
            </a:r>
            <a:r>
              <a:rPr lang="zh-CN" altLang="en-US" sz="1400">
                <a:solidFill>
                  <a:schemeClr val="tx1"/>
                </a:solidFill>
              </a:rPr>
              <a:t>正交实验结果可以看出，三个因素对模型表现的影响并不相同。其中，数据规模的影响最明显，100% 数据规模整体表现最好，而 30% 数据规模明显不足；训练资源的影响次之，</a:t>
            </a:r>
            <a:r>
              <a:rPr lang="en-US" altLang="zh-CN" sz="1400">
                <a:solidFill>
                  <a:schemeClr val="tx1"/>
                </a:solidFill>
              </a:rPr>
              <a:t>medium </a:t>
            </a:r>
            <a:r>
              <a:rPr lang="zh-CN" altLang="en-US" sz="1400">
                <a:solidFill>
                  <a:schemeClr val="tx1"/>
                </a:solidFill>
              </a:rPr>
              <a:t>训练资源在平均验证损失上表现最佳，说明适中的训练预算更有利于当前任务；调参策略的作用则具有较强条件依赖性，虽然 </a:t>
            </a:r>
            <a:r>
              <a:rPr lang="en-US" altLang="zh-CN" sz="1400">
                <a:solidFill>
                  <a:schemeClr val="tx1"/>
                </a:solidFill>
              </a:rPr>
              <a:t>BOHB+NEFTune </a:t>
            </a:r>
            <a:r>
              <a:rPr lang="zh-CN" altLang="en-US" sz="1400">
                <a:solidFill>
                  <a:schemeClr val="tx1"/>
                </a:solidFill>
              </a:rPr>
              <a:t>的平均表现并非最优，但其在 </a:t>
            </a:r>
            <a:r>
              <a:rPr lang="en-US" altLang="zh-CN" sz="1400">
                <a:solidFill>
                  <a:schemeClr val="tx1"/>
                </a:solidFill>
              </a:rPr>
              <a:t>T9 </a:t>
            </a:r>
            <a:r>
              <a:rPr lang="zh-CN" altLang="en-US" sz="1400">
                <a:solidFill>
                  <a:schemeClr val="tx1"/>
                </a:solidFill>
              </a:rPr>
              <a:t>组合中取得了最低 </a:t>
            </a:r>
            <a:r>
              <a:rPr lang="en-US" altLang="zh-CN" sz="1400">
                <a:solidFill>
                  <a:schemeClr val="tx1"/>
                </a:solidFill>
              </a:rPr>
              <a:t>eval_loss，</a:t>
            </a:r>
            <a:r>
              <a:rPr lang="zh-CN" altLang="en-US" sz="1400">
                <a:solidFill>
                  <a:schemeClr val="tx1"/>
                </a:solidFill>
              </a:rPr>
              <a:t>说明高级调参策略需要在合适的数据规模和训练资源下才能充分发挥作用。因此，本实验中影响模型表现的重要性大致可以概括为：数据规模最重要，其次是训练资源，调参策略则需要结合具体实验条件进行判断。</a:t>
            </a:r>
            <a:endParaRPr lang="zh-CN" altLang="en-US" sz="1400">
              <a:solidFill>
                <a:schemeClr val="tx1"/>
              </a:solidFill>
            </a:endParaRPr>
          </a:p>
        </p:txBody>
      </p:sp>
      <p:sp>
        <p:nvSpPr>
          <p:cNvPr id="4" name="矩形 3"/>
          <p:cNvSpPr/>
          <p:nvPr/>
        </p:nvSpPr>
        <p:spPr>
          <a:xfrm>
            <a:off x="266065" y="942975"/>
            <a:ext cx="6461125" cy="1151890"/>
          </a:xfrm>
          <a:prstGeom prst="rect">
            <a:avLst/>
          </a:prstGeom>
          <a:solidFill>
            <a:srgbClr val="212834"/>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pic>
        <p:nvPicPr>
          <p:cNvPr id="5" name="图片 4"/>
          <p:cNvPicPr>
            <a:picLocks noChangeAspect="1"/>
          </p:cNvPicPr>
          <p:nvPr/>
        </p:nvPicPr>
        <p:blipFill>
          <a:blip r:embed="rId1"/>
          <a:stretch>
            <a:fillRect/>
          </a:stretch>
        </p:blipFill>
        <p:spPr>
          <a:xfrm>
            <a:off x="314325" y="1004570"/>
            <a:ext cx="6351905" cy="1028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矩形 2"/>
          <p:cNvSpPr/>
          <p:nvPr/>
        </p:nvSpPr>
        <p:spPr>
          <a:xfrm>
            <a:off x="2514006" y="0"/>
            <a:ext cx="3755938" cy="5143500"/>
          </a:xfrm>
          <a:prstGeom prst="rect">
            <a:avLst/>
          </a:prstGeom>
          <a:solidFill>
            <a:srgbClr val="2128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68503" y="691119"/>
            <a:ext cx="8587946" cy="3767051"/>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txBox="1">
            <a:spLocks noChangeArrowheads="1"/>
          </p:cNvSpPr>
          <p:nvPr/>
        </p:nvSpPr>
        <p:spPr bwMode="auto">
          <a:xfrm>
            <a:off x="1706107" y="2128628"/>
            <a:ext cx="5393600" cy="132207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514350" fontAlgn="base">
              <a:spcBef>
                <a:spcPct val="0"/>
              </a:spcBef>
              <a:spcAft>
                <a:spcPct val="0"/>
              </a:spcAft>
              <a:tabLst>
                <a:tab pos="2149475" algn="l"/>
              </a:tabLst>
            </a:pPr>
            <a:r>
              <a:rPr lang="en-US" altLang="zh-CN" sz="4000" b="1">
                <a:solidFill>
                  <a:srgbClr val="212834"/>
                </a:solidFill>
                <a:latin typeface="+mj-ea"/>
                <a:sym typeface="Calibri" panose="020F0502020204030204" pitchFamily="34" charset="0"/>
              </a:rPr>
              <a:t>Thanks</a:t>
            </a:r>
            <a:r>
              <a:rPr lang="zh-CN" altLang="en-US" sz="4000" b="1">
                <a:solidFill>
                  <a:srgbClr val="212834"/>
                </a:solidFill>
                <a:latin typeface="+mj-ea"/>
                <a:sym typeface="Calibri" panose="020F0502020204030204" pitchFamily="34" charset="0"/>
              </a:rPr>
              <a:t> </a:t>
            </a:r>
            <a:r>
              <a:rPr lang="en-US" altLang="zh-CN" sz="4000" b="1">
                <a:solidFill>
                  <a:srgbClr val="212834"/>
                </a:solidFill>
                <a:latin typeface="+mj-ea"/>
                <a:sym typeface="Calibri" panose="020F0502020204030204" pitchFamily="34" charset="0"/>
              </a:rPr>
              <a:t>for listening!</a:t>
            </a:r>
            <a:endParaRPr lang="zh-CN" altLang="en-US" sz="4000" b="1">
              <a:solidFill>
                <a:srgbClr val="212834"/>
              </a:solidFill>
              <a:latin typeface="+mj-ea"/>
              <a:sym typeface="Calibri" panose="020F0502020204030204" pitchFamily="34" charset="0"/>
            </a:endParaRPr>
          </a:p>
        </p:txBody>
      </p:sp>
      <p:cxnSp>
        <p:nvCxnSpPr>
          <p:cNvPr id="65" name="直接连接符 64"/>
          <p:cNvCxnSpPr/>
          <p:nvPr/>
        </p:nvCxnSpPr>
        <p:spPr>
          <a:xfrm>
            <a:off x="3806472" y="2945315"/>
            <a:ext cx="1170953"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3831320" y="820454"/>
            <a:ext cx="1121307" cy="1120067"/>
            <a:chOff x="3851276" y="1292225"/>
            <a:chExt cx="1435100" cy="1433513"/>
          </a:xfrm>
          <a:solidFill>
            <a:schemeClr val="accent1"/>
          </a:solidFill>
        </p:grpSpPr>
        <p:sp>
          <p:nvSpPr>
            <p:cNvPr id="22" name="Freeform 15"/>
            <p:cNvSpPr>
              <a:spLocks noEditPoints="1"/>
            </p:cNvSpPr>
            <p:nvPr/>
          </p:nvSpPr>
          <p:spPr bwMode="auto">
            <a:xfrm>
              <a:off x="3956051" y="1852613"/>
              <a:ext cx="1228725" cy="158750"/>
            </a:xfrm>
            <a:custGeom>
              <a:avLst/>
              <a:gdLst>
                <a:gd name="T0" fmla="*/ 50 w 774"/>
                <a:gd name="T1" fmla="*/ 0 h 100"/>
                <a:gd name="T2" fmla="*/ 59 w 774"/>
                <a:gd name="T3" fmla="*/ 26 h 100"/>
                <a:gd name="T4" fmla="*/ 83 w 774"/>
                <a:gd name="T5" fmla="*/ 14 h 100"/>
                <a:gd name="T6" fmla="*/ 74 w 774"/>
                <a:gd name="T7" fmla="*/ 40 h 100"/>
                <a:gd name="T8" fmla="*/ 97 w 774"/>
                <a:gd name="T9" fmla="*/ 50 h 100"/>
                <a:gd name="T10" fmla="*/ 74 w 774"/>
                <a:gd name="T11" fmla="*/ 59 h 100"/>
                <a:gd name="T12" fmla="*/ 83 w 774"/>
                <a:gd name="T13" fmla="*/ 85 h 100"/>
                <a:gd name="T14" fmla="*/ 59 w 774"/>
                <a:gd name="T15" fmla="*/ 74 h 100"/>
                <a:gd name="T16" fmla="*/ 50 w 774"/>
                <a:gd name="T17" fmla="*/ 100 h 100"/>
                <a:gd name="T18" fmla="*/ 40 w 774"/>
                <a:gd name="T19" fmla="*/ 74 h 100"/>
                <a:gd name="T20" fmla="*/ 14 w 774"/>
                <a:gd name="T21" fmla="*/ 85 h 100"/>
                <a:gd name="T22" fmla="*/ 26 w 774"/>
                <a:gd name="T23" fmla="*/ 59 h 100"/>
                <a:gd name="T24" fmla="*/ 0 w 774"/>
                <a:gd name="T25" fmla="*/ 50 h 100"/>
                <a:gd name="T26" fmla="*/ 26 w 774"/>
                <a:gd name="T27" fmla="*/ 40 h 100"/>
                <a:gd name="T28" fmla="*/ 14 w 774"/>
                <a:gd name="T29" fmla="*/ 14 h 100"/>
                <a:gd name="T30" fmla="*/ 40 w 774"/>
                <a:gd name="T31" fmla="*/ 26 h 100"/>
                <a:gd name="T32" fmla="*/ 50 w 774"/>
                <a:gd name="T33" fmla="*/ 0 h 100"/>
                <a:gd name="T34" fmla="*/ 50 w 774"/>
                <a:gd name="T35" fmla="*/ 0 h 100"/>
                <a:gd name="T36" fmla="*/ 724 w 774"/>
                <a:gd name="T37" fmla="*/ 0 h 100"/>
                <a:gd name="T38" fmla="*/ 733 w 774"/>
                <a:gd name="T39" fmla="*/ 26 h 100"/>
                <a:gd name="T40" fmla="*/ 757 w 774"/>
                <a:gd name="T41" fmla="*/ 14 h 100"/>
                <a:gd name="T42" fmla="*/ 748 w 774"/>
                <a:gd name="T43" fmla="*/ 40 h 100"/>
                <a:gd name="T44" fmla="*/ 774 w 774"/>
                <a:gd name="T45" fmla="*/ 50 h 100"/>
                <a:gd name="T46" fmla="*/ 748 w 774"/>
                <a:gd name="T47" fmla="*/ 59 h 100"/>
                <a:gd name="T48" fmla="*/ 757 w 774"/>
                <a:gd name="T49" fmla="*/ 85 h 100"/>
                <a:gd name="T50" fmla="*/ 733 w 774"/>
                <a:gd name="T51" fmla="*/ 74 h 100"/>
                <a:gd name="T52" fmla="*/ 724 w 774"/>
                <a:gd name="T53" fmla="*/ 100 h 100"/>
                <a:gd name="T54" fmla="*/ 714 w 774"/>
                <a:gd name="T55" fmla="*/ 74 h 100"/>
                <a:gd name="T56" fmla="*/ 688 w 774"/>
                <a:gd name="T57" fmla="*/ 85 h 100"/>
                <a:gd name="T58" fmla="*/ 700 w 774"/>
                <a:gd name="T59" fmla="*/ 59 h 100"/>
                <a:gd name="T60" fmla="*/ 674 w 774"/>
                <a:gd name="T61" fmla="*/ 50 h 100"/>
                <a:gd name="T62" fmla="*/ 700 w 774"/>
                <a:gd name="T63" fmla="*/ 40 h 100"/>
                <a:gd name="T64" fmla="*/ 688 w 774"/>
                <a:gd name="T65" fmla="*/ 14 h 100"/>
                <a:gd name="T66" fmla="*/ 714 w 774"/>
                <a:gd name="T67" fmla="*/ 26 h 100"/>
                <a:gd name="T68" fmla="*/ 724 w 774"/>
                <a:gd name="T69" fmla="*/ 0 h 100"/>
                <a:gd name="T70" fmla="*/ 724 w 774"/>
                <a:gd name="T7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4" h="100">
                  <a:moveTo>
                    <a:pt x="50" y="0"/>
                  </a:moveTo>
                  <a:lnTo>
                    <a:pt x="59" y="26"/>
                  </a:lnTo>
                  <a:lnTo>
                    <a:pt x="83" y="14"/>
                  </a:lnTo>
                  <a:lnTo>
                    <a:pt x="74" y="40"/>
                  </a:lnTo>
                  <a:lnTo>
                    <a:pt x="97" y="50"/>
                  </a:lnTo>
                  <a:lnTo>
                    <a:pt x="74" y="59"/>
                  </a:lnTo>
                  <a:lnTo>
                    <a:pt x="83" y="85"/>
                  </a:lnTo>
                  <a:lnTo>
                    <a:pt x="59" y="74"/>
                  </a:lnTo>
                  <a:lnTo>
                    <a:pt x="50" y="100"/>
                  </a:lnTo>
                  <a:lnTo>
                    <a:pt x="40" y="74"/>
                  </a:lnTo>
                  <a:lnTo>
                    <a:pt x="14" y="85"/>
                  </a:lnTo>
                  <a:lnTo>
                    <a:pt x="26" y="59"/>
                  </a:lnTo>
                  <a:lnTo>
                    <a:pt x="0" y="50"/>
                  </a:lnTo>
                  <a:lnTo>
                    <a:pt x="26" y="40"/>
                  </a:lnTo>
                  <a:lnTo>
                    <a:pt x="14" y="14"/>
                  </a:lnTo>
                  <a:lnTo>
                    <a:pt x="40" y="26"/>
                  </a:lnTo>
                  <a:lnTo>
                    <a:pt x="50" y="0"/>
                  </a:lnTo>
                  <a:lnTo>
                    <a:pt x="50" y="0"/>
                  </a:lnTo>
                  <a:close/>
                  <a:moveTo>
                    <a:pt x="724" y="0"/>
                  </a:moveTo>
                  <a:lnTo>
                    <a:pt x="733" y="26"/>
                  </a:lnTo>
                  <a:lnTo>
                    <a:pt x="757" y="14"/>
                  </a:lnTo>
                  <a:lnTo>
                    <a:pt x="748" y="40"/>
                  </a:lnTo>
                  <a:lnTo>
                    <a:pt x="774" y="50"/>
                  </a:lnTo>
                  <a:lnTo>
                    <a:pt x="748" y="59"/>
                  </a:lnTo>
                  <a:lnTo>
                    <a:pt x="757" y="85"/>
                  </a:lnTo>
                  <a:lnTo>
                    <a:pt x="733" y="74"/>
                  </a:lnTo>
                  <a:lnTo>
                    <a:pt x="724" y="100"/>
                  </a:lnTo>
                  <a:lnTo>
                    <a:pt x="714" y="74"/>
                  </a:lnTo>
                  <a:lnTo>
                    <a:pt x="688" y="85"/>
                  </a:lnTo>
                  <a:lnTo>
                    <a:pt x="700" y="59"/>
                  </a:lnTo>
                  <a:lnTo>
                    <a:pt x="674" y="50"/>
                  </a:lnTo>
                  <a:lnTo>
                    <a:pt x="700" y="40"/>
                  </a:lnTo>
                  <a:lnTo>
                    <a:pt x="688" y="14"/>
                  </a:lnTo>
                  <a:lnTo>
                    <a:pt x="714" y="26"/>
                  </a:lnTo>
                  <a:lnTo>
                    <a:pt x="724" y="0"/>
                  </a:lnTo>
                  <a:lnTo>
                    <a:pt x="72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3" name="Freeform 16"/>
            <p:cNvSpPr>
              <a:spLocks noEditPoints="1"/>
            </p:cNvSpPr>
            <p:nvPr/>
          </p:nvSpPr>
          <p:spPr bwMode="auto">
            <a:xfrm>
              <a:off x="4035426" y="1404938"/>
              <a:ext cx="1058863" cy="390525"/>
            </a:xfrm>
            <a:custGeom>
              <a:avLst/>
              <a:gdLst>
                <a:gd name="T0" fmla="*/ 250 w 281"/>
                <a:gd name="T1" fmla="*/ 60 h 104"/>
                <a:gd name="T2" fmla="*/ 241 w 281"/>
                <a:gd name="T3" fmla="*/ 65 h 104"/>
                <a:gd name="T4" fmla="*/ 277 w 281"/>
                <a:gd name="T5" fmla="*/ 69 h 104"/>
                <a:gd name="T6" fmla="*/ 171 w 281"/>
                <a:gd name="T7" fmla="*/ 16 h 104"/>
                <a:gd name="T8" fmla="*/ 186 w 281"/>
                <a:gd name="T9" fmla="*/ 6 h 104"/>
                <a:gd name="T10" fmla="*/ 172 w 281"/>
                <a:gd name="T11" fmla="*/ 5 h 104"/>
                <a:gd name="T12" fmla="*/ 168 w 281"/>
                <a:gd name="T13" fmla="*/ 28 h 104"/>
                <a:gd name="T14" fmla="*/ 178 w 281"/>
                <a:gd name="T15" fmla="*/ 11 h 104"/>
                <a:gd name="T16" fmla="*/ 182 w 281"/>
                <a:gd name="T17" fmla="*/ 7 h 104"/>
                <a:gd name="T18" fmla="*/ 193 w 281"/>
                <a:gd name="T19" fmla="*/ 43 h 104"/>
                <a:gd name="T20" fmla="*/ 197 w 281"/>
                <a:gd name="T21" fmla="*/ 44 h 104"/>
                <a:gd name="T22" fmla="*/ 192 w 281"/>
                <a:gd name="T23" fmla="*/ 4 h 104"/>
                <a:gd name="T24" fmla="*/ 191 w 281"/>
                <a:gd name="T25" fmla="*/ 19 h 104"/>
                <a:gd name="T26" fmla="*/ 199 w 281"/>
                <a:gd name="T27" fmla="*/ 14 h 104"/>
                <a:gd name="T28" fmla="*/ 202 w 281"/>
                <a:gd name="T29" fmla="*/ 12 h 104"/>
                <a:gd name="T30" fmla="*/ 121 w 281"/>
                <a:gd name="T31" fmla="*/ 38 h 104"/>
                <a:gd name="T32" fmla="*/ 104 w 281"/>
                <a:gd name="T33" fmla="*/ 17 h 104"/>
                <a:gd name="T34" fmla="*/ 86 w 281"/>
                <a:gd name="T35" fmla="*/ 9 h 104"/>
                <a:gd name="T36" fmla="*/ 76 w 281"/>
                <a:gd name="T37" fmla="*/ 30 h 104"/>
                <a:gd name="T38" fmla="*/ 79 w 281"/>
                <a:gd name="T39" fmla="*/ 52 h 104"/>
                <a:gd name="T40" fmla="*/ 12 w 281"/>
                <a:gd name="T41" fmla="*/ 67 h 104"/>
                <a:gd name="T42" fmla="*/ 9 w 281"/>
                <a:gd name="T43" fmla="*/ 62 h 104"/>
                <a:gd name="T44" fmla="*/ 5 w 281"/>
                <a:gd name="T45" fmla="*/ 70 h 104"/>
                <a:gd name="T46" fmla="*/ 17 w 281"/>
                <a:gd name="T47" fmla="*/ 72 h 104"/>
                <a:gd name="T48" fmla="*/ 16 w 281"/>
                <a:gd name="T49" fmla="*/ 68 h 104"/>
                <a:gd name="T50" fmla="*/ 12 w 281"/>
                <a:gd name="T51" fmla="*/ 73 h 104"/>
                <a:gd name="T52" fmla="*/ 17 w 281"/>
                <a:gd name="T53" fmla="*/ 73 h 104"/>
                <a:gd name="T54" fmla="*/ 29 w 281"/>
                <a:gd name="T55" fmla="*/ 62 h 104"/>
                <a:gd name="T56" fmla="*/ 25 w 281"/>
                <a:gd name="T57" fmla="*/ 63 h 104"/>
                <a:gd name="T58" fmla="*/ 12 w 281"/>
                <a:gd name="T59" fmla="*/ 59 h 104"/>
                <a:gd name="T60" fmla="*/ 14 w 281"/>
                <a:gd name="T61" fmla="*/ 65 h 104"/>
                <a:gd name="T62" fmla="*/ 19 w 281"/>
                <a:gd name="T63" fmla="*/ 67 h 104"/>
                <a:gd name="T64" fmla="*/ 14 w 281"/>
                <a:gd name="T65" fmla="*/ 76 h 104"/>
                <a:gd name="T66" fmla="*/ 9 w 281"/>
                <a:gd name="T67" fmla="*/ 73 h 104"/>
                <a:gd name="T68" fmla="*/ 4 w 281"/>
                <a:gd name="T69" fmla="*/ 71 h 104"/>
                <a:gd name="T70" fmla="*/ 2 w 281"/>
                <a:gd name="T71" fmla="*/ 79 h 104"/>
                <a:gd name="T72" fmla="*/ 11 w 281"/>
                <a:gd name="T73" fmla="*/ 88 h 104"/>
                <a:gd name="T74" fmla="*/ 17 w 281"/>
                <a:gd name="T75" fmla="*/ 91 h 104"/>
                <a:gd name="T76" fmla="*/ 37 w 281"/>
                <a:gd name="T77" fmla="*/ 67 h 104"/>
                <a:gd name="T78" fmla="*/ 24 w 281"/>
                <a:gd name="T79" fmla="*/ 72 h 104"/>
                <a:gd name="T80" fmla="*/ 27 w 281"/>
                <a:gd name="T81" fmla="*/ 74 h 104"/>
                <a:gd name="T82" fmla="*/ 26 w 281"/>
                <a:gd name="T83" fmla="*/ 97 h 104"/>
                <a:gd name="T84" fmla="*/ 38 w 281"/>
                <a:gd name="T85" fmla="*/ 92 h 104"/>
                <a:gd name="T86" fmla="*/ 252 w 281"/>
                <a:gd name="T87" fmla="*/ 73 h 104"/>
                <a:gd name="T88" fmla="*/ 270 w 281"/>
                <a:gd name="T89" fmla="*/ 77 h 104"/>
                <a:gd name="T90" fmla="*/ 266 w 281"/>
                <a:gd name="T91" fmla="*/ 67 h 104"/>
                <a:gd name="T92" fmla="*/ 275 w 281"/>
                <a:gd name="T93" fmla="*/ 70 h 104"/>
                <a:gd name="T94" fmla="*/ 263 w 281"/>
                <a:gd name="T95" fmla="*/ 65 h 104"/>
                <a:gd name="T96" fmla="*/ 255 w 281"/>
                <a:gd name="T97" fmla="*/ 68 h 104"/>
                <a:gd name="T98" fmla="*/ 253 w 281"/>
                <a:gd name="T99" fmla="*/ 72 h 104"/>
                <a:gd name="T100" fmla="*/ 256 w 281"/>
                <a:gd name="T101" fmla="*/ 70 h 104"/>
                <a:gd name="T102" fmla="*/ 259 w 281"/>
                <a:gd name="T103" fmla="*/ 68 h 104"/>
                <a:gd name="T104" fmla="*/ 260 w 281"/>
                <a:gd name="T105" fmla="*/ 80 h 104"/>
                <a:gd name="T106" fmla="*/ 245 w 281"/>
                <a:gd name="T107" fmla="*/ 87 h 104"/>
                <a:gd name="T108" fmla="*/ 248 w 281"/>
                <a:gd name="T109" fmla="*/ 87 h 104"/>
                <a:gd name="T110" fmla="*/ 251 w 281"/>
                <a:gd name="T111" fmla="*/ 77 h 104"/>
                <a:gd name="T112" fmla="*/ 234 w 281"/>
                <a:gd name="T113" fmla="*/ 72 h 104"/>
                <a:gd name="T114" fmla="*/ 253 w 281"/>
                <a:gd name="T115" fmla="*/ 8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1" h="104">
                  <a:moveTo>
                    <a:pt x="265" y="55"/>
                  </a:moveTo>
                  <a:cubicBezTo>
                    <a:pt x="265" y="54"/>
                    <a:pt x="265" y="53"/>
                    <a:pt x="265" y="52"/>
                  </a:cubicBezTo>
                  <a:cubicBezTo>
                    <a:pt x="265" y="51"/>
                    <a:pt x="264" y="51"/>
                    <a:pt x="264" y="51"/>
                  </a:cubicBezTo>
                  <a:cubicBezTo>
                    <a:pt x="264" y="50"/>
                    <a:pt x="263" y="51"/>
                    <a:pt x="263" y="51"/>
                  </a:cubicBezTo>
                  <a:cubicBezTo>
                    <a:pt x="263" y="51"/>
                    <a:pt x="263" y="52"/>
                    <a:pt x="262" y="52"/>
                  </a:cubicBezTo>
                  <a:cubicBezTo>
                    <a:pt x="262" y="53"/>
                    <a:pt x="262" y="53"/>
                    <a:pt x="261" y="54"/>
                  </a:cubicBezTo>
                  <a:cubicBezTo>
                    <a:pt x="260" y="54"/>
                    <a:pt x="259" y="55"/>
                    <a:pt x="258" y="56"/>
                  </a:cubicBezTo>
                  <a:cubicBezTo>
                    <a:pt x="255" y="57"/>
                    <a:pt x="253" y="59"/>
                    <a:pt x="250" y="60"/>
                  </a:cubicBezTo>
                  <a:cubicBezTo>
                    <a:pt x="248" y="61"/>
                    <a:pt x="245" y="62"/>
                    <a:pt x="243" y="62"/>
                  </a:cubicBezTo>
                  <a:cubicBezTo>
                    <a:pt x="240" y="63"/>
                    <a:pt x="237" y="64"/>
                    <a:pt x="234" y="64"/>
                  </a:cubicBezTo>
                  <a:cubicBezTo>
                    <a:pt x="233" y="64"/>
                    <a:pt x="231" y="64"/>
                    <a:pt x="229" y="64"/>
                  </a:cubicBezTo>
                  <a:cubicBezTo>
                    <a:pt x="229" y="64"/>
                    <a:pt x="229" y="64"/>
                    <a:pt x="229" y="64"/>
                  </a:cubicBezTo>
                  <a:cubicBezTo>
                    <a:pt x="228" y="65"/>
                    <a:pt x="228" y="65"/>
                    <a:pt x="228" y="65"/>
                  </a:cubicBezTo>
                  <a:cubicBezTo>
                    <a:pt x="229" y="65"/>
                    <a:pt x="229" y="65"/>
                    <a:pt x="230" y="66"/>
                  </a:cubicBezTo>
                  <a:cubicBezTo>
                    <a:pt x="231" y="66"/>
                    <a:pt x="232" y="66"/>
                    <a:pt x="232" y="66"/>
                  </a:cubicBezTo>
                  <a:cubicBezTo>
                    <a:pt x="235" y="66"/>
                    <a:pt x="238" y="66"/>
                    <a:pt x="241" y="65"/>
                  </a:cubicBezTo>
                  <a:cubicBezTo>
                    <a:pt x="244" y="65"/>
                    <a:pt x="247" y="64"/>
                    <a:pt x="249" y="63"/>
                  </a:cubicBezTo>
                  <a:cubicBezTo>
                    <a:pt x="253" y="62"/>
                    <a:pt x="256" y="60"/>
                    <a:pt x="258" y="59"/>
                  </a:cubicBezTo>
                  <a:cubicBezTo>
                    <a:pt x="260" y="58"/>
                    <a:pt x="261" y="57"/>
                    <a:pt x="262" y="57"/>
                  </a:cubicBezTo>
                  <a:cubicBezTo>
                    <a:pt x="262" y="57"/>
                    <a:pt x="263" y="56"/>
                    <a:pt x="264" y="56"/>
                  </a:cubicBezTo>
                  <a:cubicBezTo>
                    <a:pt x="264" y="56"/>
                    <a:pt x="264" y="56"/>
                    <a:pt x="264" y="56"/>
                  </a:cubicBezTo>
                  <a:cubicBezTo>
                    <a:pt x="264" y="56"/>
                    <a:pt x="264" y="56"/>
                    <a:pt x="264" y="57"/>
                  </a:cubicBezTo>
                  <a:cubicBezTo>
                    <a:pt x="265" y="58"/>
                    <a:pt x="265" y="58"/>
                    <a:pt x="266" y="59"/>
                  </a:cubicBezTo>
                  <a:cubicBezTo>
                    <a:pt x="270" y="62"/>
                    <a:pt x="273" y="66"/>
                    <a:pt x="277" y="69"/>
                  </a:cubicBezTo>
                  <a:cubicBezTo>
                    <a:pt x="279" y="70"/>
                    <a:pt x="280" y="71"/>
                    <a:pt x="280" y="71"/>
                  </a:cubicBezTo>
                  <a:cubicBezTo>
                    <a:pt x="280" y="71"/>
                    <a:pt x="281" y="71"/>
                    <a:pt x="281" y="71"/>
                  </a:cubicBezTo>
                  <a:cubicBezTo>
                    <a:pt x="281" y="71"/>
                    <a:pt x="281" y="70"/>
                    <a:pt x="281" y="69"/>
                  </a:cubicBezTo>
                  <a:cubicBezTo>
                    <a:pt x="280" y="68"/>
                    <a:pt x="280" y="67"/>
                    <a:pt x="279" y="67"/>
                  </a:cubicBezTo>
                  <a:cubicBezTo>
                    <a:pt x="277" y="65"/>
                    <a:pt x="274" y="64"/>
                    <a:pt x="272" y="62"/>
                  </a:cubicBezTo>
                  <a:cubicBezTo>
                    <a:pt x="270" y="60"/>
                    <a:pt x="267" y="57"/>
                    <a:pt x="265" y="55"/>
                  </a:cubicBezTo>
                  <a:cubicBezTo>
                    <a:pt x="265" y="55"/>
                    <a:pt x="265" y="55"/>
                    <a:pt x="265" y="55"/>
                  </a:cubicBezTo>
                  <a:close/>
                  <a:moveTo>
                    <a:pt x="171" y="16"/>
                  </a:moveTo>
                  <a:cubicBezTo>
                    <a:pt x="171" y="16"/>
                    <a:pt x="172" y="16"/>
                    <a:pt x="172" y="16"/>
                  </a:cubicBezTo>
                  <a:cubicBezTo>
                    <a:pt x="173" y="16"/>
                    <a:pt x="175" y="16"/>
                    <a:pt x="178" y="17"/>
                  </a:cubicBezTo>
                  <a:cubicBezTo>
                    <a:pt x="178" y="17"/>
                    <a:pt x="178" y="17"/>
                    <a:pt x="178" y="18"/>
                  </a:cubicBezTo>
                  <a:cubicBezTo>
                    <a:pt x="178" y="19"/>
                    <a:pt x="179" y="19"/>
                    <a:pt x="180" y="19"/>
                  </a:cubicBezTo>
                  <a:cubicBezTo>
                    <a:pt x="181" y="18"/>
                    <a:pt x="181" y="18"/>
                    <a:pt x="181" y="17"/>
                  </a:cubicBezTo>
                  <a:cubicBezTo>
                    <a:pt x="182" y="15"/>
                    <a:pt x="183" y="13"/>
                    <a:pt x="183" y="11"/>
                  </a:cubicBezTo>
                  <a:cubicBezTo>
                    <a:pt x="184" y="10"/>
                    <a:pt x="185" y="9"/>
                    <a:pt x="186" y="8"/>
                  </a:cubicBezTo>
                  <a:cubicBezTo>
                    <a:pt x="186" y="7"/>
                    <a:pt x="187" y="7"/>
                    <a:pt x="186" y="6"/>
                  </a:cubicBezTo>
                  <a:cubicBezTo>
                    <a:pt x="186" y="5"/>
                    <a:pt x="185" y="4"/>
                    <a:pt x="184" y="4"/>
                  </a:cubicBezTo>
                  <a:cubicBezTo>
                    <a:pt x="184" y="3"/>
                    <a:pt x="183" y="3"/>
                    <a:pt x="183" y="3"/>
                  </a:cubicBezTo>
                  <a:cubicBezTo>
                    <a:pt x="180" y="3"/>
                    <a:pt x="178" y="3"/>
                    <a:pt x="175" y="3"/>
                  </a:cubicBezTo>
                  <a:cubicBezTo>
                    <a:pt x="175" y="3"/>
                    <a:pt x="175" y="3"/>
                    <a:pt x="175" y="3"/>
                  </a:cubicBezTo>
                  <a:cubicBezTo>
                    <a:pt x="174" y="2"/>
                    <a:pt x="174" y="1"/>
                    <a:pt x="173" y="1"/>
                  </a:cubicBezTo>
                  <a:cubicBezTo>
                    <a:pt x="172" y="0"/>
                    <a:pt x="172" y="0"/>
                    <a:pt x="172" y="1"/>
                  </a:cubicBezTo>
                  <a:cubicBezTo>
                    <a:pt x="172" y="1"/>
                    <a:pt x="172" y="1"/>
                    <a:pt x="172" y="2"/>
                  </a:cubicBezTo>
                  <a:cubicBezTo>
                    <a:pt x="172" y="3"/>
                    <a:pt x="172" y="4"/>
                    <a:pt x="172" y="5"/>
                  </a:cubicBezTo>
                  <a:cubicBezTo>
                    <a:pt x="172" y="6"/>
                    <a:pt x="171" y="8"/>
                    <a:pt x="171" y="9"/>
                  </a:cubicBezTo>
                  <a:cubicBezTo>
                    <a:pt x="170" y="15"/>
                    <a:pt x="168" y="19"/>
                    <a:pt x="167" y="23"/>
                  </a:cubicBezTo>
                  <a:cubicBezTo>
                    <a:pt x="166" y="26"/>
                    <a:pt x="164" y="28"/>
                    <a:pt x="162" y="31"/>
                  </a:cubicBezTo>
                  <a:cubicBezTo>
                    <a:pt x="162" y="32"/>
                    <a:pt x="161" y="33"/>
                    <a:pt x="161" y="34"/>
                  </a:cubicBezTo>
                  <a:cubicBezTo>
                    <a:pt x="161" y="35"/>
                    <a:pt x="162" y="36"/>
                    <a:pt x="162" y="37"/>
                  </a:cubicBezTo>
                  <a:cubicBezTo>
                    <a:pt x="162" y="37"/>
                    <a:pt x="162" y="37"/>
                    <a:pt x="163" y="37"/>
                  </a:cubicBezTo>
                  <a:cubicBezTo>
                    <a:pt x="164" y="37"/>
                    <a:pt x="164" y="36"/>
                    <a:pt x="165" y="35"/>
                  </a:cubicBezTo>
                  <a:cubicBezTo>
                    <a:pt x="166" y="33"/>
                    <a:pt x="167" y="30"/>
                    <a:pt x="168" y="28"/>
                  </a:cubicBezTo>
                  <a:cubicBezTo>
                    <a:pt x="169" y="25"/>
                    <a:pt x="170" y="22"/>
                    <a:pt x="171" y="19"/>
                  </a:cubicBezTo>
                  <a:cubicBezTo>
                    <a:pt x="171" y="18"/>
                    <a:pt x="171" y="17"/>
                    <a:pt x="171" y="16"/>
                  </a:cubicBezTo>
                  <a:close/>
                  <a:moveTo>
                    <a:pt x="178" y="15"/>
                  </a:moveTo>
                  <a:cubicBezTo>
                    <a:pt x="177" y="15"/>
                    <a:pt x="176" y="14"/>
                    <a:pt x="175" y="14"/>
                  </a:cubicBezTo>
                  <a:cubicBezTo>
                    <a:pt x="174" y="14"/>
                    <a:pt x="173" y="14"/>
                    <a:pt x="172" y="14"/>
                  </a:cubicBezTo>
                  <a:cubicBezTo>
                    <a:pt x="172" y="13"/>
                    <a:pt x="173" y="12"/>
                    <a:pt x="173" y="11"/>
                  </a:cubicBezTo>
                  <a:cubicBezTo>
                    <a:pt x="175" y="11"/>
                    <a:pt x="176" y="11"/>
                    <a:pt x="178" y="11"/>
                  </a:cubicBezTo>
                  <a:cubicBezTo>
                    <a:pt x="178" y="11"/>
                    <a:pt x="179" y="11"/>
                    <a:pt x="178" y="11"/>
                  </a:cubicBezTo>
                  <a:cubicBezTo>
                    <a:pt x="178" y="10"/>
                    <a:pt x="178" y="10"/>
                    <a:pt x="177" y="9"/>
                  </a:cubicBezTo>
                  <a:cubicBezTo>
                    <a:pt x="176" y="9"/>
                    <a:pt x="175" y="9"/>
                    <a:pt x="174" y="9"/>
                  </a:cubicBezTo>
                  <a:cubicBezTo>
                    <a:pt x="174" y="9"/>
                    <a:pt x="174" y="9"/>
                    <a:pt x="174" y="9"/>
                  </a:cubicBezTo>
                  <a:cubicBezTo>
                    <a:pt x="174" y="7"/>
                    <a:pt x="175" y="5"/>
                    <a:pt x="175" y="5"/>
                  </a:cubicBezTo>
                  <a:cubicBezTo>
                    <a:pt x="175" y="5"/>
                    <a:pt x="176" y="5"/>
                    <a:pt x="176" y="5"/>
                  </a:cubicBezTo>
                  <a:cubicBezTo>
                    <a:pt x="177" y="5"/>
                    <a:pt x="178" y="5"/>
                    <a:pt x="179" y="5"/>
                  </a:cubicBezTo>
                  <a:cubicBezTo>
                    <a:pt x="181" y="5"/>
                    <a:pt x="181" y="5"/>
                    <a:pt x="182" y="5"/>
                  </a:cubicBezTo>
                  <a:cubicBezTo>
                    <a:pt x="182" y="6"/>
                    <a:pt x="182" y="6"/>
                    <a:pt x="182" y="7"/>
                  </a:cubicBezTo>
                  <a:cubicBezTo>
                    <a:pt x="181" y="10"/>
                    <a:pt x="180" y="13"/>
                    <a:pt x="179" y="15"/>
                  </a:cubicBezTo>
                  <a:cubicBezTo>
                    <a:pt x="179" y="16"/>
                    <a:pt x="179" y="16"/>
                    <a:pt x="178" y="16"/>
                  </a:cubicBezTo>
                  <a:cubicBezTo>
                    <a:pt x="178" y="16"/>
                    <a:pt x="178" y="15"/>
                    <a:pt x="178" y="15"/>
                  </a:cubicBezTo>
                  <a:close/>
                  <a:moveTo>
                    <a:pt x="191" y="19"/>
                  </a:moveTo>
                  <a:cubicBezTo>
                    <a:pt x="191" y="19"/>
                    <a:pt x="192" y="20"/>
                    <a:pt x="192" y="20"/>
                  </a:cubicBezTo>
                  <a:cubicBezTo>
                    <a:pt x="194" y="20"/>
                    <a:pt x="196" y="20"/>
                    <a:pt x="200" y="21"/>
                  </a:cubicBezTo>
                  <a:cubicBezTo>
                    <a:pt x="198" y="29"/>
                    <a:pt x="195" y="36"/>
                    <a:pt x="194" y="42"/>
                  </a:cubicBezTo>
                  <a:cubicBezTo>
                    <a:pt x="193" y="42"/>
                    <a:pt x="193" y="43"/>
                    <a:pt x="193" y="43"/>
                  </a:cubicBezTo>
                  <a:cubicBezTo>
                    <a:pt x="192" y="44"/>
                    <a:pt x="192" y="43"/>
                    <a:pt x="191" y="43"/>
                  </a:cubicBezTo>
                  <a:cubicBezTo>
                    <a:pt x="190" y="43"/>
                    <a:pt x="190" y="42"/>
                    <a:pt x="189" y="42"/>
                  </a:cubicBezTo>
                  <a:cubicBezTo>
                    <a:pt x="188" y="41"/>
                    <a:pt x="188" y="41"/>
                    <a:pt x="188" y="41"/>
                  </a:cubicBezTo>
                  <a:cubicBezTo>
                    <a:pt x="189" y="44"/>
                    <a:pt x="190" y="46"/>
                    <a:pt x="191" y="47"/>
                  </a:cubicBezTo>
                  <a:cubicBezTo>
                    <a:pt x="191" y="48"/>
                    <a:pt x="191" y="49"/>
                    <a:pt x="192" y="49"/>
                  </a:cubicBezTo>
                  <a:cubicBezTo>
                    <a:pt x="192" y="49"/>
                    <a:pt x="193" y="49"/>
                    <a:pt x="193" y="49"/>
                  </a:cubicBezTo>
                  <a:cubicBezTo>
                    <a:pt x="194" y="49"/>
                    <a:pt x="194" y="48"/>
                    <a:pt x="195" y="47"/>
                  </a:cubicBezTo>
                  <a:cubicBezTo>
                    <a:pt x="196" y="46"/>
                    <a:pt x="196" y="45"/>
                    <a:pt x="197" y="44"/>
                  </a:cubicBezTo>
                  <a:cubicBezTo>
                    <a:pt x="198" y="37"/>
                    <a:pt x="201" y="27"/>
                    <a:pt x="204" y="15"/>
                  </a:cubicBezTo>
                  <a:cubicBezTo>
                    <a:pt x="205" y="13"/>
                    <a:pt x="206" y="11"/>
                    <a:pt x="206" y="11"/>
                  </a:cubicBezTo>
                  <a:cubicBezTo>
                    <a:pt x="207" y="10"/>
                    <a:pt x="207" y="9"/>
                    <a:pt x="207" y="9"/>
                  </a:cubicBezTo>
                  <a:cubicBezTo>
                    <a:pt x="206" y="8"/>
                    <a:pt x="205" y="7"/>
                    <a:pt x="204" y="6"/>
                  </a:cubicBezTo>
                  <a:cubicBezTo>
                    <a:pt x="204" y="6"/>
                    <a:pt x="203" y="6"/>
                    <a:pt x="202" y="6"/>
                  </a:cubicBezTo>
                  <a:cubicBezTo>
                    <a:pt x="201" y="6"/>
                    <a:pt x="200" y="6"/>
                    <a:pt x="199" y="6"/>
                  </a:cubicBezTo>
                  <a:cubicBezTo>
                    <a:pt x="198" y="6"/>
                    <a:pt x="196" y="6"/>
                    <a:pt x="194" y="6"/>
                  </a:cubicBezTo>
                  <a:cubicBezTo>
                    <a:pt x="194" y="5"/>
                    <a:pt x="193" y="4"/>
                    <a:pt x="192" y="4"/>
                  </a:cubicBezTo>
                  <a:cubicBezTo>
                    <a:pt x="192" y="4"/>
                    <a:pt x="192" y="3"/>
                    <a:pt x="192" y="4"/>
                  </a:cubicBezTo>
                  <a:cubicBezTo>
                    <a:pt x="191" y="4"/>
                    <a:pt x="191" y="4"/>
                    <a:pt x="192" y="4"/>
                  </a:cubicBezTo>
                  <a:cubicBezTo>
                    <a:pt x="192" y="6"/>
                    <a:pt x="192" y="7"/>
                    <a:pt x="191" y="9"/>
                  </a:cubicBezTo>
                  <a:cubicBezTo>
                    <a:pt x="191" y="11"/>
                    <a:pt x="190" y="13"/>
                    <a:pt x="190" y="15"/>
                  </a:cubicBezTo>
                  <a:cubicBezTo>
                    <a:pt x="189" y="16"/>
                    <a:pt x="189" y="18"/>
                    <a:pt x="189" y="19"/>
                  </a:cubicBezTo>
                  <a:cubicBezTo>
                    <a:pt x="189" y="20"/>
                    <a:pt x="189" y="20"/>
                    <a:pt x="190" y="20"/>
                  </a:cubicBezTo>
                  <a:cubicBezTo>
                    <a:pt x="190" y="21"/>
                    <a:pt x="191" y="21"/>
                    <a:pt x="191" y="20"/>
                  </a:cubicBezTo>
                  <a:cubicBezTo>
                    <a:pt x="191" y="19"/>
                    <a:pt x="191" y="19"/>
                    <a:pt x="191" y="19"/>
                  </a:cubicBezTo>
                  <a:close/>
                  <a:moveTo>
                    <a:pt x="200" y="19"/>
                  </a:moveTo>
                  <a:cubicBezTo>
                    <a:pt x="199" y="18"/>
                    <a:pt x="198" y="18"/>
                    <a:pt x="197" y="18"/>
                  </a:cubicBezTo>
                  <a:cubicBezTo>
                    <a:pt x="195" y="18"/>
                    <a:pt x="193" y="18"/>
                    <a:pt x="192" y="18"/>
                  </a:cubicBezTo>
                  <a:cubicBezTo>
                    <a:pt x="192" y="17"/>
                    <a:pt x="192" y="17"/>
                    <a:pt x="192" y="16"/>
                  </a:cubicBezTo>
                  <a:cubicBezTo>
                    <a:pt x="192" y="15"/>
                    <a:pt x="192" y="14"/>
                    <a:pt x="193" y="13"/>
                  </a:cubicBezTo>
                  <a:cubicBezTo>
                    <a:pt x="193" y="13"/>
                    <a:pt x="193" y="13"/>
                    <a:pt x="193" y="14"/>
                  </a:cubicBezTo>
                  <a:cubicBezTo>
                    <a:pt x="195" y="14"/>
                    <a:pt x="197" y="14"/>
                    <a:pt x="198" y="14"/>
                  </a:cubicBezTo>
                  <a:cubicBezTo>
                    <a:pt x="199" y="14"/>
                    <a:pt x="200" y="14"/>
                    <a:pt x="199" y="14"/>
                  </a:cubicBezTo>
                  <a:cubicBezTo>
                    <a:pt x="199" y="13"/>
                    <a:pt x="199" y="13"/>
                    <a:pt x="198" y="12"/>
                  </a:cubicBezTo>
                  <a:cubicBezTo>
                    <a:pt x="197" y="12"/>
                    <a:pt x="196" y="12"/>
                    <a:pt x="195" y="12"/>
                  </a:cubicBezTo>
                  <a:cubicBezTo>
                    <a:pt x="194" y="12"/>
                    <a:pt x="194" y="12"/>
                    <a:pt x="193" y="12"/>
                  </a:cubicBezTo>
                  <a:cubicBezTo>
                    <a:pt x="194" y="10"/>
                    <a:pt x="194" y="9"/>
                    <a:pt x="195" y="8"/>
                  </a:cubicBezTo>
                  <a:cubicBezTo>
                    <a:pt x="195" y="8"/>
                    <a:pt x="195" y="8"/>
                    <a:pt x="195" y="8"/>
                  </a:cubicBezTo>
                  <a:cubicBezTo>
                    <a:pt x="197" y="8"/>
                    <a:pt x="199" y="8"/>
                    <a:pt x="201" y="8"/>
                  </a:cubicBezTo>
                  <a:cubicBezTo>
                    <a:pt x="202" y="8"/>
                    <a:pt x="202" y="8"/>
                    <a:pt x="202" y="9"/>
                  </a:cubicBezTo>
                  <a:cubicBezTo>
                    <a:pt x="202" y="10"/>
                    <a:pt x="202" y="11"/>
                    <a:pt x="202" y="12"/>
                  </a:cubicBezTo>
                  <a:cubicBezTo>
                    <a:pt x="201" y="15"/>
                    <a:pt x="201" y="17"/>
                    <a:pt x="200" y="20"/>
                  </a:cubicBezTo>
                  <a:cubicBezTo>
                    <a:pt x="200" y="19"/>
                    <a:pt x="200" y="19"/>
                    <a:pt x="200" y="19"/>
                  </a:cubicBezTo>
                  <a:close/>
                  <a:moveTo>
                    <a:pt x="90" y="28"/>
                  </a:moveTo>
                  <a:cubicBezTo>
                    <a:pt x="91" y="29"/>
                    <a:pt x="94" y="31"/>
                    <a:pt x="98" y="34"/>
                  </a:cubicBezTo>
                  <a:cubicBezTo>
                    <a:pt x="102" y="37"/>
                    <a:pt x="105" y="39"/>
                    <a:pt x="108" y="41"/>
                  </a:cubicBezTo>
                  <a:cubicBezTo>
                    <a:pt x="110" y="42"/>
                    <a:pt x="111" y="42"/>
                    <a:pt x="112" y="42"/>
                  </a:cubicBezTo>
                  <a:cubicBezTo>
                    <a:pt x="114" y="41"/>
                    <a:pt x="117" y="39"/>
                    <a:pt x="119" y="39"/>
                  </a:cubicBezTo>
                  <a:cubicBezTo>
                    <a:pt x="120" y="38"/>
                    <a:pt x="121" y="38"/>
                    <a:pt x="121" y="38"/>
                  </a:cubicBezTo>
                  <a:cubicBezTo>
                    <a:pt x="120" y="37"/>
                    <a:pt x="120" y="37"/>
                    <a:pt x="119" y="37"/>
                  </a:cubicBezTo>
                  <a:cubicBezTo>
                    <a:pt x="117" y="37"/>
                    <a:pt x="115" y="37"/>
                    <a:pt x="113" y="36"/>
                  </a:cubicBezTo>
                  <a:cubicBezTo>
                    <a:pt x="111" y="36"/>
                    <a:pt x="109" y="36"/>
                    <a:pt x="108" y="36"/>
                  </a:cubicBezTo>
                  <a:cubicBezTo>
                    <a:pt x="106" y="35"/>
                    <a:pt x="103" y="34"/>
                    <a:pt x="100" y="32"/>
                  </a:cubicBezTo>
                  <a:cubicBezTo>
                    <a:pt x="95" y="29"/>
                    <a:pt x="92" y="27"/>
                    <a:pt x="90" y="26"/>
                  </a:cubicBezTo>
                  <a:cubicBezTo>
                    <a:pt x="90" y="25"/>
                    <a:pt x="90" y="24"/>
                    <a:pt x="90" y="24"/>
                  </a:cubicBezTo>
                  <a:cubicBezTo>
                    <a:pt x="93" y="22"/>
                    <a:pt x="97" y="20"/>
                    <a:pt x="102" y="18"/>
                  </a:cubicBezTo>
                  <a:cubicBezTo>
                    <a:pt x="103" y="18"/>
                    <a:pt x="104" y="18"/>
                    <a:pt x="104" y="17"/>
                  </a:cubicBezTo>
                  <a:cubicBezTo>
                    <a:pt x="105" y="17"/>
                    <a:pt x="105" y="17"/>
                    <a:pt x="106" y="16"/>
                  </a:cubicBezTo>
                  <a:cubicBezTo>
                    <a:pt x="105" y="16"/>
                    <a:pt x="105" y="15"/>
                    <a:pt x="104" y="15"/>
                  </a:cubicBezTo>
                  <a:cubicBezTo>
                    <a:pt x="103" y="15"/>
                    <a:pt x="102" y="15"/>
                    <a:pt x="101" y="15"/>
                  </a:cubicBezTo>
                  <a:cubicBezTo>
                    <a:pt x="100" y="15"/>
                    <a:pt x="99" y="15"/>
                    <a:pt x="99" y="15"/>
                  </a:cubicBezTo>
                  <a:cubicBezTo>
                    <a:pt x="96" y="17"/>
                    <a:pt x="93" y="19"/>
                    <a:pt x="89" y="21"/>
                  </a:cubicBezTo>
                  <a:cubicBezTo>
                    <a:pt x="89" y="20"/>
                    <a:pt x="88" y="19"/>
                    <a:pt x="88" y="17"/>
                  </a:cubicBezTo>
                  <a:cubicBezTo>
                    <a:pt x="88" y="16"/>
                    <a:pt x="87" y="15"/>
                    <a:pt x="87" y="14"/>
                  </a:cubicBezTo>
                  <a:cubicBezTo>
                    <a:pt x="87" y="12"/>
                    <a:pt x="86" y="11"/>
                    <a:pt x="86" y="9"/>
                  </a:cubicBezTo>
                  <a:cubicBezTo>
                    <a:pt x="86" y="8"/>
                    <a:pt x="86" y="8"/>
                    <a:pt x="86" y="8"/>
                  </a:cubicBezTo>
                  <a:cubicBezTo>
                    <a:pt x="85" y="7"/>
                    <a:pt x="83" y="7"/>
                    <a:pt x="82" y="7"/>
                  </a:cubicBezTo>
                  <a:cubicBezTo>
                    <a:pt x="81" y="7"/>
                    <a:pt x="80" y="7"/>
                    <a:pt x="80" y="8"/>
                  </a:cubicBezTo>
                  <a:cubicBezTo>
                    <a:pt x="79" y="8"/>
                    <a:pt x="79" y="9"/>
                    <a:pt x="80" y="9"/>
                  </a:cubicBezTo>
                  <a:cubicBezTo>
                    <a:pt x="81" y="10"/>
                    <a:pt x="82" y="11"/>
                    <a:pt x="83" y="12"/>
                  </a:cubicBezTo>
                  <a:cubicBezTo>
                    <a:pt x="84" y="16"/>
                    <a:pt x="85" y="20"/>
                    <a:pt x="86" y="23"/>
                  </a:cubicBezTo>
                  <a:cubicBezTo>
                    <a:pt x="83" y="25"/>
                    <a:pt x="79" y="27"/>
                    <a:pt x="76" y="29"/>
                  </a:cubicBezTo>
                  <a:cubicBezTo>
                    <a:pt x="75" y="29"/>
                    <a:pt x="75" y="30"/>
                    <a:pt x="76" y="30"/>
                  </a:cubicBezTo>
                  <a:cubicBezTo>
                    <a:pt x="76" y="30"/>
                    <a:pt x="77" y="30"/>
                    <a:pt x="78" y="30"/>
                  </a:cubicBezTo>
                  <a:cubicBezTo>
                    <a:pt x="79" y="30"/>
                    <a:pt x="79" y="30"/>
                    <a:pt x="80" y="30"/>
                  </a:cubicBezTo>
                  <a:cubicBezTo>
                    <a:pt x="82" y="28"/>
                    <a:pt x="84" y="27"/>
                    <a:pt x="87" y="25"/>
                  </a:cubicBezTo>
                  <a:cubicBezTo>
                    <a:pt x="87" y="26"/>
                    <a:pt x="87" y="26"/>
                    <a:pt x="87" y="26"/>
                  </a:cubicBezTo>
                  <a:cubicBezTo>
                    <a:pt x="88" y="30"/>
                    <a:pt x="88" y="33"/>
                    <a:pt x="87" y="36"/>
                  </a:cubicBezTo>
                  <a:cubicBezTo>
                    <a:pt x="87" y="38"/>
                    <a:pt x="86" y="41"/>
                    <a:pt x="85" y="43"/>
                  </a:cubicBezTo>
                  <a:cubicBezTo>
                    <a:pt x="84" y="45"/>
                    <a:pt x="82" y="48"/>
                    <a:pt x="79" y="51"/>
                  </a:cubicBezTo>
                  <a:cubicBezTo>
                    <a:pt x="79" y="51"/>
                    <a:pt x="79" y="52"/>
                    <a:pt x="79" y="52"/>
                  </a:cubicBezTo>
                  <a:cubicBezTo>
                    <a:pt x="79" y="52"/>
                    <a:pt x="79" y="52"/>
                    <a:pt x="80" y="52"/>
                  </a:cubicBezTo>
                  <a:cubicBezTo>
                    <a:pt x="80" y="52"/>
                    <a:pt x="81" y="51"/>
                    <a:pt x="83" y="49"/>
                  </a:cubicBezTo>
                  <a:cubicBezTo>
                    <a:pt x="84" y="48"/>
                    <a:pt x="86" y="46"/>
                    <a:pt x="88" y="44"/>
                  </a:cubicBezTo>
                  <a:cubicBezTo>
                    <a:pt x="89" y="42"/>
                    <a:pt x="90" y="40"/>
                    <a:pt x="90" y="38"/>
                  </a:cubicBezTo>
                  <a:cubicBezTo>
                    <a:pt x="91" y="36"/>
                    <a:pt x="91" y="33"/>
                    <a:pt x="91" y="30"/>
                  </a:cubicBezTo>
                  <a:cubicBezTo>
                    <a:pt x="90" y="29"/>
                    <a:pt x="90" y="29"/>
                    <a:pt x="90" y="28"/>
                  </a:cubicBezTo>
                  <a:close/>
                  <a:moveTo>
                    <a:pt x="10" y="68"/>
                  </a:moveTo>
                  <a:cubicBezTo>
                    <a:pt x="11" y="68"/>
                    <a:pt x="12" y="67"/>
                    <a:pt x="12" y="67"/>
                  </a:cubicBezTo>
                  <a:cubicBezTo>
                    <a:pt x="13" y="67"/>
                    <a:pt x="13" y="66"/>
                    <a:pt x="13" y="66"/>
                  </a:cubicBezTo>
                  <a:cubicBezTo>
                    <a:pt x="13" y="66"/>
                    <a:pt x="13" y="66"/>
                    <a:pt x="13" y="66"/>
                  </a:cubicBezTo>
                  <a:cubicBezTo>
                    <a:pt x="13" y="65"/>
                    <a:pt x="13" y="65"/>
                    <a:pt x="12" y="65"/>
                  </a:cubicBezTo>
                  <a:cubicBezTo>
                    <a:pt x="11" y="65"/>
                    <a:pt x="11" y="65"/>
                    <a:pt x="10" y="65"/>
                  </a:cubicBezTo>
                  <a:cubicBezTo>
                    <a:pt x="10" y="65"/>
                    <a:pt x="10" y="66"/>
                    <a:pt x="10" y="66"/>
                  </a:cubicBezTo>
                  <a:cubicBezTo>
                    <a:pt x="10" y="65"/>
                    <a:pt x="10" y="65"/>
                    <a:pt x="9" y="64"/>
                  </a:cubicBezTo>
                  <a:cubicBezTo>
                    <a:pt x="9" y="63"/>
                    <a:pt x="9" y="63"/>
                    <a:pt x="9" y="62"/>
                  </a:cubicBezTo>
                  <a:cubicBezTo>
                    <a:pt x="9" y="62"/>
                    <a:pt x="9" y="62"/>
                    <a:pt x="9" y="62"/>
                  </a:cubicBezTo>
                  <a:cubicBezTo>
                    <a:pt x="8" y="62"/>
                    <a:pt x="8" y="62"/>
                    <a:pt x="7" y="62"/>
                  </a:cubicBezTo>
                  <a:cubicBezTo>
                    <a:pt x="6" y="62"/>
                    <a:pt x="6" y="62"/>
                    <a:pt x="6" y="62"/>
                  </a:cubicBezTo>
                  <a:cubicBezTo>
                    <a:pt x="5" y="63"/>
                    <a:pt x="5" y="63"/>
                    <a:pt x="6" y="63"/>
                  </a:cubicBezTo>
                  <a:cubicBezTo>
                    <a:pt x="6" y="63"/>
                    <a:pt x="7" y="64"/>
                    <a:pt x="7" y="64"/>
                  </a:cubicBezTo>
                  <a:cubicBezTo>
                    <a:pt x="7" y="65"/>
                    <a:pt x="8" y="66"/>
                    <a:pt x="8" y="67"/>
                  </a:cubicBezTo>
                  <a:cubicBezTo>
                    <a:pt x="8" y="67"/>
                    <a:pt x="8" y="67"/>
                    <a:pt x="8" y="67"/>
                  </a:cubicBezTo>
                  <a:cubicBezTo>
                    <a:pt x="7" y="68"/>
                    <a:pt x="6" y="69"/>
                    <a:pt x="5" y="70"/>
                  </a:cubicBezTo>
                  <a:cubicBezTo>
                    <a:pt x="5" y="70"/>
                    <a:pt x="5" y="70"/>
                    <a:pt x="5" y="70"/>
                  </a:cubicBezTo>
                  <a:cubicBezTo>
                    <a:pt x="5" y="70"/>
                    <a:pt x="6" y="70"/>
                    <a:pt x="6" y="70"/>
                  </a:cubicBezTo>
                  <a:cubicBezTo>
                    <a:pt x="7" y="70"/>
                    <a:pt x="8" y="69"/>
                    <a:pt x="9" y="69"/>
                  </a:cubicBezTo>
                  <a:cubicBezTo>
                    <a:pt x="9" y="69"/>
                    <a:pt x="9" y="70"/>
                    <a:pt x="9" y="71"/>
                  </a:cubicBezTo>
                  <a:cubicBezTo>
                    <a:pt x="9" y="72"/>
                    <a:pt x="9" y="72"/>
                    <a:pt x="9" y="72"/>
                  </a:cubicBezTo>
                  <a:cubicBezTo>
                    <a:pt x="10" y="72"/>
                    <a:pt x="10" y="72"/>
                    <a:pt x="10" y="72"/>
                  </a:cubicBezTo>
                  <a:cubicBezTo>
                    <a:pt x="10" y="72"/>
                    <a:pt x="10" y="71"/>
                    <a:pt x="10" y="70"/>
                  </a:cubicBezTo>
                  <a:cubicBezTo>
                    <a:pt x="10" y="70"/>
                    <a:pt x="10" y="69"/>
                    <a:pt x="10" y="68"/>
                  </a:cubicBezTo>
                  <a:close/>
                  <a:moveTo>
                    <a:pt x="17" y="72"/>
                  </a:moveTo>
                  <a:cubicBezTo>
                    <a:pt x="18" y="71"/>
                    <a:pt x="18" y="71"/>
                    <a:pt x="19" y="71"/>
                  </a:cubicBezTo>
                  <a:cubicBezTo>
                    <a:pt x="20" y="71"/>
                    <a:pt x="20" y="70"/>
                    <a:pt x="20" y="70"/>
                  </a:cubicBezTo>
                  <a:cubicBezTo>
                    <a:pt x="20" y="70"/>
                    <a:pt x="20" y="70"/>
                    <a:pt x="20" y="70"/>
                  </a:cubicBezTo>
                  <a:cubicBezTo>
                    <a:pt x="20" y="69"/>
                    <a:pt x="20" y="69"/>
                    <a:pt x="19" y="69"/>
                  </a:cubicBezTo>
                  <a:cubicBezTo>
                    <a:pt x="18" y="69"/>
                    <a:pt x="18" y="69"/>
                    <a:pt x="18" y="69"/>
                  </a:cubicBezTo>
                  <a:cubicBezTo>
                    <a:pt x="17" y="69"/>
                    <a:pt x="17" y="70"/>
                    <a:pt x="16" y="70"/>
                  </a:cubicBezTo>
                  <a:cubicBezTo>
                    <a:pt x="16" y="70"/>
                    <a:pt x="16" y="69"/>
                    <a:pt x="16" y="69"/>
                  </a:cubicBezTo>
                  <a:cubicBezTo>
                    <a:pt x="16" y="68"/>
                    <a:pt x="16" y="68"/>
                    <a:pt x="16" y="68"/>
                  </a:cubicBezTo>
                  <a:cubicBezTo>
                    <a:pt x="16" y="67"/>
                    <a:pt x="15" y="67"/>
                    <a:pt x="15" y="67"/>
                  </a:cubicBezTo>
                  <a:cubicBezTo>
                    <a:pt x="15" y="67"/>
                    <a:pt x="15" y="67"/>
                    <a:pt x="14" y="67"/>
                  </a:cubicBezTo>
                  <a:cubicBezTo>
                    <a:pt x="13" y="67"/>
                    <a:pt x="13" y="67"/>
                    <a:pt x="12" y="68"/>
                  </a:cubicBezTo>
                  <a:cubicBezTo>
                    <a:pt x="12" y="68"/>
                    <a:pt x="12" y="68"/>
                    <a:pt x="13" y="68"/>
                  </a:cubicBezTo>
                  <a:cubicBezTo>
                    <a:pt x="13" y="69"/>
                    <a:pt x="14" y="69"/>
                    <a:pt x="14" y="69"/>
                  </a:cubicBezTo>
                  <a:cubicBezTo>
                    <a:pt x="14" y="70"/>
                    <a:pt x="14" y="70"/>
                    <a:pt x="15" y="71"/>
                  </a:cubicBezTo>
                  <a:cubicBezTo>
                    <a:pt x="14" y="72"/>
                    <a:pt x="13" y="72"/>
                    <a:pt x="12" y="73"/>
                  </a:cubicBezTo>
                  <a:cubicBezTo>
                    <a:pt x="12" y="73"/>
                    <a:pt x="12" y="73"/>
                    <a:pt x="12" y="73"/>
                  </a:cubicBezTo>
                  <a:cubicBezTo>
                    <a:pt x="12" y="74"/>
                    <a:pt x="13" y="74"/>
                    <a:pt x="13" y="73"/>
                  </a:cubicBezTo>
                  <a:cubicBezTo>
                    <a:pt x="14" y="73"/>
                    <a:pt x="15" y="73"/>
                    <a:pt x="15" y="72"/>
                  </a:cubicBezTo>
                  <a:cubicBezTo>
                    <a:pt x="15" y="72"/>
                    <a:pt x="15" y="72"/>
                    <a:pt x="15" y="73"/>
                  </a:cubicBezTo>
                  <a:cubicBezTo>
                    <a:pt x="16" y="74"/>
                    <a:pt x="16" y="75"/>
                    <a:pt x="17" y="76"/>
                  </a:cubicBezTo>
                  <a:cubicBezTo>
                    <a:pt x="17" y="77"/>
                    <a:pt x="17" y="77"/>
                    <a:pt x="17" y="77"/>
                  </a:cubicBezTo>
                  <a:cubicBezTo>
                    <a:pt x="17" y="77"/>
                    <a:pt x="17" y="77"/>
                    <a:pt x="17" y="77"/>
                  </a:cubicBezTo>
                  <a:cubicBezTo>
                    <a:pt x="17" y="77"/>
                    <a:pt x="17" y="76"/>
                    <a:pt x="17" y="76"/>
                  </a:cubicBezTo>
                  <a:cubicBezTo>
                    <a:pt x="17" y="75"/>
                    <a:pt x="17" y="74"/>
                    <a:pt x="17" y="73"/>
                  </a:cubicBezTo>
                  <a:cubicBezTo>
                    <a:pt x="17" y="73"/>
                    <a:pt x="17" y="72"/>
                    <a:pt x="17" y="72"/>
                  </a:cubicBezTo>
                  <a:close/>
                  <a:moveTo>
                    <a:pt x="14" y="88"/>
                  </a:moveTo>
                  <a:cubicBezTo>
                    <a:pt x="16" y="88"/>
                    <a:pt x="16" y="87"/>
                    <a:pt x="17" y="86"/>
                  </a:cubicBezTo>
                  <a:cubicBezTo>
                    <a:pt x="18" y="83"/>
                    <a:pt x="18" y="81"/>
                    <a:pt x="20" y="78"/>
                  </a:cubicBezTo>
                  <a:cubicBezTo>
                    <a:pt x="21" y="75"/>
                    <a:pt x="23" y="71"/>
                    <a:pt x="25" y="66"/>
                  </a:cubicBezTo>
                  <a:cubicBezTo>
                    <a:pt x="26" y="64"/>
                    <a:pt x="27" y="62"/>
                    <a:pt x="28" y="61"/>
                  </a:cubicBezTo>
                  <a:cubicBezTo>
                    <a:pt x="28" y="61"/>
                    <a:pt x="29" y="61"/>
                    <a:pt x="29" y="61"/>
                  </a:cubicBezTo>
                  <a:cubicBezTo>
                    <a:pt x="29" y="61"/>
                    <a:pt x="29" y="61"/>
                    <a:pt x="29" y="62"/>
                  </a:cubicBezTo>
                  <a:cubicBezTo>
                    <a:pt x="30" y="63"/>
                    <a:pt x="31" y="63"/>
                    <a:pt x="31" y="64"/>
                  </a:cubicBezTo>
                  <a:cubicBezTo>
                    <a:pt x="31" y="65"/>
                    <a:pt x="32" y="65"/>
                    <a:pt x="32" y="65"/>
                  </a:cubicBezTo>
                  <a:cubicBezTo>
                    <a:pt x="32" y="65"/>
                    <a:pt x="32" y="64"/>
                    <a:pt x="32" y="64"/>
                  </a:cubicBezTo>
                  <a:cubicBezTo>
                    <a:pt x="32" y="61"/>
                    <a:pt x="33" y="59"/>
                    <a:pt x="33" y="58"/>
                  </a:cubicBezTo>
                  <a:cubicBezTo>
                    <a:pt x="34" y="57"/>
                    <a:pt x="34" y="56"/>
                    <a:pt x="33" y="56"/>
                  </a:cubicBezTo>
                  <a:cubicBezTo>
                    <a:pt x="33" y="56"/>
                    <a:pt x="31" y="56"/>
                    <a:pt x="28" y="57"/>
                  </a:cubicBezTo>
                  <a:cubicBezTo>
                    <a:pt x="28" y="58"/>
                    <a:pt x="27" y="58"/>
                    <a:pt x="27" y="59"/>
                  </a:cubicBezTo>
                  <a:cubicBezTo>
                    <a:pt x="26" y="60"/>
                    <a:pt x="25" y="62"/>
                    <a:pt x="25" y="63"/>
                  </a:cubicBezTo>
                  <a:cubicBezTo>
                    <a:pt x="21" y="59"/>
                    <a:pt x="18" y="56"/>
                    <a:pt x="17" y="54"/>
                  </a:cubicBezTo>
                  <a:cubicBezTo>
                    <a:pt x="17" y="53"/>
                    <a:pt x="17" y="53"/>
                    <a:pt x="16" y="53"/>
                  </a:cubicBezTo>
                  <a:cubicBezTo>
                    <a:pt x="16" y="53"/>
                    <a:pt x="14" y="53"/>
                    <a:pt x="13" y="54"/>
                  </a:cubicBezTo>
                  <a:cubicBezTo>
                    <a:pt x="12" y="55"/>
                    <a:pt x="12" y="55"/>
                    <a:pt x="12" y="55"/>
                  </a:cubicBezTo>
                  <a:cubicBezTo>
                    <a:pt x="11" y="57"/>
                    <a:pt x="10" y="59"/>
                    <a:pt x="10" y="61"/>
                  </a:cubicBezTo>
                  <a:cubicBezTo>
                    <a:pt x="9" y="61"/>
                    <a:pt x="9" y="62"/>
                    <a:pt x="10" y="62"/>
                  </a:cubicBezTo>
                  <a:cubicBezTo>
                    <a:pt x="10" y="62"/>
                    <a:pt x="11" y="61"/>
                    <a:pt x="11" y="61"/>
                  </a:cubicBezTo>
                  <a:cubicBezTo>
                    <a:pt x="12" y="61"/>
                    <a:pt x="12" y="60"/>
                    <a:pt x="12" y="59"/>
                  </a:cubicBezTo>
                  <a:cubicBezTo>
                    <a:pt x="13" y="59"/>
                    <a:pt x="13" y="58"/>
                    <a:pt x="13" y="57"/>
                  </a:cubicBezTo>
                  <a:cubicBezTo>
                    <a:pt x="13" y="57"/>
                    <a:pt x="13" y="57"/>
                    <a:pt x="13" y="57"/>
                  </a:cubicBezTo>
                  <a:cubicBezTo>
                    <a:pt x="14" y="57"/>
                    <a:pt x="14" y="57"/>
                    <a:pt x="15" y="57"/>
                  </a:cubicBezTo>
                  <a:cubicBezTo>
                    <a:pt x="15" y="58"/>
                    <a:pt x="16" y="58"/>
                    <a:pt x="17" y="59"/>
                  </a:cubicBezTo>
                  <a:cubicBezTo>
                    <a:pt x="16" y="59"/>
                    <a:pt x="16" y="59"/>
                    <a:pt x="16" y="60"/>
                  </a:cubicBezTo>
                  <a:cubicBezTo>
                    <a:pt x="15" y="60"/>
                    <a:pt x="15" y="61"/>
                    <a:pt x="14" y="62"/>
                  </a:cubicBezTo>
                  <a:cubicBezTo>
                    <a:pt x="14" y="63"/>
                    <a:pt x="14" y="63"/>
                    <a:pt x="14" y="64"/>
                  </a:cubicBezTo>
                  <a:cubicBezTo>
                    <a:pt x="13" y="65"/>
                    <a:pt x="14" y="65"/>
                    <a:pt x="14" y="65"/>
                  </a:cubicBezTo>
                  <a:cubicBezTo>
                    <a:pt x="15" y="64"/>
                    <a:pt x="15" y="64"/>
                    <a:pt x="15" y="64"/>
                  </a:cubicBezTo>
                  <a:cubicBezTo>
                    <a:pt x="16" y="62"/>
                    <a:pt x="17" y="61"/>
                    <a:pt x="17" y="60"/>
                  </a:cubicBezTo>
                  <a:cubicBezTo>
                    <a:pt x="18" y="60"/>
                    <a:pt x="19" y="61"/>
                    <a:pt x="20" y="62"/>
                  </a:cubicBezTo>
                  <a:cubicBezTo>
                    <a:pt x="19" y="62"/>
                    <a:pt x="19" y="62"/>
                    <a:pt x="19" y="63"/>
                  </a:cubicBezTo>
                  <a:cubicBezTo>
                    <a:pt x="18" y="63"/>
                    <a:pt x="18" y="64"/>
                    <a:pt x="18" y="65"/>
                  </a:cubicBezTo>
                  <a:cubicBezTo>
                    <a:pt x="18" y="66"/>
                    <a:pt x="17" y="67"/>
                    <a:pt x="17" y="67"/>
                  </a:cubicBezTo>
                  <a:cubicBezTo>
                    <a:pt x="17" y="68"/>
                    <a:pt x="17" y="68"/>
                    <a:pt x="18" y="68"/>
                  </a:cubicBezTo>
                  <a:cubicBezTo>
                    <a:pt x="18" y="68"/>
                    <a:pt x="18" y="67"/>
                    <a:pt x="19" y="67"/>
                  </a:cubicBezTo>
                  <a:cubicBezTo>
                    <a:pt x="19" y="65"/>
                    <a:pt x="20" y="64"/>
                    <a:pt x="21" y="63"/>
                  </a:cubicBezTo>
                  <a:cubicBezTo>
                    <a:pt x="21" y="64"/>
                    <a:pt x="22" y="65"/>
                    <a:pt x="23" y="66"/>
                  </a:cubicBezTo>
                  <a:cubicBezTo>
                    <a:pt x="23" y="67"/>
                    <a:pt x="23" y="67"/>
                    <a:pt x="22" y="68"/>
                  </a:cubicBezTo>
                  <a:cubicBezTo>
                    <a:pt x="21" y="71"/>
                    <a:pt x="19" y="76"/>
                    <a:pt x="16" y="81"/>
                  </a:cubicBezTo>
                  <a:cubicBezTo>
                    <a:pt x="16" y="81"/>
                    <a:pt x="16" y="82"/>
                    <a:pt x="16" y="82"/>
                  </a:cubicBezTo>
                  <a:cubicBezTo>
                    <a:pt x="15" y="81"/>
                    <a:pt x="13" y="81"/>
                    <a:pt x="12" y="80"/>
                  </a:cubicBezTo>
                  <a:cubicBezTo>
                    <a:pt x="12" y="80"/>
                    <a:pt x="12" y="80"/>
                    <a:pt x="12" y="80"/>
                  </a:cubicBezTo>
                  <a:cubicBezTo>
                    <a:pt x="13" y="79"/>
                    <a:pt x="13" y="77"/>
                    <a:pt x="14" y="76"/>
                  </a:cubicBezTo>
                  <a:cubicBezTo>
                    <a:pt x="14" y="75"/>
                    <a:pt x="14" y="75"/>
                    <a:pt x="13" y="75"/>
                  </a:cubicBezTo>
                  <a:cubicBezTo>
                    <a:pt x="13" y="75"/>
                    <a:pt x="12" y="76"/>
                    <a:pt x="12" y="76"/>
                  </a:cubicBezTo>
                  <a:cubicBezTo>
                    <a:pt x="11" y="77"/>
                    <a:pt x="11" y="78"/>
                    <a:pt x="11" y="79"/>
                  </a:cubicBezTo>
                  <a:cubicBezTo>
                    <a:pt x="11" y="79"/>
                    <a:pt x="11" y="79"/>
                    <a:pt x="11" y="80"/>
                  </a:cubicBezTo>
                  <a:cubicBezTo>
                    <a:pt x="10" y="79"/>
                    <a:pt x="10" y="79"/>
                    <a:pt x="9" y="79"/>
                  </a:cubicBezTo>
                  <a:cubicBezTo>
                    <a:pt x="9" y="79"/>
                    <a:pt x="8" y="79"/>
                    <a:pt x="8" y="79"/>
                  </a:cubicBezTo>
                  <a:cubicBezTo>
                    <a:pt x="8" y="77"/>
                    <a:pt x="9" y="75"/>
                    <a:pt x="9" y="74"/>
                  </a:cubicBezTo>
                  <a:cubicBezTo>
                    <a:pt x="10" y="73"/>
                    <a:pt x="10" y="73"/>
                    <a:pt x="9" y="73"/>
                  </a:cubicBezTo>
                  <a:cubicBezTo>
                    <a:pt x="9" y="73"/>
                    <a:pt x="8" y="73"/>
                    <a:pt x="8" y="74"/>
                  </a:cubicBezTo>
                  <a:cubicBezTo>
                    <a:pt x="7" y="75"/>
                    <a:pt x="7" y="75"/>
                    <a:pt x="7" y="77"/>
                  </a:cubicBezTo>
                  <a:cubicBezTo>
                    <a:pt x="7" y="77"/>
                    <a:pt x="7" y="78"/>
                    <a:pt x="7" y="78"/>
                  </a:cubicBezTo>
                  <a:cubicBezTo>
                    <a:pt x="6" y="78"/>
                    <a:pt x="6" y="78"/>
                    <a:pt x="5" y="77"/>
                  </a:cubicBezTo>
                  <a:cubicBezTo>
                    <a:pt x="5" y="77"/>
                    <a:pt x="5" y="77"/>
                    <a:pt x="5" y="77"/>
                  </a:cubicBezTo>
                  <a:cubicBezTo>
                    <a:pt x="5" y="76"/>
                    <a:pt x="4" y="76"/>
                    <a:pt x="4" y="75"/>
                  </a:cubicBezTo>
                  <a:cubicBezTo>
                    <a:pt x="4" y="75"/>
                    <a:pt x="4" y="74"/>
                    <a:pt x="4" y="73"/>
                  </a:cubicBezTo>
                  <a:cubicBezTo>
                    <a:pt x="4" y="73"/>
                    <a:pt x="4" y="72"/>
                    <a:pt x="4" y="71"/>
                  </a:cubicBezTo>
                  <a:cubicBezTo>
                    <a:pt x="4" y="71"/>
                    <a:pt x="4" y="70"/>
                    <a:pt x="4" y="70"/>
                  </a:cubicBezTo>
                  <a:cubicBezTo>
                    <a:pt x="3" y="70"/>
                    <a:pt x="2" y="71"/>
                    <a:pt x="2" y="71"/>
                  </a:cubicBezTo>
                  <a:cubicBezTo>
                    <a:pt x="1" y="72"/>
                    <a:pt x="1" y="72"/>
                    <a:pt x="1" y="72"/>
                  </a:cubicBezTo>
                  <a:cubicBezTo>
                    <a:pt x="0" y="73"/>
                    <a:pt x="1" y="73"/>
                    <a:pt x="1" y="73"/>
                  </a:cubicBezTo>
                  <a:cubicBezTo>
                    <a:pt x="1" y="73"/>
                    <a:pt x="2" y="73"/>
                    <a:pt x="2" y="74"/>
                  </a:cubicBezTo>
                  <a:cubicBezTo>
                    <a:pt x="2" y="75"/>
                    <a:pt x="3" y="75"/>
                    <a:pt x="3" y="76"/>
                  </a:cubicBezTo>
                  <a:cubicBezTo>
                    <a:pt x="3" y="76"/>
                    <a:pt x="3" y="77"/>
                    <a:pt x="4" y="77"/>
                  </a:cubicBezTo>
                  <a:cubicBezTo>
                    <a:pt x="3" y="78"/>
                    <a:pt x="2" y="78"/>
                    <a:pt x="2" y="79"/>
                  </a:cubicBezTo>
                  <a:cubicBezTo>
                    <a:pt x="1" y="79"/>
                    <a:pt x="1" y="80"/>
                    <a:pt x="1" y="80"/>
                  </a:cubicBezTo>
                  <a:cubicBezTo>
                    <a:pt x="1" y="80"/>
                    <a:pt x="2" y="81"/>
                    <a:pt x="2" y="80"/>
                  </a:cubicBezTo>
                  <a:cubicBezTo>
                    <a:pt x="3" y="80"/>
                    <a:pt x="5" y="80"/>
                    <a:pt x="6" y="81"/>
                  </a:cubicBezTo>
                  <a:cubicBezTo>
                    <a:pt x="7" y="81"/>
                    <a:pt x="11" y="82"/>
                    <a:pt x="15" y="84"/>
                  </a:cubicBezTo>
                  <a:cubicBezTo>
                    <a:pt x="15" y="85"/>
                    <a:pt x="14" y="86"/>
                    <a:pt x="13" y="88"/>
                  </a:cubicBezTo>
                  <a:cubicBezTo>
                    <a:pt x="13" y="88"/>
                    <a:pt x="13" y="88"/>
                    <a:pt x="13" y="88"/>
                  </a:cubicBezTo>
                  <a:cubicBezTo>
                    <a:pt x="13" y="88"/>
                    <a:pt x="13" y="88"/>
                    <a:pt x="13" y="88"/>
                  </a:cubicBezTo>
                  <a:cubicBezTo>
                    <a:pt x="12" y="88"/>
                    <a:pt x="12" y="88"/>
                    <a:pt x="11" y="88"/>
                  </a:cubicBezTo>
                  <a:cubicBezTo>
                    <a:pt x="10" y="88"/>
                    <a:pt x="10" y="89"/>
                    <a:pt x="11" y="89"/>
                  </a:cubicBezTo>
                  <a:cubicBezTo>
                    <a:pt x="11" y="89"/>
                    <a:pt x="12" y="89"/>
                    <a:pt x="12" y="89"/>
                  </a:cubicBezTo>
                  <a:cubicBezTo>
                    <a:pt x="12" y="90"/>
                    <a:pt x="13" y="90"/>
                    <a:pt x="13" y="91"/>
                  </a:cubicBezTo>
                  <a:cubicBezTo>
                    <a:pt x="13" y="92"/>
                    <a:pt x="14" y="93"/>
                    <a:pt x="14" y="94"/>
                  </a:cubicBezTo>
                  <a:cubicBezTo>
                    <a:pt x="14" y="95"/>
                    <a:pt x="15" y="95"/>
                    <a:pt x="15" y="95"/>
                  </a:cubicBezTo>
                  <a:cubicBezTo>
                    <a:pt x="16" y="96"/>
                    <a:pt x="17" y="96"/>
                    <a:pt x="18" y="96"/>
                  </a:cubicBezTo>
                  <a:cubicBezTo>
                    <a:pt x="19" y="96"/>
                    <a:pt x="19" y="95"/>
                    <a:pt x="19" y="94"/>
                  </a:cubicBezTo>
                  <a:cubicBezTo>
                    <a:pt x="18" y="93"/>
                    <a:pt x="18" y="92"/>
                    <a:pt x="17" y="91"/>
                  </a:cubicBezTo>
                  <a:cubicBezTo>
                    <a:pt x="16" y="90"/>
                    <a:pt x="15" y="89"/>
                    <a:pt x="14" y="88"/>
                  </a:cubicBezTo>
                  <a:close/>
                  <a:moveTo>
                    <a:pt x="34" y="79"/>
                  </a:moveTo>
                  <a:cubicBezTo>
                    <a:pt x="36" y="76"/>
                    <a:pt x="38" y="72"/>
                    <a:pt x="41" y="68"/>
                  </a:cubicBezTo>
                  <a:cubicBezTo>
                    <a:pt x="41" y="67"/>
                    <a:pt x="42" y="66"/>
                    <a:pt x="42" y="66"/>
                  </a:cubicBezTo>
                  <a:cubicBezTo>
                    <a:pt x="43" y="65"/>
                    <a:pt x="43" y="64"/>
                    <a:pt x="43" y="64"/>
                  </a:cubicBezTo>
                  <a:cubicBezTo>
                    <a:pt x="43" y="64"/>
                    <a:pt x="42" y="64"/>
                    <a:pt x="41" y="64"/>
                  </a:cubicBezTo>
                  <a:cubicBezTo>
                    <a:pt x="40" y="64"/>
                    <a:pt x="39" y="65"/>
                    <a:pt x="38" y="65"/>
                  </a:cubicBezTo>
                  <a:cubicBezTo>
                    <a:pt x="38" y="66"/>
                    <a:pt x="37" y="67"/>
                    <a:pt x="37" y="67"/>
                  </a:cubicBezTo>
                  <a:cubicBezTo>
                    <a:pt x="36" y="70"/>
                    <a:pt x="34" y="74"/>
                    <a:pt x="32" y="79"/>
                  </a:cubicBezTo>
                  <a:cubicBezTo>
                    <a:pt x="32" y="79"/>
                    <a:pt x="32" y="78"/>
                    <a:pt x="32" y="78"/>
                  </a:cubicBezTo>
                  <a:cubicBezTo>
                    <a:pt x="31" y="78"/>
                    <a:pt x="31" y="78"/>
                    <a:pt x="30" y="79"/>
                  </a:cubicBezTo>
                  <a:cubicBezTo>
                    <a:pt x="30" y="77"/>
                    <a:pt x="30" y="76"/>
                    <a:pt x="30" y="74"/>
                  </a:cubicBezTo>
                  <a:cubicBezTo>
                    <a:pt x="30" y="73"/>
                    <a:pt x="30" y="71"/>
                    <a:pt x="30" y="70"/>
                  </a:cubicBezTo>
                  <a:cubicBezTo>
                    <a:pt x="30" y="70"/>
                    <a:pt x="30" y="69"/>
                    <a:pt x="30" y="69"/>
                  </a:cubicBezTo>
                  <a:cubicBezTo>
                    <a:pt x="29" y="69"/>
                    <a:pt x="28" y="70"/>
                    <a:pt x="25" y="71"/>
                  </a:cubicBezTo>
                  <a:cubicBezTo>
                    <a:pt x="25" y="71"/>
                    <a:pt x="24" y="72"/>
                    <a:pt x="24" y="72"/>
                  </a:cubicBezTo>
                  <a:cubicBezTo>
                    <a:pt x="24" y="75"/>
                    <a:pt x="23" y="77"/>
                    <a:pt x="22" y="81"/>
                  </a:cubicBezTo>
                  <a:cubicBezTo>
                    <a:pt x="22" y="82"/>
                    <a:pt x="21" y="83"/>
                    <a:pt x="20" y="84"/>
                  </a:cubicBezTo>
                  <a:cubicBezTo>
                    <a:pt x="19" y="85"/>
                    <a:pt x="19" y="86"/>
                    <a:pt x="20" y="86"/>
                  </a:cubicBezTo>
                  <a:cubicBezTo>
                    <a:pt x="21" y="86"/>
                    <a:pt x="21" y="86"/>
                    <a:pt x="22" y="85"/>
                  </a:cubicBezTo>
                  <a:cubicBezTo>
                    <a:pt x="23" y="85"/>
                    <a:pt x="23" y="84"/>
                    <a:pt x="23" y="82"/>
                  </a:cubicBezTo>
                  <a:cubicBezTo>
                    <a:pt x="24" y="82"/>
                    <a:pt x="24" y="79"/>
                    <a:pt x="25" y="75"/>
                  </a:cubicBezTo>
                  <a:cubicBezTo>
                    <a:pt x="25" y="74"/>
                    <a:pt x="26" y="74"/>
                    <a:pt x="26" y="74"/>
                  </a:cubicBezTo>
                  <a:cubicBezTo>
                    <a:pt x="27" y="74"/>
                    <a:pt x="27" y="74"/>
                    <a:pt x="27" y="74"/>
                  </a:cubicBezTo>
                  <a:cubicBezTo>
                    <a:pt x="28" y="76"/>
                    <a:pt x="29" y="77"/>
                    <a:pt x="29" y="79"/>
                  </a:cubicBezTo>
                  <a:cubicBezTo>
                    <a:pt x="29" y="79"/>
                    <a:pt x="29" y="79"/>
                    <a:pt x="28" y="80"/>
                  </a:cubicBezTo>
                  <a:cubicBezTo>
                    <a:pt x="28" y="80"/>
                    <a:pt x="27" y="81"/>
                    <a:pt x="27" y="81"/>
                  </a:cubicBezTo>
                  <a:cubicBezTo>
                    <a:pt x="27" y="82"/>
                    <a:pt x="28" y="82"/>
                    <a:pt x="28" y="82"/>
                  </a:cubicBezTo>
                  <a:cubicBezTo>
                    <a:pt x="29" y="81"/>
                    <a:pt x="30" y="81"/>
                    <a:pt x="31" y="81"/>
                  </a:cubicBezTo>
                  <a:cubicBezTo>
                    <a:pt x="29" y="86"/>
                    <a:pt x="26" y="92"/>
                    <a:pt x="24" y="97"/>
                  </a:cubicBezTo>
                  <a:cubicBezTo>
                    <a:pt x="23" y="98"/>
                    <a:pt x="23" y="98"/>
                    <a:pt x="24" y="98"/>
                  </a:cubicBezTo>
                  <a:cubicBezTo>
                    <a:pt x="25" y="98"/>
                    <a:pt x="26" y="98"/>
                    <a:pt x="26" y="97"/>
                  </a:cubicBezTo>
                  <a:cubicBezTo>
                    <a:pt x="27" y="97"/>
                    <a:pt x="27" y="96"/>
                    <a:pt x="27" y="95"/>
                  </a:cubicBezTo>
                  <a:cubicBezTo>
                    <a:pt x="28" y="92"/>
                    <a:pt x="30" y="88"/>
                    <a:pt x="32" y="84"/>
                  </a:cubicBezTo>
                  <a:cubicBezTo>
                    <a:pt x="32" y="83"/>
                    <a:pt x="33" y="83"/>
                    <a:pt x="33" y="82"/>
                  </a:cubicBezTo>
                  <a:cubicBezTo>
                    <a:pt x="35" y="82"/>
                    <a:pt x="36" y="83"/>
                    <a:pt x="37" y="84"/>
                  </a:cubicBezTo>
                  <a:cubicBezTo>
                    <a:pt x="38" y="85"/>
                    <a:pt x="39" y="86"/>
                    <a:pt x="40" y="87"/>
                  </a:cubicBezTo>
                  <a:cubicBezTo>
                    <a:pt x="40" y="87"/>
                    <a:pt x="40" y="88"/>
                    <a:pt x="40" y="89"/>
                  </a:cubicBezTo>
                  <a:cubicBezTo>
                    <a:pt x="39" y="90"/>
                    <a:pt x="38" y="91"/>
                    <a:pt x="37" y="92"/>
                  </a:cubicBezTo>
                  <a:cubicBezTo>
                    <a:pt x="37" y="92"/>
                    <a:pt x="37" y="92"/>
                    <a:pt x="38" y="92"/>
                  </a:cubicBezTo>
                  <a:cubicBezTo>
                    <a:pt x="38" y="92"/>
                    <a:pt x="38" y="92"/>
                    <a:pt x="39" y="92"/>
                  </a:cubicBezTo>
                  <a:cubicBezTo>
                    <a:pt x="41" y="91"/>
                    <a:pt x="42" y="91"/>
                    <a:pt x="43" y="91"/>
                  </a:cubicBezTo>
                  <a:cubicBezTo>
                    <a:pt x="44" y="91"/>
                    <a:pt x="45" y="91"/>
                    <a:pt x="45" y="90"/>
                  </a:cubicBezTo>
                  <a:cubicBezTo>
                    <a:pt x="45" y="90"/>
                    <a:pt x="45" y="89"/>
                    <a:pt x="45" y="87"/>
                  </a:cubicBezTo>
                  <a:cubicBezTo>
                    <a:pt x="44" y="86"/>
                    <a:pt x="44" y="85"/>
                    <a:pt x="43" y="84"/>
                  </a:cubicBezTo>
                  <a:cubicBezTo>
                    <a:pt x="41" y="83"/>
                    <a:pt x="40" y="82"/>
                    <a:pt x="37" y="80"/>
                  </a:cubicBezTo>
                  <a:cubicBezTo>
                    <a:pt x="36" y="80"/>
                    <a:pt x="35" y="79"/>
                    <a:pt x="34" y="79"/>
                  </a:cubicBezTo>
                  <a:close/>
                  <a:moveTo>
                    <a:pt x="252" y="73"/>
                  </a:moveTo>
                  <a:cubicBezTo>
                    <a:pt x="252" y="73"/>
                    <a:pt x="252" y="74"/>
                    <a:pt x="252" y="74"/>
                  </a:cubicBezTo>
                  <a:cubicBezTo>
                    <a:pt x="255" y="77"/>
                    <a:pt x="257" y="79"/>
                    <a:pt x="259" y="81"/>
                  </a:cubicBezTo>
                  <a:cubicBezTo>
                    <a:pt x="259" y="82"/>
                    <a:pt x="258" y="82"/>
                    <a:pt x="259" y="82"/>
                  </a:cubicBezTo>
                  <a:cubicBezTo>
                    <a:pt x="259" y="83"/>
                    <a:pt x="260" y="83"/>
                    <a:pt x="261" y="83"/>
                  </a:cubicBezTo>
                  <a:cubicBezTo>
                    <a:pt x="261" y="83"/>
                    <a:pt x="262" y="82"/>
                    <a:pt x="262" y="82"/>
                  </a:cubicBezTo>
                  <a:cubicBezTo>
                    <a:pt x="262" y="82"/>
                    <a:pt x="262" y="82"/>
                    <a:pt x="262" y="82"/>
                  </a:cubicBezTo>
                  <a:cubicBezTo>
                    <a:pt x="264" y="81"/>
                    <a:pt x="265" y="79"/>
                    <a:pt x="268" y="78"/>
                  </a:cubicBezTo>
                  <a:cubicBezTo>
                    <a:pt x="268" y="77"/>
                    <a:pt x="269" y="77"/>
                    <a:pt x="270" y="77"/>
                  </a:cubicBezTo>
                  <a:cubicBezTo>
                    <a:pt x="270" y="77"/>
                    <a:pt x="271" y="77"/>
                    <a:pt x="271" y="76"/>
                  </a:cubicBezTo>
                  <a:cubicBezTo>
                    <a:pt x="271" y="75"/>
                    <a:pt x="271" y="74"/>
                    <a:pt x="270" y="72"/>
                  </a:cubicBezTo>
                  <a:cubicBezTo>
                    <a:pt x="270" y="72"/>
                    <a:pt x="270" y="71"/>
                    <a:pt x="269" y="71"/>
                  </a:cubicBezTo>
                  <a:cubicBezTo>
                    <a:pt x="268" y="70"/>
                    <a:pt x="266" y="69"/>
                    <a:pt x="265" y="68"/>
                  </a:cubicBezTo>
                  <a:cubicBezTo>
                    <a:pt x="264" y="68"/>
                    <a:pt x="264" y="67"/>
                    <a:pt x="263" y="67"/>
                  </a:cubicBezTo>
                  <a:cubicBezTo>
                    <a:pt x="263" y="67"/>
                    <a:pt x="263" y="67"/>
                    <a:pt x="263" y="67"/>
                  </a:cubicBezTo>
                  <a:cubicBezTo>
                    <a:pt x="264" y="67"/>
                    <a:pt x="265" y="67"/>
                    <a:pt x="265" y="67"/>
                  </a:cubicBezTo>
                  <a:cubicBezTo>
                    <a:pt x="266" y="67"/>
                    <a:pt x="266" y="67"/>
                    <a:pt x="266" y="67"/>
                  </a:cubicBezTo>
                  <a:cubicBezTo>
                    <a:pt x="267" y="67"/>
                    <a:pt x="267" y="67"/>
                    <a:pt x="267" y="67"/>
                  </a:cubicBezTo>
                  <a:cubicBezTo>
                    <a:pt x="267" y="67"/>
                    <a:pt x="268" y="67"/>
                    <a:pt x="268" y="66"/>
                  </a:cubicBezTo>
                  <a:cubicBezTo>
                    <a:pt x="269" y="67"/>
                    <a:pt x="270" y="68"/>
                    <a:pt x="271" y="69"/>
                  </a:cubicBezTo>
                  <a:cubicBezTo>
                    <a:pt x="272" y="71"/>
                    <a:pt x="274" y="72"/>
                    <a:pt x="275" y="73"/>
                  </a:cubicBezTo>
                  <a:cubicBezTo>
                    <a:pt x="275" y="74"/>
                    <a:pt x="275" y="74"/>
                    <a:pt x="276" y="74"/>
                  </a:cubicBezTo>
                  <a:cubicBezTo>
                    <a:pt x="276" y="74"/>
                    <a:pt x="276" y="73"/>
                    <a:pt x="276" y="72"/>
                  </a:cubicBezTo>
                  <a:cubicBezTo>
                    <a:pt x="276" y="72"/>
                    <a:pt x="276" y="72"/>
                    <a:pt x="276" y="71"/>
                  </a:cubicBezTo>
                  <a:cubicBezTo>
                    <a:pt x="276" y="71"/>
                    <a:pt x="275" y="70"/>
                    <a:pt x="275" y="70"/>
                  </a:cubicBezTo>
                  <a:cubicBezTo>
                    <a:pt x="273" y="69"/>
                    <a:pt x="272" y="67"/>
                    <a:pt x="270" y="66"/>
                  </a:cubicBezTo>
                  <a:cubicBezTo>
                    <a:pt x="269" y="65"/>
                    <a:pt x="267" y="63"/>
                    <a:pt x="266" y="62"/>
                  </a:cubicBezTo>
                  <a:cubicBezTo>
                    <a:pt x="265" y="61"/>
                    <a:pt x="264" y="60"/>
                    <a:pt x="263" y="59"/>
                  </a:cubicBezTo>
                  <a:cubicBezTo>
                    <a:pt x="262" y="58"/>
                    <a:pt x="262" y="58"/>
                    <a:pt x="262" y="59"/>
                  </a:cubicBezTo>
                  <a:cubicBezTo>
                    <a:pt x="262" y="60"/>
                    <a:pt x="262" y="60"/>
                    <a:pt x="262" y="61"/>
                  </a:cubicBezTo>
                  <a:cubicBezTo>
                    <a:pt x="262" y="61"/>
                    <a:pt x="262" y="62"/>
                    <a:pt x="263" y="62"/>
                  </a:cubicBezTo>
                  <a:cubicBezTo>
                    <a:pt x="264" y="63"/>
                    <a:pt x="265" y="64"/>
                    <a:pt x="266" y="65"/>
                  </a:cubicBezTo>
                  <a:cubicBezTo>
                    <a:pt x="265" y="65"/>
                    <a:pt x="264" y="65"/>
                    <a:pt x="263" y="65"/>
                  </a:cubicBezTo>
                  <a:cubicBezTo>
                    <a:pt x="262" y="65"/>
                    <a:pt x="262" y="66"/>
                    <a:pt x="262" y="66"/>
                  </a:cubicBezTo>
                  <a:cubicBezTo>
                    <a:pt x="262" y="65"/>
                    <a:pt x="262" y="65"/>
                    <a:pt x="262" y="65"/>
                  </a:cubicBezTo>
                  <a:cubicBezTo>
                    <a:pt x="261" y="65"/>
                    <a:pt x="261" y="64"/>
                    <a:pt x="261" y="63"/>
                  </a:cubicBezTo>
                  <a:cubicBezTo>
                    <a:pt x="261" y="63"/>
                    <a:pt x="261" y="63"/>
                    <a:pt x="261" y="63"/>
                  </a:cubicBezTo>
                  <a:cubicBezTo>
                    <a:pt x="260" y="63"/>
                    <a:pt x="260" y="63"/>
                    <a:pt x="260" y="64"/>
                  </a:cubicBezTo>
                  <a:cubicBezTo>
                    <a:pt x="260" y="64"/>
                    <a:pt x="260" y="64"/>
                    <a:pt x="260" y="65"/>
                  </a:cubicBezTo>
                  <a:cubicBezTo>
                    <a:pt x="259" y="65"/>
                    <a:pt x="259" y="65"/>
                    <a:pt x="259" y="66"/>
                  </a:cubicBezTo>
                  <a:cubicBezTo>
                    <a:pt x="257" y="67"/>
                    <a:pt x="256" y="68"/>
                    <a:pt x="255" y="68"/>
                  </a:cubicBezTo>
                  <a:cubicBezTo>
                    <a:pt x="254" y="69"/>
                    <a:pt x="254" y="69"/>
                    <a:pt x="253" y="70"/>
                  </a:cubicBezTo>
                  <a:cubicBezTo>
                    <a:pt x="252" y="70"/>
                    <a:pt x="251" y="70"/>
                    <a:pt x="251" y="71"/>
                  </a:cubicBezTo>
                  <a:cubicBezTo>
                    <a:pt x="251" y="72"/>
                    <a:pt x="250" y="72"/>
                    <a:pt x="250" y="73"/>
                  </a:cubicBezTo>
                  <a:cubicBezTo>
                    <a:pt x="250" y="73"/>
                    <a:pt x="250" y="73"/>
                    <a:pt x="251" y="73"/>
                  </a:cubicBezTo>
                  <a:cubicBezTo>
                    <a:pt x="251" y="73"/>
                    <a:pt x="251" y="73"/>
                    <a:pt x="252" y="73"/>
                  </a:cubicBezTo>
                  <a:close/>
                  <a:moveTo>
                    <a:pt x="260" y="79"/>
                  </a:moveTo>
                  <a:cubicBezTo>
                    <a:pt x="260" y="79"/>
                    <a:pt x="259" y="78"/>
                    <a:pt x="258" y="77"/>
                  </a:cubicBezTo>
                  <a:cubicBezTo>
                    <a:pt x="256" y="75"/>
                    <a:pt x="254" y="74"/>
                    <a:pt x="253" y="72"/>
                  </a:cubicBezTo>
                  <a:cubicBezTo>
                    <a:pt x="253" y="72"/>
                    <a:pt x="254" y="72"/>
                    <a:pt x="255" y="71"/>
                  </a:cubicBezTo>
                  <a:cubicBezTo>
                    <a:pt x="255" y="71"/>
                    <a:pt x="255" y="71"/>
                    <a:pt x="255" y="71"/>
                  </a:cubicBezTo>
                  <a:cubicBezTo>
                    <a:pt x="255" y="71"/>
                    <a:pt x="255" y="72"/>
                    <a:pt x="256" y="72"/>
                  </a:cubicBezTo>
                  <a:cubicBezTo>
                    <a:pt x="258" y="74"/>
                    <a:pt x="259" y="75"/>
                    <a:pt x="261" y="76"/>
                  </a:cubicBezTo>
                  <a:cubicBezTo>
                    <a:pt x="261" y="77"/>
                    <a:pt x="261" y="77"/>
                    <a:pt x="262" y="76"/>
                  </a:cubicBezTo>
                  <a:cubicBezTo>
                    <a:pt x="262" y="76"/>
                    <a:pt x="262" y="75"/>
                    <a:pt x="261" y="75"/>
                  </a:cubicBezTo>
                  <a:cubicBezTo>
                    <a:pt x="261" y="74"/>
                    <a:pt x="260" y="74"/>
                    <a:pt x="259" y="73"/>
                  </a:cubicBezTo>
                  <a:cubicBezTo>
                    <a:pt x="258" y="72"/>
                    <a:pt x="257" y="71"/>
                    <a:pt x="256" y="70"/>
                  </a:cubicBezTo>
                  <a:cubicBezTo>
                    <a:pt x="256" y="70"/>
                    <a:pt x="257" y="70"/>
                    <a:pt x="257" y="69"/>
                  </a:cubicBezTo>
                  <a:cubicBezTo>
                    <a:pt x="257" y="69"/>
                    <a:pt x="258" y="69"/>
                    <a:pt x="258" y="69"/>
                  </a:cubicBezTo>
                  <a:cubicBezTo>
                    <a:pt x="258" y="69"/>
                    <a:pt x="258" y="69"/>
                    <a:pt x="259" y="70"/>
                  </a:cubicBezTo>
                  <a:cubicBezTo>
                    <a:pt x="260" y="71"/>
                    <a:pt x="262" y="73"/>
                    <a:pt x="263" y="74"/>
                  </a:cubicBezTo>
                  <a:cubicBezTo>
                    <a:pt x="264" y="74"/>
                    <a:pt x="264" y="74"/>
                    <a:pt x="264" y="74"/>
                  </a:cubicBezTo>
                  <a:cubicBezTo>
                    <a:pt x="264" y="73"/>
                    <a:pt x="264" y="73"/>
                    <a:pt x="264" y="72"/>
                  </a:cubicBezTo>
                  <a:cubicBezTo>
                    <a:pt x="264" y="72"/>
                    <a:pt x="263" y="71"/>
                    <a:pt x="262" y="70"/>
                  </a:cubicBezTo>
                  <a:cubicBezTo>
                    <a:pt x="261" y="69"/>
                    <a:pt x="260" y="69"/>
                    <a:pt x="259" y="68"/>
                  </a:cubicBezTo>
                  <a:cubicBezTo>
                    <a:pt x="260" y="67"/>
                    <a:pt x="260" y="67"/>
                    <a:pt x="261" y="67"/>
                  </a:cubicBezTo>
                  <a:cubicBezTo>
                    <a:pt x="261" y="67"/>
                    <a:pt x="261" y="67"/>
                    <a:pt x="261" y="67"/>
                  </a:cubicBezTo>
                  <a:cubicBezTo>
                    <a:pt x="263" y="68"/>
                    <a:pt x="264" y="69"/>
                    <a:pt x="265" y="70"/>
                  </a:cubicBezTo>
                  <a:cubicBezTo>
                    <a:pt x="267" y="72"/>
                    <a:pt x="268" y="73"/>
                    <a:pt x="268" y="73"/>
                  </a:cubicBezTo>
                  <a:cubicBezTo>
                    <a:pt x="268" y="73"/>
                    <a:pt x="268" y="73"/>
                    <a:pt x="268" y="73"/>
                  </a:cubicBezTo>
                  <a:cubicBezTo>
                    <a:pt x="268" y="74"/>
                    <a:pt x="267" y="75"/>
                    <a:pt x="266" y="75"/>
                  </a:cubicBezTo>
                  <a:cubicBezTo>
                    <a:pt x="263" y="78"/>
                    <a:pt x="261" y="79"/>
                    <a:pt x="260" y="80"/>
                  </a:cubicBezTo>
                  <a:cubicBezTo>
                    <a:pt x="260" y="80"/>
                    <a:pt x="260" y="80"/>
                    <a:pt x="260" y="80"/>
                  </a:cubicBezTo>
                  <a:cubicBezTo>
                    <a:pt x="260" y="80"/>
                    <a:pt x="260" y="80"/>
                    <a:pt x="260" y="79"/>
                  </a:cubicBezTo>
                  <a:close/>
                  <a:moveTo>
                    <a:pt x="245" y="84"/>
                  </a:moveTo>
                  <a:cubicBezTo>
                    <a:pt x="244" y="84"/>
                    <a:pt x="242" y="84"/>
                    <a:pt x="241" y="83"/>
                  </a:cubicBezTo>
                  <a:cubicBezTo>
                    <a:pt x="239" y="82"/>
                    <a:pt x="236" y="80"/>
                    <a:pt x="234" y="78"/>
                  </a:cubicBezTo>
                  <a:cubicBezTo>
                    <a:pt x="234" y="78"/>
                    <a:pt x="234" y="78"/>
                    <a:pt x="233" y="79"/>
                  </a:cubicBezTo>
                  <a:cubicBezTo>
                    <a:pt x="234" y="79"/>
                    <a:pt x="234" y="80"/>
                    <a:pt x="235" y="81"/>
                  </a:cubicBezTo>
                  <a:cubicBezTo>
                    <a:pt x="236" y="82"/>
                    <a:pt x="238" y="84"/>
                    <a:pt x="240" y="85"/>
                  </a:cubicBezTo>
                  <a:cubicBezTo>
                    <a:pt x="242" y="86"/>
                    <a:pt x="244" y="86"/>
                    <a:pt x="245" y="87"/>
                  </a:cubicBezTo>
                  <a:cubicBezTo>
                    <a:pt x="245" y="90"/>
                    <a:pt x="245" y="93"/>
                    <a:pt x="245" y="96"/>
                  </a:cubicBezTo>
                  <a:cubicBezTo>
                    <a:pt x="245" y="97"/>
                    <a:pt x="246" y="98"/>
                    <a:pt x="247" y="99"/>
                  </a:cubicBezTo>
                  <a:cubicBezTo>
                    <a:pt x="248" y="101"/>
                    <a:pt x="250" y="102"/>
                    <a:pt x="252" y="104"/>
                  </a:cubicBezTo>
                  <a:cubicBezTo>
                    <a:pt x="253" y="104"/>
                    <a:pt x="253" y="104"/>
                    <a:pt x="253" y="104"/>
                  </a:cubicBezTo>
                  <a:cubicBezTo>
                    <a:pt x="253" y="104"/>
                    <a:pt x="253" y="104"/>
                    <a:pt x="253" y="103"/>
                  </a:cubicBezTo>
                  <a:cubicBezTo>
                    <a:pt x="252" y="101"/>
                    <a:pt x="251" y="99"/>
                    <a:pt x="250" y="97"/>
                  </a:cubicBezTo>
                  <a:cubicBezTo>
                    <a:pt x="249" y="95"/>
                    <a:pt x="249" y="92"/>
                    <a:pt x="248" y="90"/>
                  </a:cubicBezTo>
                  <a:cubicBezTo>
                    <a:pt x="248" y="89"/>
                    <a:pt x="248" y="88"/>
                    <a:pt x="248" y="87"/>
                  </a:cubicBezTo>
                  <a:cubicBezTo>
                    <a:pt x="249" y="87"/>
                    <a:pt x="251" y="86"/>
                    <a:pt x="253" y="86"/>
                  </a:cubicBezTo>
                  <a:cubicBezTo>
                    <a:pt x="254" y="86"/>
                    <a:pt x="255" y="86"/>
                    <a:pt x="256" y="86"/>
                  </a:cubicBezTo>
                  <a:cubicBezTo>
                    <a:pt x="257" y="86"/>
                    <a:pt x="257" y="86"/>
                    <a:pt x="257" y="86"/>
                  </a:cubicBezTo>
                  <a:cubicBezTo>
                    <a:pt x="257" y="85"/>
                    <a:pt x="257" y="84"/>
                    <a:pt x="257" y="83"/>
                  </a:cubicBezTo>
                  <a:cubicBezTo>
                    <a:pt x="257" y="83"/>
                    <a:pt x="256" y="82"/>
                    <a:pt x="256" y="81"/>
                  </a:cubicBezTo>
                  <a:cubicBezTo>
                    <a:pt x="255" y="81"/>
                    <a:pt x="254" y="80"/>
                    <a:pt x="253" y="80"/>
                  </a:cubicBezTo>
                  <a:cubicBezTo>
                    <a:pt x="252" y="79"/>
                    <a:pt x="252" y="78"/>
                    <a:pt x="251" y="78"/>
                  </a:cubicBezTo>
                  <a:cubicBezTo>
                    <a:pt x="251" y="77"/>
                    <a:pt x="251" y="77"/>
                    <a:pt x="251" y="77"/>
                  </a:cubicBezTo>
                  <a:cubicBezTo>
                    <a:pt x="251" y="76"/>
                    <a:pt x="251" y="76"/>
                    <a:pt x="251" y="75"/>
                  </a:cubicBezTo>
                  <a:cubicBezTo>
                    <a:pt x="251" y="75"/>
                    <a:pt x="251" y="74"/>
                    <a:pt x="251" y="74"/>
                  </a:cubicBezTo>
                  <a:cubicBezTo>
                    <a:pt x="251" y="74"/>
                    <a:pt x="250" y="74"/>
                    <a:pt x="250" y="74"/>
                  </a:cubicBezTo>
                  <a:cubicBezTo>
                    <a:pt x="250" y="74"/>
                    <a:pt x="249" y="74"/>
                    <a:pt x="249" y="75"/>
                  </a:cubicBezTo>
                  <a:cubicBezTo>
                    <a:pt x="247" y="75"/>
                    <a:pt x="246" y="75"/>
                    <a:pt x="245" y="75"/>
                  </a:cubicBezTo>
                  <a:cubicBezTo>
                    <a:pt x="243" y="75"/>
                    <a:pt x="242" y="74"/>
                    <a:pt x="240" y="74"/>
                  </a:cubicBezTo>
                  <a:cubicBezTo>
                    <a:pt x="239" y="74"/>
                    <a:pt x="237" y="73"/>
                    <a:pt x="234" y="72"/>
                  </a:cubicBezTo>
                  <a:cubicBezTo>
                    <a:pt x="234" y="72"/>
                    <a:pt x="234" y="72"/>
                    <a:pt x="234" y="72"/>
                  </a:cubicBezTo>
                  <a:cubicBezTo>
                    <a:pt x="234" y="72"/>
                    <a:pt x="234" y="73"/>
                    <a:pt x="235" y="73"/>
                  </a:cubicBezTo>
                  <a:cubicBezTo>
                    <a:pt x="236" y="74"/>
                    <a:pt x="237" y="74"/>
                    <a:pt x="238" y="75"/>
                  </a:cubicBezTo>
                  <a:cubicBezTo>
                    <a:pt x="239" y="76"/>
                    <a:pt x="240" y="76"/>
                    <a:pt x="242" y="77"/>
                  </a:cubicBezTo>
                  <a:cubicBezTo>
                    <a:pt x="243" y="77"/>
                    <a:pt x="244" y="77"/>
                    <a:pt x="246" y="77"/>
                  </a:cubicBezTo>
                  <a:cubicBezTo>
                    <a:pt x="246" y="77"/>
                    <a:pt x="246" y="77"/>
                    <a:pt x="246" y="77"/>
                  </a:cubicBezTo>
                  <a:cubicBezTo>
                    <a:pt x="246" y="80"/>
                    <a:pt x="246" y="82"/>
                    <a:pt x="245" y="84"/>
                  </a:cubicBezTo>
                  <a:close/>
                  <a:moveTo>
                    <a:pt x="251" y="80"/>
                  </a:moveTo>
                  <a:cubicBezTo>
                    <a:pt x="252" y="81"/>
                    <a:pt x="253" y="82"/>
                    <a:pt x="253" y="82"/>
                  </a:cubicBezTo>
                  <a:cubicBezTo>
                    <a:pt x="254" y="82"/>
                    <a:pt x="253" y="83"/>
                    <a:pt x="253" y="83"/>
                  </a:cubicBezTo>
                  <a:cubicBezTo>
                    <a:pt x="251" y="84"/>
                    <a:pt x="249" y="84"/>
                    <a:pt x="247" y="84"/>
                  </a:cubicBezTo>
                  <a:cubicBezTo>
                    <a:pt x="247" y="83"/>
                    <a:pt x="247" y="82"/>
                    <a:pt x="247" y="82"/>
                  </a:cubicBezTo>
                  <a:cubicBezTo>
                    <a:pt x="247" y="80"/>
                    <a:pt x="247" y="78"/>
                    <a:pt x="247" y="77"/>
                  </a:cubicBezTo>
                  <a:cubicBezTo>
                    <a:pt x="248" y="77"/>
                    <a:pt x="248" y="77"/>
                    <a:pt x="249" y="78"/>
                  </a:cubicBezTo>
                  <a:cubicBezTo>
                    <a:pt x="249" y="78"/>
                    <a:pt x="250" y="79"/>
                    <a:pt x="251"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4" name="Freeform 17"/>
            <p:cNvSpPr>
              <a:spLocks noEditPoints="1"/>
            </p:cNvSpPr>
            <p:nvPr/>
          </p:nvSpPr>
          <p:spPr bwMode="auto">
            <a:xfrm>
              <a:off x="3970338" y="2078038"/>
              <a:ext cx="1195388" cy="534988"/>
            </a:xfrm>
            <a:custGeom>
              <a:avLst/>
              <a:gdLst>
                <a:gd name="T0" fmla="*/ 287 w 317"/>
                <a:gd name="T1" fmla="*/ 63 h 142"/>
                <a:gd name="T2" fmla="*/ 293 w 317"/>
                <a:gd name="T3" fmla="*/ 69 h 142"/>
                <a:gd name="T4" fmla="*/ 290 w 317"/>
                <a:gd name="T5" fmla="*/ 73 h 142"/>
                <a:gd name="T6" fmla="*/ 312 w 317"/>
                <a:gd name="T7" fmla="*/ 10 h 142"/>
                <a:gd name="T8" fmla="*/ 301 w 317"/>
                <a:gd name="T9" fmla="*/ 14 h 142"/>
                <a:gd name="T10" fmla="*/ 298 w 317"/>
                <a:gd name="T11" fmla="*/ 0 h 142"/>
                <a:gd name="T12" fmla="*/ 295 w 317"/>
                <a:gd name="T13" fmla="*/ 9 h 142"/>
                <a:gd name="T14" fmla="*/ 309 w 317"/>
                <a:gd name="T15" fmla="*/ 2 h 142"/>
                <a:gd name="T16" fmla="*/ 306 w 317"/>
                <a:gd name="T17" fmla="*/ 17 h 142"/>
                <a:gd name="T18" fmla="*/ 293 w 317"/>
                <a:gd name="T19" fmla="*/ 52 h 142"/>
                <a:gd name="T20" fmla="*/ 300 w 317"/>
                <a:gd name="T21" fmla="*/ 44 h 142"/>
                <a:gd name="T22" fmla="*/ 284 w 317"/>
                <a:gd name="T23" fmla="*/ 47 h 142"/>
                <a:gd name="T24" fmla="*/ 289 w 317"/>
                <a:gd name="T25" fmla="*/ 39 h 142"/>
                <a:gd name="T26" fmla="*/ 291 w 317"/>
                <a:gd name="T27" fmla="*/ 40 h 142"/>
                <a:gd name="T28" fmla="*/ 306 w 317"/>
                <a:gd name="T29" fmla="*/ 42 h 142"/>
                <a:gd name="T30" fmla="*/ 253 w 317"/>
                <a:gd name="T31" fmla="*/ 76 h 142"/>
                <a:gd name="T32" fmla="*/ 273 w 317"/>
                <a:gd name="T33" fmla="*/ 78 h 142"/>
                <a:gd name="T34" fmla="*/ 261 w 317"/>
                <a:gd name="T35" fmla="*/ 105 h 142"/>
                <a:gd name="T36" fmla="*/ 241 w 317"/>
                <a:gd name="T37" fmla="*/ 111 h 142"/>
                <a:gd name="T38" fmla="*/ 236 w 317"/>
                <a:gd name="T39" fmla="*/ 97 h 142"/>
                <a:gd name="T40" fmla="*/ 231 w 317"/>
                <a:gd name="T41" fmla="*/ 93 h 142"/>
                <a:gd name="T42" fmla="*/ 241 w 317"/>
                <a:gd name="T43" fmla="*/ 118 h 142"/>
                <a:gd name="T44" fmla="*/ 213 w 317"/>
                <a:gd name="T45" fmla="*/ 113 h 142"/>
                <a:gd name="T46" fmla="*/ 221 w 317"/>
                <a:gd name="T47" fmla="*/ 100 h 142"/>
                <a:gd name="T48" fmla="*/ 218 w 317"/>
                <a:gd name="T49" fmla="*/ 112 h 142"/>
                <a:gd name="T50" fmla="*/ 207 w 317"/>
                <a:gd name="T51" fmla="*/ 110 h 142"/>
                <a:gd name="T52" fmla="*/ 185 w 317"/>
                <a:gd name="T53" fmla="*/ 112 h 142"/>
                <a:gd name="T54" fmla="*/ 190 w 317"/>
                <a:gd name="T55" fmla="*/ 138 h 142"/>
                <a:gd name="T56" fmla="*/ 189 w 317"/>
                <a:gd name="T57" fmla="*/ 116 h 142"/>
                <a:gd name="T58" fmla="*/ 159 w 317"/>
                <a:gd name="T59" fmla="*/ 135 h 142"/>
                <a:gd name="T60" fmla="*/ 161 w 317"/>
                <a:gd name="T61" fmla="*/ 132 h 142"/>
                <a:gd name="T62" fmla="*/ 162 w 317"/>
                <a:gd name="T63" fmla="*/ 115 h 142"/>
                <a:gd name="T64" fmla="*/ 163 w 317"/>
                <a:gd name="T65" fmla="*/ 120 h 142"/>
                <a:gd name="T66" fmla="*/ 164 w 317"/>
                <a:gd name="T67" fmla="*/ 127 h 142"/>
                <a:gd name="T68" fmla="*/ 155 w 317"/>
                <a:gd name="T69" fmla="*/ 140 h 142"/>
                <a:gd name="T70" fmla="*/ 147 w 317"/>
                <a:gd name="T71" fmla="*/ 141 h 142"/>
                <a:gd name="T72" fmla="*/ 137 w 317"/>
                <a:gd name="T73" fmla="*/ 131 h 142"/>
                <a:gd name="T74" fmla="*/ 139 w 317"/>
                <a:gd name="T75" fmla="*/ 123 h 142"/>
                <a:gd name="T76" fmla="*/ 129 w 317"/>
                <a:gd name="T77" fmla="*/ 112 h 142"/>
                <a:gd name="T78" fmla="*/ 105 w 317"/>
                <a:gd name="T79" fmla="*/ 104 h 142"/>
                <a:gd name="T80" fmla="*/ 82 w 317"/>
                <a:gd name="T81" fmla="*/ 115 h 142"/>
                <a:gd name="T82" fmla="*/ 85 w 317"/>
                <a:gd name="T83" fmla="*/ 113 h 142"/>
                <a:gd name="T84" fmla="*/ 95 w 317"/>
                <a:gd name="T85" fmla="*/ 99 h 142"/>
                <a:gd name="T86" fmla="*/ 93 w 317"/>
                <a:gd name="T87" fmla="*/ 104 h 142"/>
                <a:gd name="T88" fmla="*/ 91 w 317"/>
                <a:gd name="T89" fmla="*/ 110 h 142"/>
                <a:gd name="T90" fmla="*/ 76 w 317"/>
                <a:gd name="T91" fmla="*/ 117 h 142"/>
                <a:gd name="T92" fmla="*/ 73 w 317"/>
                <a:gd name="T93" fmla="*/ 94 h 142"/>
                <a:gd name="T94" fmla="*/ 70 w 317"/>
                <a:gd name="T95" fmla="*/ 82 h 142"/>
                <a:gd name="T96" fmla="*/ 75 w 317"/>
                <a:gd name="T97" fmla="*/ 100 h 142"/>
                <a:gd name="T98" fmla="*/ 66 w 317"/>
                <a:gd name="T99" fmla="*/ 113 h 142"/>
                <a:gd name="T100" fmla="*/ 66 w 317"/>
                <a:gd name="T101" fmla="*/ 98 h 142"/>
                <a:gd name="T102" fmla="*/ 62 w 317"/>
                <a:gd name="T103" fmla="*/ 82 h 142"/>
                <a:gd name="T104" fmla="*/ 45 w 317"/>
                <a:gd name="T105" fmla="*/ 88 h 142"/>
                <a:gd name="T106" fmla="*/ 48 w 317"/>
                <a:gd name="T107" fmla="*/ 57 h 142"/>
                <a:gd name="T108" fmla="*/ 50 w 317"/>
                <a:gd name="T109" fmla="*/ 60 h 142"/>
                <a:gd name="T110" fmla="*/ 42 w 317"/>
                <a:gd name="T111" fmla="*/ 47 h 142"/>
                <a:gd name="T112" fmla="*/ 24 w 317"/>
                <a:gd name="T113" fmla="*/ 33 h 142"/>
                <a:gd name="T114" fmla="*/ 36 w 317"/>
                <a:gd name="T115" fmla="*/ 36 h 142"/>
                <a:gd name="T116" fmla="*/ 20 w 317"/>
                <a:gd name="T117" fmla="*/ 30 h 142"/>
                <a:gd name="T118" fmla="*/ 6 w 317"/>
                <a:gd name="T119" fmla="*/ 9 h 142"/>
                <a:gd name="T120" fmla="*/ 10 w 317"/>
                <a:gd name="T121" fmla="*/ 18 h 142"/>
                <a:gd name="T122" fmla="*/ 27 w 317"/>
                <a:gd name="T123" fmla="*/ 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7" h="142">
                  <a:moveTo>
                    <a:pt x="287" y="78"/>
                  </a:moveTo>
                  <a:cubicBezTo>
                    <a:pt x="265" y="62"/>
                    <a:pt x="265" y="62"/>
                    <a:pt x="265" y="62"/>
                  </a:cubicBezTo>
                  <a:cubicBezTo>
                    <a:pt x="269" y="57"/>
                    <a:pt x="269" y="57"/>
                    <a:pt x="269" y="57"/>
                  </a:cubicBezTo>
                  <a:cubicBezTo>
                    <a:pt x="280" y="60"/>
                    <a:pt x="280" y="60"/>
                    <a:pt x="280" y="60"/>
                  </a:cubicBezTo>
                  <a:cubicBezTo>
                    <a:pt x="281" y="61"/>
                    <a:pt x="282" y="61"/>
                    <a:pt x="284" y="62"/>
                  </a:cubicBezTo>
                  <a:cubicBezTo>
                    <a:pt x="285" y="62"/>
                    <a:pt x="286" y="63"/>
                    <a:pt x="287" y="63"/>
                  </a:cubicBezTo>
                  <a:cubicBezTo>
                    <a:pt x="286" y="63"/>
                    <a:pt x="285" y="62"/>
                    <a:pt x="284" y="61"/>
                  </a:cubicBezTo>
                  <a:cubicBezTo>
                    <a:pt x="283" y="61"/>
                    <a:pt x="282" y="60"/>
                    <a:pt x="280" y="59"/>
                  </a:cubicBezTo>
                  <a:cubicBezTo>
                    <a:pt x="272" y="53"/>
                    <a:pt x="272" y="53"/>
                    <a:pt x="272" y="53"/>
                  </a:cubicBezTo>
                  <a:cubicBezTo>
                    <a:pt x="276" y="48"/>
                    <a:pt x="276" y="48"/>
                    <a:pt x="276" y="48"/>
                  </a:cubicBezTo>
                  <a:cubicBezTo>
                    <a:pt x="297" y="64"/>
                    <a:pt x="297" y="64"/>
                    <a:pt x="297" y="64"/>
                  </a:cubicBezTo>
                  <a:cubicBezTo>
                    <a:pt x="293" y="69"/>
                    <a:pt x="293" y="69"/>
                    <a:pt x="293" y="69"/>
                  </a:cubicBezTo>
                  <a:cubicBezTo>
                    <a:pt x="282" y="65"/>
                    <a:pt x="282" y="65"/>
                    <a:pt x="282" y="65"/>
                  </a:cubicBezTo>
                  <a:cubicBezTo>
                    <a:pt x="281" y="65"/>
                    <a:pt x="280" y="64"/>
                    <a:pt x="278" y="64"/>
                  </a:cubicBezTo>
                  <a:cubicBezTo>
                    <a:pt x="277" y="63"/>
                    <a:pt x="276" y="63"/>
                    <a:pt x="275" y="62"/>
                  </a:cubicBezTo>
                  <a:cubicBezTo>
                    <a:pt x="276" y="63"/>
                    <a:pt x="278" y="64"/>
                    <a:pt x="279" y="65"/>
                  </a:cubicBezTo>
                  <a:cubicBezTo>
                    <a:pt x="281" y="66"/>
                    <a:pt x="282" y="67"/>
                    <a:pt x="283" y="68"/>
                  </a:cubicBezTo>
                  <a:cubicBezTo>
                    <a:pt x="290" y="73"/>
                    <a:pt x="290" y="73"/>
                    <a:pt x="290" y="73"/>
                  </a:cubicBezTo>
                  <a:cubicBezTo>
                    <a:pt x="287" y="78"/>
                    <a:pt x="287" y="78"/>
                    <a:pt x="287" y="78"/>
                  </a:cubicBezTo>
                  <a:close/>
                  <a:moveTo>
                    <a:pt x="306" y="17"/>
                  </a:moveTo>
                  <a:cubicBezTo>
                    <a:pt x="307" y="11"/>
                    <a:pt x="307" y="11"/>
                    <a:pt x="307" y="11"/>
                  </a:cubicBezTo>
                  <a:cubicBezTo>
                    <a:pt x="309" y="12"/>
                    <a:pt x="309" y="12"/>
                    <a:pt x="309" y="12"/>
                  </a:cubicBezTo>
                  <a:cubicBezTo>
                    <a:pt x="310" y="12"/>
                    <a:pt x="311" y="12"/>
                    <a:pt x="311" y="12"/>
                  </a:cubicBezTo>
                  <a:cubicBezTo>
                    <a:pt x="312" y="11"/>
                    <a:pt x="312" y="11"/>
                    <a:pt x="312" y="10"/>
                  </a:cubicBezTo>
                  <a:cubicBezTo>
                    <a:pt x="312" y="10"/>
                    <a:pt x="312" y="9"/>
                    <a:pt x="312" y="9"/>
                  </a:cubicBezTo>
                  <a:cubicBezTo>
                    <a:pt x="311" y="8"/>
                    <a:pt x="311" y="8"/>
                    <a:pt x="310" y="8"/>
                  </a:cubicBezTo>
                  <a:cubicBezTo>
                    <a:pt x="310" y="8"/>
                    <a:pt x="309" y="8"/>
                    <a:pt x="309" y="8"/>
                  </a:cubicBezTo>
                  <a:cubicBezTo>
                    <a:pt x="308" y="9"/>
                    <a:pt x="307" y="9"/>
                    <a:pt x="307" y="10"/>
                  </a:cubicBezTo>
                  <a:cubicBezTo>
                    <a:pt x="306" y="10"/>
                    <a:pt x="306" y="10"/>
                    <a:pt x="305" y="11"/>
                  </a:cubicBezTo>
                  <a:cubicBezTo>
                    <a:pt x="304" y="12"/>
                    <a:pt x="302" y="13"/>
                    <a:pt x="301" y="14"/>
                  </a:cubicBezTo>
                  <a:cubicBezTo>
                    <a:pt x="300" y="15"/>
                    <a:pt x="300" y="15"/>
                    <a:pt x="299" y="15"/>
                  </a:cubicBezTo>
                  <a:cubicBezTo>
                    <a:pt x="298" y="15"/>
                    <a:pt x="297" y="15"/>
                    <a:pt x="295" y="15"/>
                  </a:cubicBezTo>
                  <a:cubicBezTo>
                    <a:pt x="293" y="15"/>
                    <a:pt x="292" y="14"/>
                    <a:pt x="291" y="12"/>
                  </a:cubicBezTo>
                  <a:cubicBezTo>
                    <a:pt x="290" y="11"/>
                    <a:pt x="289" y="9"/>
                    <a:pt x="290" y="6"/>
                  </a:cubicBezTo>
                  <a:cubicBezTo>
                    <a:pt x="290" y="4"/>
                    <a:pt x="291" y="2"/>
                    <a:pt x="292" y="1"/>
                  </a:cubicBezTo>
                  <a:cubicBezTo>
                    <a:pt x="294" y="0"/>
                    <a:pt x="296" y="0"/>
                    <a:pt x="298" y="0"/>
                  </a:cubicBezTo>
                  <a:cubicBezTo>
                    <a:pt x="300" y="0"/>
                    <a:pt x="300" y="0"/>
                    <a:pt x="300" y="0"/>
                  </a:cubicBezTo>
                  <a:cubicBezTo>
                    <a:pt x="299" y="6"/>
                    <a:pt x="299" y="6"/>
                    <a:pt x="299" y="6"/>
                  </a:cubicBezTo>
                  <a:cubicBezTo>
                    <a:pt x="297" y="6"/>
                    <a:pt x="297" y="6"/>
                    <a:pt x="297" y="6"/>
                  </a:cubicBezTo>
                  <a:cubicBezTo>
                    <a:pt x="296" y="6"/>
                    <a:pt x="296" y="6"/>
                    <a:pt x="295" y="6"/>
                  </a:cubicBezTo>
                  <a:cubicBezTo>
                    <a:pt x="295" y="6"/>
                    <a:pt x="294" y="7"/>
                    <a:pt x="294" y="7"/>
                  </a:cubicBezTo>
                  <a:cubicBezTo>
                    <a:pt x="294" y="8"/>
                    <a:pt x="294" y="8"/>
                    <a:pt x="295" y="9"/>
                  </a:cubicBezTo>
                  <a:cubicBezTo>
                    <a:pt x="295" y="9"/>
                    <a:pt x="295" y="9"/>
                    <a:pt x="296" y="9"/>
                  </a:cubicBezTo>
                  <a:cubicBezTo>
                    <a:pt x="297" y="9"/>
                    <a:pt x="299" y="8"/>
                    <a:pt x="301" y="6"/>
                  </a:cubicBezTo>
                  <a:cubicBezTo>
                    <a:pt x="302" y="6"/>
                    <a:pt x="302" y="6"/>
                    <a:pt x="302" y="6"/>
                  </a:cubicBezTo>
                  <a:cubicBezTo>
                    <a:pt x="302" y="6"/>
                    <a:pt x="302" y="6"/>
                    <a:pt x="302" y="6"/>
                  </a:cubicBezTo>
                  <a:cubicBezTo>
                    <a:pt x="304" y="4"/>
                    <a:pt x="306" y="3"/>
                    <a:pt x="307" y="2"/>
                  </a:cubicBezTo>
                  <a:cubicBezTo>
                    <a:pt x="307" y="2"/>
                    <a:pt x="308" y="2"/>
                    <a:pt x="309" y="2"/>
                  </a:cubicBezTo>
                  <a:cubicBezTo>
                    <a:pt x="309" y="2"/>
                    <a:pt x="310" y="2"/>
                    <a:pt x="311" y="2"/>
                  </a:cubicBezTo>
                  <a:cubicBezTo>
                    <a:pt x="313" y="2"/>
                    <a:pt x="315" y="3"/>
                    <a:pt x="316" y="5"/>
                  </a:cubicBezTo>
                  <a:cubicBezTo>
                    <a:pt x="317" y="7"/>
                    <a:pt x="317" y="9"/>
                    <a:pt x="317" y="11"/>
                  </a:cubicBezTo>
                  <a:cubicBezTo>
                    <a:pt x="316" y="14"/>
                    <a:pt x="315" y="16"/>
                    <a:pt x="314" y="17"/>
                  </a:cubicBezTo>
                  <a:cubicBezTo>
                    <a:pt x="312" y="18"/>
                    <a:pt x="310" y="18"/>
                    <a:pt x="308" y="18"/>
                  </a:cubicBezTo>
                  <a:cubicBezTo>
                    <a:pt x="306" y="17"/>
                    <a:pt x="306" y="17"/>
                    <a:pt x="306" y="17"/>
                  </a:cubicBezTo>
                  <a:close/>
                  <a:moveTo>
                    <a:pt x="311" y="33"/>
                  </a:moveTo>
                  <a:cubicBezTo>
                    <a:pt x="286" y="25"/>
                    <a:pt x="286" y="25"/>
                    <a:pt x="286" y="25"/>
                  </a:cubicBezTo>
                  <a:cubicBezTo>
                    <a:pt x="287" y="19"/>
                    <a:pt x="287" y="19"/>
                    <a:pt x="287" y="19"/>
                  </a:cubicBezTo>
                  <a:cubicBezTo>
                    <a:pt x="313" y="28"/>
                    <a:pt x="313" y="28"/>
                    <a:pt x="313" y="28"/>
                  </a:cubicBezTo>
                  <a:cubicBezTo>
                    <a:pt x="311" y="33"/>
                    <a:pt x="311" y="33"/>
                    <a:pt x="311" y="33"/>
                  </a:cubicBezTo>
                  <a:close/>
                  <a:moveTo>
                    <a:pt x="293" y="52"/>
                  </a:moveTo>
                  <a:cubicBezTo>
                    <a:pt x="296" y="46"/>
                    <a:pt x="296" y="46"/>
                    <a:pt x="296" y="46"/>
                  </a:cubicBezTo>
                  <a:cubicBezTo>
                    <a:pt x="298" y="47"/>
                    <a:pt x="298" y="47"/>
                    <a:pt x="298" y="47"/>
                  </a:cubicBezTo>
                  <a:cubicBezTo>
                    <a:pt x="298" y="48"/>
                    <a:pt x="299" y="48"/>
                    <a:pt x="300" y="48"/>
                  </a:cubicBezTo>
                  <a:cubicBezTo>
                    <a:pt x="300" y="47"/>
                    <a:pt x="301" y="47"/>
                    <a:pt x="301" y="46"/>
                  </a:cubicBezTo>
                  <a:cubicBezTo>
                    <a:pt x="301" y="46"/>
                    <a:pt x="301" y="45"/>
                    <a:pt x="301" y="45"/>
                  </a:cubicBezTo>
                  <a:cubicBezTo>
                    <a:pt x="301" y="44"/>
                    <a:pt x="300" y="44"/>
                    <a:pt x="300" y="44"/>
                  </a:cubicBezTo>
                  <a:cubicBezTo>
                    <a:pt x="299" y="44"/>
                    <a:pt x="299" y="43"/>
                    <a:pt x="298" y="44"/>
                  </a:cubicBezTo>
                  <a:cubicBezTo>
                    <a:pt x="297" y="44"/>
                    <a:pt x="297" y="44"/>
                    <a:pt x="296" y="44"/>
                  </a:cubicBezTo>
                  <a:cubicBezTo>
                    <a:pt x="295" y="44"/>
                    <a:pt x="295" y="45"/>
                    <a:pt x="294" y="45"/>
                  </a:cubicBezTo>
                  <a:cubicBezTo>
                    <a:pt x="292" y="46"/>
                    <a:pt x="291" y="47"/>
                    <a:pt x="289" y="47"/>
                  </a:cubicBezTo>
                  <a:cubicBezTo>
                    <a:pt x="289" y="48"/>
                    <a:pt x="288" y="48"/>
                    <a:pt x="287" y="48"/>
                  </a:cubicBezTo>
                  <a:cubicBezTo>
                    <a:pt x="286" y="48"/>
                    <a:pt x="285" y="48"/>
                    <a:pt x="284" y="47"/>
                  </a:cubicBezTo>
                  <a:cubicBezTo>
                    <a:pt x="282" y="46"/>
                    <a:pt x="280" y="45"/>
                    <a:pt x="280" y="43"/>
                  </a:cubicBezTo>
                  <a:cubicBezTo>
                    <a:pt x="279" y="41"/>
                    <a:pt x="279" y="39"/>
                    <a:pt x="280" y="37"/>
                  </a:cubicBezTo>
                  <a:cubicBezTo>
                    <a:pt x="281" y="35"/>
                    <a:pt x="283" y="33"/>
                    <a:pt x="284" y="33"/>
                  </a:cubicBezTo>
                  <a:cubicBezTo>
                    <a:pt x="286" y="32"/>
                    <a:pt x="287" y="32"/>
                    <a:pt x="290" y="33"/>
                  </a:cubicBezTo>
                  <a:cubicBezTo>
                    <a:pt x="292" y="34"/>
                    <a:pt x="292" y="34"/>
                    <a:pt x="292" y="34"/>
                  </a:cubicBezTo>
                  <a:cubicBezTo>
                    <a:pt x="289" y="39"/>
                    <a:pt x="289" y="39"/>
                    <a:pt x="289" y="39"/>
                  </a:cubicBezTo>
                  <a:cubicBezTo>
                    <a:pt x="288" y="38"/>
                    <a:pt x="288" y="38"/>
                    <a:pt x="288" y="38"/>
                  </a:cubicBezTo>
                  <a:cubicBezTo>
                    <a:pt x="287" y="38"/>
                    <a:pt x="286" y="38"/>
                    <a:pt x="286" y="38"/>
                  </a:cubicBezTo>
                  <a:cubicBezTo>
                    <a:pt x="285" y="38"/>
                    <a:pt x="285" y="38"/>
                    <a:pt x="284" y="39"/>
                  </a:cubicBezTo>
                  <a:cubicBezTo>
                    <a:pt x="284" y="40"/>
                    <a:pt x="284" y="40"/>
                    <a:pt x="284" y="40"/>
                  </a:cubicBezTo>
                  <a:cubicBezTo>
                    <a:pt x="285" y="41"/>
                    <a:pt x="285" y="41"/>
                    <a:pt x="286" y="41"/>
                  </a:cubicBezTo>
                  <a:cubicBezTo>
                    <a:pt x="286" y="42"/>
                    <a:pt x="288" y="41"/>
                    <a:pt x="291" y="40"/>
                  </a:cubicBezTo>
                  <a:cubicBezTo>
                    <a:pt x="292" y="40"/>
                    <a:pt x="292" y="40"/>
                    <a:pt x="292" y="40"/>
                  </a:cubicBezTo>
                  <a:cubicBezTo>
                    <a:pt x="292" y="39"/>
                    <a:pt x="292" y="39"/>
                    <a:pt x="292" y="39"/>
                  </a:cubicBezTo>
                  <a:cubicBezTo>
                    <a:pt x="295" y="38"/>
                    <a:pt x="297" y="37"/>
                    <a:pt x="298" y="37"/>
                  </a:cubicBezTo>
                  <a:cubicBezTo>
                    <a:pt x="298" y="37"/>
                    <a:pt x="299" y="37"/>
                    <a:pt x="300" y="37"/>
                  </a:cubicBezTo>
                  <a:cubicBezTo>
                    <a:pt x="300" y="38"/>
                    <a:pt x="301" y="38"/>
                    <a:pt x="302" y="38"/>
                  </a:cubicBezTo>
                  <a:cubicBezTo>
                    <a:pt x="304" y="39"/>
                    <a:pt x="305" y="40"/>
                    <a:pt x="306" y="42"/>
                  </a:cubicBezTo>
                  <a:cubicBezTo>
                    <a:pt x="306" y="44"/>
                    <a:pt x="306" y="46"/>
                    <a:pt x="305" y="49"/>
                  </a:cubicBezTo>
                  <a:cubicBezTo>
                    <a:pt x="304" y="51"/>
                    <a:pt x="303" y="52"/>
                    <a:pt x="301" y="53"/>
                  </a:cubicBezTo>
                  <a:cubicBezTo>
                    <a:pt x="299" y="54"/>
                    <a:pt x="297" y="54"/>
                    <a:pt x="295" y="53"/>
                  </a:cubicBezTo>
                  <a:cubicBezTo>
                    <a:pt x="293" y="52"/>
                    <a:pt x="293" y="52"/>
                    <a:pt x="293" y="52"/>
                  </a:cubicBezTo>
                  <a:close/>
                  <a:moveTo>
                    <a:pt x="272" y="95"/>
                  </a:moveTo>
                  <a:cubicBezTo>
                    <a:pt x="253" y="76"/>
                    <a:pt x="253" y="76"/>
                    <a:pt x="253" y="76"/>
                  </a:cubicBezTo>
                  <a:cubicBezTo>
                    <a:pt x="263" y="66"/>
                    <a:pt x="263" y="66"/>
                    <a:pt x="263" y="66"/>
                  </a:cubicBezTo>
                  <a:cubicBezTo>
                    <a:pt x="266" y="70"/>
                    <a:pt x="266" y="70"/>
                    <a:pt x="266" y="70"/>
                  </a:cubicBezTo>
                  <a:cubicBezTo>
                    <a:pt x="261" y="75"/>
                    <a:pt x="261" y="75"/>
                    <a:pt x="261" y="75"/>
                  </a:cubicBezTo>
                  <a:cubicBezTo>
                    <a:pt x="265" y="79"/>
                    <a:pt x="265" y="79"/>
                    <a:pt x="265" y="79"/>
                  </a:cubicBezTo>
                  <a:cubicBezTo>
                    <a:pt x="270" y="74"/>
                    <a:pt x="270" y="74"/>
                    <a:pt x="270" y="74"/>
                  </a:cubicBezTo>
                  <a:cubicBezTo>
                    <a:pt x="273" y="78"/>
                    <a:pt x="273" y="78"/>
                    <a:pt x="273" y="78"/>
                  </a:cubicBezTo>
                  <a:cubicBezTo>
                    <a:pt x="269" y="83"/>
                    <a:pt x="269" y="83"/>
                    <a:pt x="269" y="83"/>
                  </a:cubicBezTo>
                  <a:cubicBezTo>
                    <a:pt x="273" y="87"/>
                    <a:pt x="273" y="87"/>
                    <a:pt x="273" y="87"/>
                  </a:cubicBezTo>
                  <a:cubicBezTo>
                    <a:pt x="278" y="81"/>
                    <a:pt x="278" y="81"/>
                    <a:pt x="278" y="81"/>
                  </a:cubicBezTo>
                  <a:cubicBezTo>
                    <a:pt x="282" y="85"/>
                    <a:pt x="282" y="85"/>
                    <a:pt x="282" y="85"/>
                  </a:cubicBezTo>
                  <a:cubicBezTo>
                    <a:pt x="272" y="95"/>
                    <a:pt x="272" y="95"/>
                    <a:pt x="272" y="95"/>
                  </a:cubicBezTo>
                  <a:close/>
                  <a:moveTo>
                    <a:pt x="261" y="105"/>
                  </a:moveTo>
                  <a:cubicBezTo>
                    <a:pt x="243" y="85"/>
                    <a:pt x="243" y="85"/>
                    <a:pt x="243" y="85"/>
                  </a:cubicBezTo>
                  <a:cubicBezTo>
                    <a:pt x="248" y="81"/>
                    <a:pt x="248" y="81"/>
                    <a:pt x="248" y="81"/>
                  </a:cubicBezTo>
                  <a:cubicBezTo>
                    <a:pt x="266" y="101"/>
                    <a:pt x="266" y="101"/>
                    <a:pt x="266" y="101"/>
                  </a:cubicBezTo>
                  <a:cubicBezTo>
                    <a:pt x="261" y="105"/>
                    <a:pt x="261" y="105"/>
                    <a:pt x="261" y="105"/>
                  </a:cubicBezTo>
                  <a:close/>
                  <a:moveTo>
                    <a:pt x="234" y="100"/>
                  </a:moveTo>
                  <a:cubicBezTo>
                    <a:pt x="241" y="111"/>
                    <a:pt x="241" y="111"/>
                    <a:pt x="241" y="111"/>
                  </a:cubicBezTo>
                  <a:cubicBezTo>
                    <a:pt x="242" y="112"/>
                    <a:pt x="242" y="112"/>
                    <a:pt x="243" y="112"/>
                  </a:cubicBezTo>
                  <a:cubicBezTo>
                    <a:pt x="243" y="112"/>
                    <a:pt x="244" y="112"/>
                    <a:pt x="244" y="112"/>
                  </a:cubicBezTo>
                  <a:cubicBezTo>
                    <a:pt x="245" y="112"/>
                    <a:pt x="245" y="111"/>
                    <a:pt x="245" y="111"/>
                  </a:cubicBezTo>
                  <a:cubicBezTo>
                    <a:pt x="245" y="110"/>
                    <a:pt x="245" y="110"/>
                    <a:pt x="244" y="109"/>
                  </a:cubicBezTo>
                  <a:cubicBezTo>
                    <a:pt x="237" y="98"/>
                    <a:pt x="237" y="98"/>
                    <a:pt x="237" y="98"/>
                  </a:cubicBezTo>
                  <a:cubicBezTo>
                    <a:pt x="237" y="97"/>
                    <a:pt x="236" y="97"/>
                    <a:pt x="236" y="97"/>
                  </a:cubicBezTo>
                  <a:cubicBezTo>
                    <a:pt x="235" y="97"/>
                    <a:pt x="235" y="97"/>
                    <a:pt x="234" y="97"/>
                  </a:cubicBezTo>
                  <a:cubicBezTo>
                    <a:pt x="234" y="97"/>
                    <a:pt x="233" y="98"/>
                    <a:pt x="233" y="98"/>
                  </a:cubicBezTo>
                  <a:cubicBezTo>
                    <a:pt x="233" y="99"/>
                    <a:pt x="233" y="99"/>
                    <a:pt x="234" y="100"/>
                  </a:cubicBezTo>
                  <a:close/>
                  <a:moveTo>
                    <a:pt x="229" y="104"/>
                  </a:moveTo>
                  <a:cubicBezTo>
                    <a:pt x="228" y="102"/>
                    <a:pt x="227" y="100"/>
                    <a:pt x="228" y="98"/>
                  </a:cubicBezTo>
                  <a:cubicBezTo>
                    <a:pt x="228" y="96"/>
                    <a:pt x="229" y="95"/>
                    <a:pt x="231" y="93"/>
                  </a:cubicBezTo>
                  <a:cubicBezTo>
                    <a:pt x="234" y="92"/>
                    <a:pt x="236" y="91"/>
                    <a:pt x="238" y="92"/>
                  </a:cubicBezTo>
                  <a:cubicBezTo>
                    <a:pt x="239" y="92"/>
                    <a:pt x="241" y="93"/>
                    <a:pt x="243" y="96"/>
                  </a:cubicBezTo>
                  <a:cubicBezTo>
                    <a:pt x="249" y="105"/>
                    <a:pt x="249" y="105"/>
                    <a:pt x="249" y="105"/>
                  </a:cubicBezTo>
                  <a:cubicBezTo>
                    <a:pt x="250" y="107"/>
                    <a:pt x="251" y="109"/>
                    <a:pt x="251" y="111"/>
                  </a:cubicBezTo>
                  <a:cubicBezTo>
                    <a:pt x="250" y="113"/>
                    <a:pt x="249" y="114"/>
                    <a:pt x="247" y="116"/>
                  </a:cubicBezTo>
                  <a:cubicBezTo>
                    <a:pt x="245" y="117"/>
                    <a:pt x="243" y="118"/>
                    <a:pt x="241" y="118"/>
                  </a:cubicBezTo>
                  <a:cubicBezTo>
                    <a:pt x="239" y="117"/>
                    <a:pt x="237" y="116"/>
                    <a:pt x="236" y="114"/>
                  </a:cubicBezTo>
                  <a:cubicBezTo>
                    <a:pt x="229" y="104"/>
                    <a:pt x="229" y="104"/>
                    <a:pt x="229" y="104"/>
                  </a:cubicBezTo>
                  <a:close/>
                  <a:moveTo>
                    <a:pt x="210" y="134"/>
                  </a:moveTo>
                  <a:cubicBezTo>
                    <a:pt x="200" y="109"/>
                    <a:pt x="200" y="109"/>
                    <a:pt x="200" y="109"/>
                  </a:cubicBezTo>
                  <a:cubicBezTo>
                    <a:pt x="209" y="105"/>
                    <a:pt x="209" y="105"/>
                    <a:pt x="209" y="105"/>
                  </a:cubicBezTo>
                  <a:cubicBezTo>
                    <a:pt x="213" y="113"/>
                    <a:pt x="213" y="113"/>
                    <a:pt x="213" y="113"/>
                  </a:cubicBezTo>
                  <a:cubicBezTo>
                    <a:pt x="214" y="114"/>
                    <a:pt x="214" y="115"/>
                    <a:pt x="215" y="116"/>
                  </a:cubicBezTo>
                  <a:cubicBezTo>
                    <a:pt x="215" y="117"/>
                    <a:pt x="216" y="118"/>
                    <a:pt x="216" y="119"/>
                  </a:cubicBezTo>
                  <a:cubicBezTo>
                    <a:pt x="216" y="118"/>
                    <a:pt x="215" y="116"/>
                    <a:pt x="215" y="115"/>
                  </a:cubicBezTo>
                  <a:cubicBezTo>
                    <a:pt x="215" y="114"/>
                    <a:pt x="214" y="113"/>
                    <a:pt x="214" y="113"/>
                  </a:cubicBezTo>
                  <a:cubicBezTo>
                    <a:pt x="212" y="104"/>
                    <a:pt x="212" y="104"/>
                    <a:pt x="212" y="104"/>
                  </a:cubicBezTo>
                  <a:cubicBezTo>
                    <a:pt x="221" y="100"/>
                    <a:pt x="221" y="100"/>
                    <a:pt x="221" y="100"/>
                  </a:cubicBezTo>
                  <a:cubicBezTo>
                    <a:pt x="231" y="125"/>
                    <a:pt x="231" y="125"/>
                    <a:pt x="231" y="125"/>
                  </a:cubicBezTo>
                  <a:cubicBezTo>
                    <a:pt x="226" y="127"/>
                    <a:pt x="226" y="127"/>
                    <a:pt x="226" y="127"/>
                  </a:cubicBezTo>
                  <a:cubicBezTo>
                    <a:pt x="222" y="118"/>
                    <a:pt x="222" y="118"/>
                    <a:pt x="222" y="118"/>
                  </a:cubicBezTo>
                  <a:cubicBezTo>
                    <a:pt x="221" y="116"/>
                    <a:pt x="220" y="114"/>
                    <a:pt x="219" y="112"/>
                  </a:cubicBezTo>
                  <a:cubicBezTo>
                    <a:pt x="219" y="110"/>
                    <a:pt x="218" y="108"/>
                    <a:pt x="217" y="106"/>
                  </a:cubicBezTo>
                  <a:cubicBezTo>
                    <a:pt x="218" y="109"/>
                    <a:pt x="218" y="110"/>
                    <a:pt x="218" y="112"/>
                  </a:cubicBezTo>
                  <a:cubicBezTo>
                    <a:pt x="219" y="113"/>
                    <a:pt x="219" y="114"/>
                    <a:pt x="219" y="115"/>
                  </a:cubicBezTo>
                  <a:cubicBezTo>
                    <a:pt x="222" y="129"/>
                    <a:pt x="222" y="129"/>
                    <a:pt x="222" y="129"/>
                  </a:cubicBezTo>
                  <a:cubicBezTo>
                    <a:pt x="219" y="130"/>
                    <a:pt x="219" y="130"/>
                    <a:pt x="219" y="130"/>
                  </a:cubicBezTo>
                  <a:cubicBezTo>
                    <a:pt x="212" y="119"/>
                    <a:pt x="212" y="119"/>
                    <a:pt x="212" y="119"/>
                  </a:cubicBezTo>
                  <a:cubicBezTo>
                    <a:pt x="211" y="117"/>
                    <a:pt x="210" y="116"/>
                    <a:pt x="209" y="114"/>
                  </a:cubicBezTo>
                  <a:cubicBezTo>
                    <a:pt x="208" y="113"/>
                    <a:pt x="207" y="112"/>
                    <a:pt x="207" y="110"/>
                  </a:cubicBezTo>
                  <a:cubicBezTo>
                    <a:pt x="208" y="112"/>
                    <a:pt x="208" y="114"/>
                    <a:pt x="209" y="116"/>
                  </a:cubicBezTo>
                  <a:cubicBezTo>
                    <a:pt x="210" y="118"/>
                    <a:pt x="211" y="120"/>
                    <a:pt x="212" y="122"/>
                  </a:cubicBezTo>
                  <a:cubicBezTo>
                    <a:pt x="216" y="131"/>
                    <a:pt x="216" y="131"/>
                    <a:pt x="216" y="131"/>
                  </a:cubicBezTo>
                  <a:cubicBezTo>
                    <a:pt x="210" y="134"/>
                    <a:pt x="210" y="134"/>
                    <a:pt x="210" y="134"/>
                  </a:cubicBezTo>
                  <a:close/>
                  <a:moveTo>
                    <a:pt x="184" y="139"/>
                  </a:moveTo>
                  <a:cubicBezTo>
                    <a:pt x="185" y="112"/>
                    <a:pt x="185" y="112"/>
                    <a:pt x="185" y="112"/>
                  </a:cubicBezTo>
                  <a:cubicBezTo>
                    <a:pt x="193" y="111"/>
                    <a:pt x="193" y="111"/>
                    <a:pt x="193" y="111"/>
                  </a:cubicBezTo>
                  <a:cubicBezTo>
                    <a:pt x="202" y="137"/>
                    <a:pt x="202" y="137"/>
                    <a:pt x="202" y="137"/>
                  </a:cubicBezTo>
                  <a:cubicBezTo>
                    <a:pt x="195" y="138"/>
                    <a:pt x="195" y="138"/>
                    <a:pt x="195" y="138"/>
                  </a:cubicBezTo>
                  <a:cubicBezTo>
                    <a:pt x="194" y="133"/>
                    <a:pt x="194" y="133"/>
                    <a:pt x="194" y="133"/>
                  </a:cubicBezTo>
                  <a:cubicBezTo>
                    <a:pt x="190" y="134"/>
                    <a:pt x="190" y="134"/>
                    <a:pt x="190" y="134"/>
                  </a:cubicBezTo>
                  <a:cubicBezTo>
                    <a:pt x="190" y="138"/>
                    <a:pt x="190" y="138"/>
                    <a:pt x="190" y="138"/>
                  </a:cubicBezTo>
                  <a:cubicBezTo>
                    <a:pt x="184" y="139"/>
                    <a:pt x="184" y="139"/>
                    <a:pt x="184" y="139"/>
                  </a:cubicBezTo>
                  <a:close/>
                  <a:moveTo>
                    <a:pt x="190" y="129"/>
                  </a:moveTo>
                  <a:cubicBezTo>
                    <a:pt x="193" y="128"/>
                    <a:pt x="193" y="128"/>
                    <a:pt x="193" y="128"/>
                  </a:cubicBezTo>
                  <a:cubicBezTo>
                    <a:pt x="191" y="120"/>
                    <a:pt x="191" y="120"/>
                    <a:pt x="191" y="120"/>
                  </a:cubicBezTo>
                  <a:cubicBezTo>
                    <a:pt x="190" y="120"/>
                    <a:pt x="190" y="119"/>
                    <a:pt x="190" y="119"/>
                  </a:cubicBezTo>
                  <a:cubicBezTo>
                    <a:pt x="190" y="118"/>
                    <a:pt x="190" y="117"/>
                    <a:pt x="189" y="116"/>
                  </a:cubicBezTo>
                  <a:cubicBezTo>
                    <a:pt x="189" y="117"/>
                    <a:pt x="190" y="117"/>
                    <a:pt x="190" y="118"/>
                  </a:cubicBezTo>
                  <a:cubicBezTo>
                    <a:pt x="190" y="119"/>
                    <a:pt x="190" y="120"/>
                    <a:pt x="190" y="120"/>
                  </a:cubicBezTo>
                  <a:cubicBezTo>
                    <a:pt x="190" y="129"/>
                    <a:pt x="190" y="129"/>
                    <a:pt x="190" y="129"/>
                  </a:cubicBezTo>
                  <a:close/>
                  <a:moveTo>
                    <a:pt x="153" y="132"/>
                  </a:moveTo>
                  <a:cubicBezTo>
                    <a:pt x="159" y="133"/>
                    <a:pt x="159" y="133"/>
                    <a:pt x="159" y="133"/>
                  </a:cubicBezTo>
                  <a:cubicBezTo>
                    <a:pt x="159" y="135"/>
                    <a:pt x="159" y="135"/>
                    <a:pt x="159" y="135"/>
                  </a:cubicBezTo>
                  <a:cubicBezTo>
                    <a:pt x="159" y="136"/>
                    <a:pt x="159" y="136"/>
                    <a:pt x="159" y="137"/>
                  </a:cubicBezTo>
                  <a:cubicBezTo>
                    <a:pt x="160" y="137"/>
                    <a:pt x="160" y="137"/>
                    <a:pt x="161" y="137"/>
                  </a:cubicBezTo>
                  <a:cubicBezTo>
                    <a:pt x="162" y="138"/>
                    <a:pt x="162" y="137"/>
                    <a:pt x="162" y="137"/>
                  </a:cubicBezTo>
                  <a:cubicBezTo>
                    <a:pt x="163" y="137"/>
                    <a:pt x="163" y="136"/>
                    <a:pt x="163" y="135"/>
                  </a:cubicBezTo>
                  <a:cubicBezTo>
                    <a:pt x="163" y="135"/>
                    <a:pt x="163" y="134"/>
                    <a:pt x="163" y="134"/>
                  </a:cubicBezTo>
                  <a:cubicBezTo>
                    <a:pt x="162" y="133"/>
                    <a:pt x="162" y="133"/>
                    <a:pt x="161" y="132"/>
                  </a:cubicBezTo>
                  <a:cubicBezTo>
                    <a:pt x="161" y="132"/>
                    <a:pt x="160" y="131"/>
                    <a:pt x="160" y="131"/>
                  </a:cubicBezTo>
                  <a:cubicBezTo>
                    <a:pt x="158" y="129"/>
                    <a:pt x="157" y="128"/>
                    <a:pt x="156" y="127"/>
                  </a:cubicBezTo>
                  <a:cubicBezTo>
                    <a:pt x="155" y="126"/>
                    <a:pt x="155" y="126"/>
                    <a:pt x="155" y="125"/>
                  </a:cubicBezTo>
                  <a:cubicBezTo>
                    <a:pt x="154" y="124"/>
                    <a:pt x="154" y="123"/>
                    <a:pt x="154" y="122"/>
                  </a:cubicBezTo>
                  <a:cubicBezTo>
                    <a:pt x="154" y="119"/>
                    <a:pt x="155" y="118"/>
                    <a:pt x="156" y="116"/>
                  </a:cubicBezTo>
                  <a:cubicBezTo>
                    <a:pt x="158" y="115"/>
                    <a:pt x="160" y="115"/>
                    <a:pt x="162" y="115"/>
                  </a:cubicBezTo>
                  <a:cubicBezTo>
                    <a:pt x="165" y="115"/>
                    <a:pt x="167" y="116"/>
                    <a:pt x="168" y="117"/>
                  </a:cubicBezTo>
                  <a:cubicBezTo>
                    <a:pt x="169" y="118"/>
                    <a:pt x="170" y="120"/>
                    <a:pt x="169" y="122"/>
                  </a:cubicBezTo>
                  <a:cubicBezTo>
                    <a:pt x="169" y="124"/>
                    <a:pt x="169" y="124"/>
                    <a:pt x="169" y="124"/>
                  </a:cubicBezTo>
                  <a:cubicBezTo>
                    <a:pt x="164" y="124"/>
                    <a:pt x="164" y="124"/>
                    <a:pt x="164" y="124"/>
                  </a:cubicBezTo>
                  <a:cubicBezTo>
                    <a:pt x="164" y="122"/>
                    <a:pt x="164" y="122"/>
                    <a:pt x="164" y="122"/>
                  </a:cubicBezTo>
                  <a:cubicBezTo>
                    <a:pt x="164" y="121"/>
                    <a:pt x="164" y="121"/>
                    <a:pt x="163" y="120"/>
                  </a:cubicBezTo>
                  <a:cubicBezTo>
                    <a:pt x="163" y="120"/>
                    <a:pt x="163" y="120"/>
                    <a:pt x="162" y="120"/>
                  </a:cubicBezTo>
                  <a:cubicBezTo>
                    <a:pt x="161" y="119"/>
                    <a:pt x="161" y="120"/>
                    <a:pt x="161" y="120"/>
                  </a:cubicBezTo>
                  <a:cubicBezTo>
                    <a:pt x="160" y="120"/>
                    <a:pt x="160" y="121"/>
                    <a:pt x="160" y="121"/>
                  </a:cubicBezTo>
                  <a:cubicBezTo>
                    <a:pt x="160" y="122"/>
                    <a:pt x="161" y="124"/>
                    <a:pt x="164" y="126"/>
                  </a:cubicBezTo>
                  <a:cubicBezTo>
                    <a:pt x="164" y="127"/>
                    <a:pt x="164" y="127"/>
                    <a:pt x="164" y="127"/>
                  </a:cubicBezTo>
                  <a:cubicBezTo>
                    <a:pt x="164" y="127"/>
                    <a:pt x="164" y="127"/>
                    <a:pt x="164" y="127"/>
                  </a:cubicBezTo>
                  <a:cubicBezTo>
                    <a:pt x="167" y="129"/>
                    <a:pt x="168" y="130"/>
                    <a:pt x="168" y="131"/>
                  </a:cubicBezTo>
                  <a:cubicBezTo>
                    <a:pt x="169" y="132"/>
                    <a:pt x="169" y="133"/>
                    <a:pt x="169" y="133"/>
                  </a:cubicBezTo>
                  <a:cubicBezTo>
                    <a:pt x="169" y="134"/>
                    <a:pt x="169" y="135"/>
                    <a:pt x="169" y="135"/>
                  </a:cubicBezTo>
                  <a:cubicBezTo>
                    <a:pt x="169" y="138"/>
                    <a:pt x="168" y="139"/>
                    <a:pt x="167" y="141"/>
                  </a:cubicBezTo>
                  <a:cubicBezTo>
                    <a:pt x="165" y="142"/>
                    <a:pt x="163" y="142"/>
                    <a:pt x="161" y="142"/>
                  </a:cubicBezTo>
                  <a:cubicBezTo>
                    <a:pt x="158" y="142"/>
                    <a:pt x="156" y="141"/>
                    <a:pt x="155" y="140"/>
                  </a:cubicBezTo>
                  <a:cubicBezTo>
                    <a:pt x="154" y="139"/>
                    <a:pt x="153" y="137"/>
                    <a:pt x="153" y="134"/>
                  </a:cubicBezTo>
                  <a:cubicBezTo>
                    <a:pt x="153" y="132"/>
                    <a:pt x="153" y="132"/>
                    <a:pt x="153" y="132"/>
                  </a:cubicBezTo>
                  <a:close/>
                  <a:moveTo>
                    <a:pt x="129" y="140"/>
                  </a:moveTo>
                  <a:cubicBezTo>
                    <a:pt x="136" y="113"/>
                    <a:pt x="136" y="113"/>
                    <a:pt x="136" y="113"/>
                  </a:cubicBezTo>
                  <a:cubicBezTo>
                    <a:pt x="144" y="114"/>
                    <a:pt x="144" y="114"/>
                    <a:pt x="144" y="114"/>
                  </a:cubicBezTo>
                  <a:cubicBezTo>
                    <a:pt x="147" y="141"/>
                    <a:pt x="147" y="141"/>
                    <a:pt x="147" y="141"/>
                  </a:cubicBezTo>
                  <a:cubicBezTo>
                    <a:pt x="140" y="140"/>
                    <a:pt x="140" y="140"/>
                    <a:pt x="140" y="140"/>
                  </a:cubicBezTo>
                  <a:cubicBezTo>
                    <a:pt x="140" y="136"/>
                    <a:pt x="140" y="136"/>
                    <a:pt x="140" y="136"/>
                  </a:cubicBezTo>
                  <a:cubicBezTo>
                    <a:pt x="136" y="135"/>
                    <a:pt x="136" y="135"/>
                    <a:pt x="136" y="135"/>
                  </a:cubicBezTo>
                  <a:cubicBezTo>
                    <a:pt x="135" y="140"/>
                    <a:pt x="135" y="140"/>
                    <a:pt x="135" y="140"/>
                  </a:cubicBezTo>
                  <a:cubicBezTo>
                    <a:pt x="129" y="140"/>
                    <a:pt x="129" y="140"/>
                    <a:pt x="129" y="140"/>
                  </a:cubicBezTo>
                  <a:close/>
                  <a:moveTo>
                    <a:pt x="137" y="131"/>
                  </a:moveTo>
                  <a:cubicBezTo>
                    <a:pt x="140" y="131"/>
                    <a:pt x="140" y="131"/>
                    <a:pt x="140" y="131"/>
                  </a:cubicBezTo>
                  <a:cubicBezTo>
                    <a:pt x="140" y="123"/>
                    <a:pt x="140" y="123"/>
                    <a:pt x="140" y="123"/>
                  </a:cubicBezTo>
                  <a:cubicBezTo>
                    <a:pt x="140" y="122"/>
                    <a:pt x="140" y="121"/>
                    <a:pt x="140" y="121"/>
                  </a:cubicBezTo>
                  <a:cubicBezTo>
                    <a:pt x="140" y="120"/>
                    <a:pt x="140" y="119"/>
                    <a:pt x="140" y="118"/>
                  </a:cubicBezTo>
                  <a:cubicBezTo>
                    <a:pt x="140" y="119"/>
                    <a:pt x="140" y="119"/>
                    <a:pt x="139" y="120"/>
                  </a:cubicBezTo>
                  <a:cubicBezTo>
                    <a:pt x="139" y="121"/>
                    <a:pt x="139" y="122"/>
                    <a:pt x="139" y="123"/>
                  </a:cubicBezTo>
                  <a:cubicBezTo>
                    <a:pt x="137" y="131"/>
                    <a:pt x="137" y="131"/>
                    <a:pt x="137" y="131"/>
                  </a:cubicBezTo>
                  <a:close/>
                  <a:moveTo>
                    <a:pt x="113" y="136"/>
                  </a:moveTo>
                  <a:cubicBezTo>
                    <a:pt x="118" y="115"/>
                    <a:pt x="118" y="115"/>
                    <a:pt x="118" y="115"/>
                  </a:cubicBezTo>
                  <a:cubicBezTo>
                    <a:pt x="114" y="114"/>
                    <a:pt x="114" y="114"/>
                    <a:pt x="114" y="114"/>
                  </a:cubicBezTo>
                  <a:cubicBezTo>
                    <a:pt x="115" y="109"/>
                    <a:pt x="115" y="109"/>
                    <a:pt x="115" y="109"/>
                  </a:cubicBezTo>
                  <a:cubicBezTo>
                    <a:pt x="129" y="112"/>
                    <a:pt x="129" y="112"/>
                    <a:pt x="129" y="112"/>
                  </a:cubicBezTo>
                  <a:cubicBezTo>
                    <a:pt x="128" y="117"/>
                    <a:pt x="128" y="117"/>
                    <a:pt x="128" y="117"/>
                  </a:cubicBezTo>
                  <a:cubicBezTo>
                    <a:pt x="124" y="116"/>
                    <a:pt x="124" y="116"/>
                    <a:pt x="124" y="116"/>
                  </a:cubicBezTo>
                  <a:cubicBezTo>
                    <a:pt x="119" y="137"/>
                    <a:pt x="119" y="137"/>
                    <a:pt x="119" y="137"/>
                  </a:cubicBezTo>
                  <a:cubicBezTo>
                    <a:pt x="113" y="136"/>
                    <a:pt x="113" y="136"/>
                    <a:pt x="113" y="136"/>
                  </a:cubicBezTo>
                  <a:close/>
                  <a:moveTo>
                    <a:pt x="95" y="129"/>
                  </a:moveTo>
                  <a:cubicBezTo>
                    <a:pt x="105" y="104"/>
                    <a:pt x="105" y="104"/>
                    <a:pt x="105" y="104"/>
                  </a:cubicBezTo>
                  <a:cubicBezTo>
                    <a:pt x="111" y="107"/>
                    <a:pt x="111" y="107"/>
                    <a:pt x="111" y="107"/>
                  </a:cubicBezTo>
                  <a:cubicBezTo>
                    <a:pt x="101" y="131"/>
                    <a:pt x="101" y="131"/>
                    <a:pt x="101" y="131"/>
                  </a:cubicBezTo>
                  <a:cubicBezTo>
                    <a:pt x="95" y="129"/>
                    <a:pt x="95" y="129"/>
                    <a:pt x="95" y="129"/>
                  </a:cubicBezTo>
                  <a:close/>
                  <a:moveTo>
                    <a:pt x="78" y="110"/>
                  </a:moveTo>
                  <a:cubicBezTo>
                    <a:pt x="83" y="113"/>
                    <a:pt x="83" y="113"/>
                    <a:pt x="83" y="113"/>
                  </a:cubicBezTo>
                  <a:cubicBezTo>
                    <a:pt x="82" y="115"/>
                    <a:pt x="82" y="115"/>
                    <a:pt x="82" y="115"/>
                  </a:cubicBezTo>
                  <a:cubicBezTo>
                    <a:pt x="82" y="115"/>
                    <a:pt x="81" y="116"/>
                    <a:pt x="82" y="117"/>
                  </a:cubicBezTo>
                  <a:cubicBezTo>
                    <a:pt x="82" y="117"/>
                    <a:pt x="82" y="118"/>
                    <a:pt x="82" y="118"/>
                  </a:cubicBezTo>
                  <a:cubicBezTo>
                    <a:pt x="83" y="118"/>
                    <a:pt x="83" y="118"/>
                    <a:pt x="84" y="118"/>
                  </a:cubicBezTo>
                  <a:cubicBezTo>
                    <a:pt x="84" y="118"/>
                    <a:pt x="85" y="118"/>
                    <a:pt x="85" y="117"/>
                  </a:cubicBezTo>
                  <a:cubicBezTo>
                    <a:pt x="86" y="117"/>
                    <a:pt x="86" y="116"/>
                    <a:pt x="86" y="115"/>
                  </a:cubicBezTo>
                  <a:cubicBezTo>
                    <a:pt x="86" y="115"/>
                    <a:pt x="86" y="114"/>
                    <a:pt x="85" y="113"/>
                  </a:cubicBezTo>
                  <a:cubicBezTo>
                    <a:pt x="85" y="113"/>
                    <a:pt x="85" y="112"/>
                    <a:pt x="85" y="112"/>
                  </a:cubicBezTo>
                  <a:cubicBezTo>
                    <a:pt x="84" y="109"/>
                    <a:pt x="83" y="108"/>
                    <a:pt x="83" y="106"/>
                  </a:cubicBezTo>
                  <a:cubicBezTo>
                    <a:pt x="83" y="106"/>
                    <a:pt x="83" y="105"/>
                    <a:pt x="83" y="104"/>
                  </a:cubicBezTo>
                  <a:cubicBezTo>
                    <a:pt x="83" y="103"/>
                    <a:pt x="84" y="102"/>
                    <a:pt x="84" y="101"/>
                  </a:cubicBezTo>
                  <a:cubicBezTo>
                    <a:pt x="85" y="99"/>
                    <a:pt x="87" y="98"/>
                    <a:pt x="89" y="97"/>
                  </a:cubicBezTo>
                  <a:cubicBezTo>
                    <a:pt x="91" y="97"/>
                    <a:pt x="93" y="97"/>
                    <a:pt x="95" y="99"/>
                  </a:cubicBezTo>
                  <a:cubicBezTo>
                    <a:pt x="97" y="100"/>
                    <a:pt x="98" y="102"/>
                    <a:pt x="98" y="103"/>
                  </a:cubicBezTo>
                  <a:cubicBezTo>
                    <a:pt x="99" y="105"/>
                    <a:pt x="99" y="107"/>
                    <a:pt x="97" y="108"/>
                  </a:cubicBezTo>
                  <a:cubicBezTo>
                    <a:pt x="96" y="110"/>
                    <a:pt x="96" y="110"/>
                    <a:pt x="96" y="110"/>
                  </a:cubicBezTo>
                  <a:cubicBezTo>
                    <a:pt x="91" y="107"/>
                    <a:pt x="91" y="107"/>
                    <a:pt x="91" y="107"/>
                  </a:cubicBezTo>
                  <a:cubicBezTo>
                    <a:pt x="92" y="106"/>
                    <a:pt x="92" y="106"/>
                    <a:pt x="92" y="106"/>
                  </a:cubicBezTo>
                  <a:cubicBezTo>
                    <a:pt x="93" y="105"/>
                    <a:pt x="93" y="104"/>
                    <a:pt x="93" y="104"/>
                  </a:cubicBezTo>
                  <a:cubicBezTo>
                    <a:pt x="93" y="103"/>
                    <a:pt x="93" y="103"/>
                    <a:pt x="92" y="103"/>
                  </a:cubicBezTo>
                  <a:cubicBezTo>
                    <a:pt x="92" y="102"/>
                    <a:pt x="91" y="102"/>
                    <a:pt x="91" y="102"/>
                  </a:cubicBezTo>
                  <a:cubicBezTo>
                    <a:pt x="90" y="103"/>
                    <a:pt x="90" y="103"/>
                    <a:pt x="89" y="103"/>
                  </a:cubicBezTo>
                  <a:cubicBezTo>
                    <a:pt x="89" y="104"/>
                    <a:pt x="89" y="106"/>
                    <a:pt x="90" y="110"/>
                  </a:cubicBezTo>
                  <a:cubicBezTo>
                    <a:pt x="90" y="110"/>
                    <a:pt x="90" y="110"/>
                    <a:pt x="90" y="110"/>
                  </a:cubicBezTo>
                  <a:cubicBezTo>
                    <a:pt x="91" y="110"/>
                    <a:pt x="91" y="110"/>
                    <a:pt x="91" y="110"/>
                  </a:cubicBezTo>
                  <a:cubicBezTo>
                    <a:pt x="92" y="113"/>
                    <a:pt x="92" y="115"/>
                    <a:pt x="92" y="116"/>
                  </a:cubicBezTo>
                  <a:cubicBezTo>
                    <a:pt x="92" y="117"/>
                    <a:pt x="92" y="117"/>
                    <a:pt x="91" y="118"/>
                  </a:cubicBezTo>
                  <a:cubicBezTo>
                    <a:pt x="91" y="119"/>
                    <a:pt x="91" y="119"/>
                    <a:pt x="91" y="120"/>
                  </a:cubicBezTo>
                  <a:cubicBezTo>
                    <a:pt x="89" y="122"/>
                    <a:pt x="88" y="123"/>
                    <a:pt x="86" y="123"/>
                  </a:cubicBezTo>
                  <a:cubicBezTo>
                    <a:pt x="84" y="124"/>
                    <a:pt x="82" y="123"/>
                    <a:pt x="80" y="122"/>
                  </a:cubicBezTo>
                  <a:cubicBezTo>
                    <a:pt x="78" y="120"/>
                    <a:pt x="76" y="119"/>
                    <a:pt x="76" y="117"/>
                  </a:cubicBezTo>
                  <a:cubicBezTo>
                    <a:pt x="75" y="115"/>
                    <a:pt x="76" y="113"/>
                    <a:pt x="77" y="111"/>
                  </a:cubicBezTo>
                  <a:cubicBezTo>
                    <a:pt x="78" y="110"/>
                    <a:pt x="78" y="110"/>
                    <a:pt x="78" y="110"/>
                  </a:cubicBezTo>
                  <a:close/>
                  <a:moveTo>
                    <a:pt x="68" y="95"/>
                  </a:moveTo>
                  <a:cubicBezTo>
                    <a:pt x="69" y="95"/>
                    <a:pt x="70" y="96"/>
                    <a:pt x="71" y="96"/>
                  </a:cubicBezTo>
                  <a:cubicBezTo>
                    <a:pt x="71" y="96"/>
                    <a:pt x="72" y="96"/>
                    <a:pt x="72" y="95"/>
                  </a:cubicBezTo>
                  <a:cubicBezTo>
                    <a:pt x="73" y="94"/>
                    <a:pt x="73" y="94"/>
                    <a:pt x="73" y="94"/>
                  </a:cubicBezTo>
                  <a:cubicBezTo>
                    <a:pt x="74" y="93"/>
                    <a:pt x="74" y="92"/>
                    <a:pt x="74" y="92"/>
                  </a:cubicBezTo>
                  <a:cubicBezTo>
                    <a:pt x="74" y="91"/>
                    <a:pt x="73" y="91"/>
                    <a:pt x="72" y="90"/>
                  </a:cubicBezTo>
                  <a:cubicBezTo>
                    <a:pt x="72" y="90"/>
                    <a:pt x="72" y="90"/>
                    <a:pt x="72" y="90"/>
                  </a:cubicBezTo>
                  <a:cubicBezTo>
                    <a:pt x="68" y="95"/>
                    <a:pt x="68" y="95"/>
                    <a:pt x="68" y="95"/>
                  </a:cubicBezTo>
                  <a:close/>
                  <a:moveTo>
                    <a:pt x="54" y="103"/>
                  </a:moveTo>
                  <a:cubicBezTo>
                    <a:pt x="70" y="82"/>
                    <a:pt x="70" y="82"/>
                    <a:pt x="70" y="82"/>
                  </a:cubicBezTo>
                  <a:cubicBezTo>
                    <a:pt x="77" y="88"/>
                    <a:pt x="77" y="88"/>
                    <a:pt x="77" y="88"/>
                  </a:cubicBezTo>
                  <a:cubicBezTo>
                    <a:pt x="79" y="89"/>
                    <a:pt x="80" y="91"/>
                    <a:pt x="80" y="92"/>
                  </a:cubicBezTo>
                  <a:cubicBezTo>
                    <a:pt x="80" y="94"/>
                    <a:pt x="80" y="95"/>
                    <a:pt x="79" y="97"/>
                  </a:cubicBezTo>
                  <a:cubicBezTo>
                    <a:pt x="78" y="97"/>
                    <a:pt x="78" y="97"/>
                    <a:pt x="78" y="97"/>
                  </a:cubicBezTo>
                  <a:cubicBezTo>
                    <a:pt x="78" y="98"/>
                    <a:pt x="78" y="98"/>
                    <a:pt x="78" y="98"/>
                  </a:cubicBezTo>
                  <a:cubicBezTo>
                    <a:pt x="77" y="99"/>
                    <a:pt x="76" y="100"/>
                    <a:pt x="75" y="100"/>
                  </a:cubicBezTo>
                  <a:cubicBezTo>
                    <a:pt x="74" y="100"/>
                    <a:pt x="73" y="100"/>
                    <a:pt x="72" y="100"/>
                  </a:cubicBezTo>
                  <a:cubicBezTo>
                    <a:pt x="72" y="101"/>
                    <a:pt x="73" y="102"/>
                    <a:pt x="73" y="103"/>
                  </a:cubicBezTo>
                  <a:cubicBezTo>
                    <a:pt x="73" y="104"/>
                    <a:pt x="72" y="105"/>
                    <a:pt x="71" y="106"/>
                  </a:cubicBezTo>
                  <a:cubicBezTo>
                    <a:pt x="67" y="111"/>
                    <a:pt x="67" y="111"/>
                    <a:pt x="67" y="111"/>
                  </a:cubicBezTo>
                  <a:cubicBezTo>
                    <a:pt x="67" y="111"/>
                    <a:pt x="66" y="112"/>
                    <a:pt x="66" y="112"/>
                  </a:cubicBezTo>
                  <a:cubicBezTo>
                    <a:pt x="66" y="112"/>
                    <a:pt x="66" y="113"/>
                    <a:pt x="66" y="113"/>
                  </a:cubicBezTo>
                  <a:cubicBezTo>
                    <a:pt x="61" y="109"/>
                    <a:pt x="61" y="109"/>
                    <a:pt x="61" y="109"/>
                  </a:cubicBezTo>
                  <a:cubicBezTo>
                    <a:pt x="61" y="109"/>
                    <a:pt x="61" y="109"/>
                    <a:pt x="62" y="108"/>
                  </a:cubicBezTo>
                  <a:cubicBezTo>
                    <a:pt x="62" y="108"/>
                    <a:pt x="62" y="107"/>
                    <a:pt x="63" y="107"/>
                  </a:cubicBezTo>
                  <a:cubicBezTo>
                    <a:pt x="66" y="103"/>
                    <a:pt x="66" y="103"/>
                    <a:pt x="66" y="103"/>
                  </a:cubicBezTo>
                  <a:cubicBezTo>
                    <a:pt x="67" y="102"/>
                    <a:pt x="67" y="101"/>
                    <a:pt x="67" y="100"/>
                  </a:cubicBezTo>
                  <a:cubicBezTo>
                    <a:pt x="67" y="99"/>
                    <a:pt x="67" y="99"/>
                    <a:pt x="66" y="98"/>
                  </a:cubicBezTo>
                  <a:cubicBezTo>
                    <a:pt x="58" y="107"/>
                    <a:pt x="58" y="107"/>
                    <a:pt x="58" y="107"/>
                  </a:cubicBezTo>
                  <a:cubicBezTo>
                    <a:pt x="54" y="103"/>
                    <a:pt x="54" y="103"/>
                    <a:pt x="54" y="103"/>
                  </a:cubicBezTo>
                  <a:close/>
                  <a:moveTo>
                    <a:pt x="37" y="87"/>
                  </a:moveTo>
                  <a:cubicBezTo>
                    <a:pt x="57" y="69"/>
                    <a:pt x="57" y="69"/>
                    <a:pt x="57" y="69"/>
                  </a:cubicBezTo>
                  <a:cubicBezTo>
                    <a:pt x="66" y="78"/>
                    <a:pt x="66" y="78"/>
                    <a:pt x="66" y="78"/>
                  </a:cubicBezTo>
                  <a:cubicBezTo>
                    <a:pt x="62" y="82"/>
                    <a:pt x="62" y="82"/>
                    <a:pt x="62" y="82"/>
                  </a:cubicBezTo>
                  <a:cubicBezTo>
                    <a:pt x="57" y="77"/>
                    <a:pt x="57" y="77"/>
                    <a:pt x="57" y="77"/>
                  </a:cubicBezTo>
                  <a:cubicBezTo>
                    <a:pt x="53" y="80"/>
                    <a:pt x="53" y="80"/>
                    <a:pt x="53" y="80"/>
                  </a:cubicBezTo>
                  <a:cubicBezTo>
                    <a:pt x="58" y="85"/>
                    <a:pt x="58" y="85"/>
                    <a:pt x="58" y="85"/>
                  </a:cubicBezTo>
                  <a:cubicBezTo>
                    <a:pt x="54" y="89"/>
                    <a:pt x="54" y="89"/>
                    <a:pt x="54" y="89"/>
                  </a:cubicBezTo>
                  <a:cubicBezTo>
                    <a:pt x="50" y="84"/>
                    <a:pt x="50" y="84"/>
                    <a:pt x="50" y="84"/>
                  </a:cubicBezTo>
                  <a:cubicBezTo>
                    <a:pt x="45" y="88"/>
                    <a:pt x="45" y="88"/>
                    <a:pt x="45" y="88"/>
                  </a:cubicBezTo>
                  <a:cubicBezTo>
                    <a:pt x="51" y="93"/>
                    <a:pt x="51" y="93"/>
                    <a:pt x="51" y="93"/>
                  </a:cubicBezTo>
                  <a:cubicBezTo>
                    <a:pt x="47" y="97"/>
                    <a:pt x="47" y="97"/>
                    <a:pt x="47" y="97"/>
                  </a:cubicBezTo>
                  <a:cubicBezTo>
                    <a:pt x="37" y="87"/>
                    <a:pt x="37" y="87"/>
                    <a:pt x="37" y="87"/>
                  </a:cubicBezTo>
                  <a:close/>
                  <a:moveTo>
                    <a:pt x="25" y="70"/>
                  </a:moveTo>
                  <a:cubicBezTo>
                    <a:pt x="45" y="51"/>
                    <a:pt x="45" y="51"/>
                    <a:pt x="45" y="51"/>
                  </a:cubicBezTo>
                  <a:cubicBezTo>
                    <a:pt x="48" y="57"/>
                    <a:pt x="48" y="57"/>
                    <a:pt x="48" y="57"/>
                  </a:cubicBezTo>
                  <a:cubicBezTo>
                    <a:pt x="40" y="64"/>
                    <a:pt x="40" y="64"/>
                    <a:pt x="40" y="64"/>
                  </a:cubicBezTo>
                  <a:cubicBezTo>
                    <a:pt x="39" y="64"/>
                    <a:pt x="38" y="65"/>
                    <a:pt x="37" y="66"/>
                  </a:cubicBezTo>
                  <a:cubicBezTo>
                    <a:pt x="36" y="67"/>
                    <a:pt x="34" y="68"/>
                    <a:pt x="32" y="69"/>
                  </a:cubicBezTo>
                  <a:cubicBezTo>
                    <a:pt x="34" y="68"/>
                    <a:pt x="37" y="67"/>
                    <a:pt x="39" y="65"/>
                  </a:cubicBezTo>
                  <a:cubicBezTo>
                    <a:pt x="40" y="65"/>
                    <a:pt x="40" y="65"/>
                    <a:pt x="40" y="65"/>
                  </a:cubicBezTo>
                  <a:cubicBezTo>
                    <a:pt x="50" y="60"/>
                    <a:pt x="50" y="60"/>
                    <a:pt x="50" y="60"/>
                  </a:cubicBezTo>
                  <a:cubicBezTo>
                    <a:pt x="54" y="65"/>
                    <a:pt x="54" y="65"/>
                    <a:pt x="54" y="65"/>
                  </a:cubicBezTo>
                  <a:cubicBezTo>
                    <a:pt x="29" y="76"/>
                    <a:pt x="29" y="76"/>
                    <a:pt x="29" y="76"/>
                  </a:cubicBezTo>
                  <a:cubicBezTo>
                    <a:pt x="25" y="70"/>
                    <a:pt x="25" y="70"/>
                    <a:pt x="25" y="70"/>
                  </a:cubicBezTo>
                  <a:close/>
                  <a:moveTo>
                    <a:pt x="15" y="53"/>
                  </a:moveTo>
                  <a:cubicBezTo>
                    <a:pt x="39" y="41"/>
                    <a:pt x="39" y="41"/>
                    <a:pt x="39" y="41"/>
                  </a:cubicBezTo>
                  <a:cubicBezTo>
                    <a:pt x="42" y="47"/>
                    <a:pt x="42" y="47"/>
                    <a:pt x="42" y="47"/>
                  </a:cubicBezTo>
                  <a:cubicBezTo>
                    <a:pt x="18" y="58"/>
                    <a:pt x="18" y="58"/>
                    <a:pt x="18" y="58"/>
                  </a:cubicBezTo>
                  <a:cubicBezTo>
                    <a:pt x="15" y="53"/>
                    <a:pt x="15" y="53"/>
                    <a:pt x="15" y="53"/>
                  </a:cubicBezTo>
                  <a:close/>
                  <a:moveTo>
                    <a:pt x="5" y="29"/>
                  </a:moveTo>
                  <a:cubicBezTo>
                    <a:pt x="31" y="20"/>
                    <a:pt x="31" y="20"/>
                    <a:pt x="31" y="20"/>
                  </a:cubicBezTo>
                  <a:cubicBezTo>
                    <a:pt x="33" y="26"/>
                    <a:pt x="33" y="26"/>
                    <a:pt x="33" y="26"/>
                  </a:cubicBezTo>
                  <a:cubicBezTo>
                    <a:pt x="24" y="33"/>
                    <a:pt x="24" y="33"/>
                    <a:pt x="24" y="33"/>
                  </a:cubicBezTo>
                  <a:cubicBezTo>
                    <a:pt x="23" y="33"/>
                    <a:pt x="22" y="34"/>
                    <a:pt x="20" y="35"/>
                  </a:cubicBezTo>
                  <a:cubicBezTo>
                    <a:pt x="19" y="36"/>
                    <a:pt x="18" y="36"/>
                    <a:pt x="17" y="37"/>
                  </a:cubicBezTo>
                  <a:cubicBezTo>
                    <a:pt x="18" y="37"/>
                    <a:pt x="19" y="36"/>
                    <a:pt x="21" y="35"/>
                  </a:cubicBezTo>
                  <a:cubicBezTo>
                    <a:pt x="22" y="35"/>
                    <a:pt x="23" y="34"/>
                    <a:pt x="25" y="34"/>
                  </a:cubicBezTo>
                  <a:cubicBezTo>
                    <a:pt x="34" y="31"/>
                    <a:pt x="34" y="31"/>
                    <a:pt x="34" y="31"/>
                  </a:cubicBezTo>
                  <a:cubicBezTo>
                    <a:pt x="36" y="36"/>
                    <a:pt x="36" y="36"/>
                    <a:pt x="36" y="36"/>
                  </a:cubicBezTo>
                  <a:cubicBezTo>
                    <a:pt x="11" y="45"/>
                    <a:pt x="11" y="45"/>
                    <a:pt x="11" y="45"/>
                  </a:cubicBezTo>
                  <a:cubicBezTo>
                    <a:pt x="9" y="39"/>
                    <a:pt x="9" y="39"/>
                    <a:pt x="9" y="39"/>
                  </a:cubicBezTo>
                  <a:cubicBezTo>
                    <a:pt x="19" y="32"/>
                    <a:pt x="19" y="32"/>
                    <a:pt x="19" y="32"/>
                  </a:cubicBezTo>
                  <a:cubicBezTo>
                    <a:pt x="20" y="31"/>
                    <a:pt x="21" y="30"/>
                    <a:pt x="22" y="29"/>
                  </a:cubicBezTo>
                  <a:cubicBezTo>
                    <a:pt x="23" y="29"/>
                    <a:pt x="24" y="28"/>
                    <a:pt x="25" y="27"/>
                  </a:cubicBezTo>
                  <a:cubicBezTo>
                    <a:pt x="23" y="28"/>
                    <a:pt x="22" y="29"/>
                    <a:pt x="20" y="30"/>
                  </a:cubicBezTo>
                  <a:cubicBezTo>
                    <a:pt x="18" y="30"/>
                    <a:pt x="17" y="31"/>
                    <a:pt x="15" y="31"/>
                  </a:cubicBezTo>
                  <a:cubicBezTo>
                    <a:pt x="7" y="34"/>
                    <a:pt x="7" y="34"/>
                    <a:pt x="7" y="34"/>
                  </a:cubicBezTo>
                  <a:cubicBezTo>
                    <a:pt x="5" y="29"/>
                    <a:pt x="5" y="29"/>
                    <a:pt x="5" y="29"/>
                  </a:cubicBezTo>
                  <a:close/>
                  <a:moveTo>
                    <a:pt x="27" y="6"/>
                  </a:moveTo>
                  <a:cubicBezTo>
                    <a:pt x="8" y="8"/>
                    <a:pt x="8" y="8"/>
                    <a:pt x="8" y="8"/>
                  </a:cubicBezTo>
                  <a:cubicBezTo>
                    <a:pt x="7" y="8"/>
                    <a:pt x="6" y="8"/>
                    <a:pt x="6" y="9"/>
                  </a:cubicBezTo>
                  <a:cubicBezTo>
                    <a:pt x="5" y="9"/>
                    <a:pt x="5" y="10"/>
                    <a:pt x="5" y="10"/>
                  </a:cubicBezTo>
                  <a:cubicBezTo>
                    <a:pt x="5" y="11"/>
                    <a:pt x="6" y="11"/>
                    <a:pt x="6" y="12"/>
                  </a:cubicBezTo>
                  <a:cubicBezTo>
                    <a:pt x="7" y="12"/>
                    <a:pt x="7" y="12"/>
                    <a:pt x="8" y="12"/>
                  </a:cubicBezTo>
                  <a:cubicBezTo>
                    <a:pt x="28" y="10"/>
                    <a:pt x="28" y="10"/>
                    <a:pt x="28" y="10"/>
                  </a:cubicBezTo>
                  <a:cubicBezTo>
                    <a:pt x="28" y="16"/>
                    <a:pt x="28" y="16"/>
                    <a:pt x="28" y="16"/>
                  </a:cubicBezTo>
                  <a:cubicBezTo>
                    <a:pt x="10" y="18"/>
                    <a:pt x="10" y="18"/>
                    <a:pt x="10" y="18"/>
                  </a:cubicBezTo>
                  <a:cubicBezTo>
                    <a:pt x="7" y="18"/>
                    <a:pt x="5" y="18"/>
                    <a:pt x="3" y="16"/>
                  </a:cubicBezTo>
                  <a:cubicBezTo>
                    <a:pt x="2" y="15"/>
                    <a:pt x="1" y="13"/>
                    <a:pt x="1" y="11"/>
                  </a:cubicBezTo>
                  <a:cubicBezTo>
                    <a:pt x="0" y="8"/>
                    <a:pt x="1" y="6"/>
                    <a:pt x="2" y="5"/>
                  </a:cubicBezTo>
                  <a:cubicBezTo>
                    <a:pt x="3" y="3"/>
                    <a:pt x="5" y="2"/>
                    <a:pt x="8" y="2"/>
                  </a:cubicBezTo>
                  <a:cubicBezTo>
                    <a:pt x="27" y="0"/>
                    <a:pt x="27" y="0"/>
                    <a:pt x="27" y="0"/>
                  </a:cubicBezTo>
                  <a:cubicBezTo>
                    <a:pt x="27" y="6"/>
                    <a:pt x="27" y="6"/>
                    <a:pt x="27"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5" name="Freeform 18"/>
            <p:cNvSpPr>
              <a:spLocks noEditPoints="1"/>
            </p:cNvSpPr>
            <p:nvPr/>
          </p:nvSpPr>
          <p:spPr bwMode="auto">
            <a:xfrm>
              <a:off x="3851276" y="1292225"/>
              <a:ext cx="1435100" cy="1433513"/>
            </a:xfrm>
            <a:custGeom>
              <a:avLst/>
              <a:gdLst>
                <a:gd name="T0" fmla="*/ 191 w 381"/>
                <a:gd name="T1" fmla="*/ 0 h 381"/>
                <a:gd name="T2" fmla="*/ 381 w 381"/>
                <a:gd name="T3" fmla="*/ 191 h 381"/>
                <a:gd name="T4" fmla="*/ 191 w 381"/>
                <a:gd name="T5" fmla="*/ 381 h 381"/>
                <a:gd name="T6" fmla="*/ 0 w 381"/>
                <a:gd name="T7" fmla="*/ 191 h 381"/>
                <a:gd name="T8" fmla="*/ 191 w 381"/>
                <a:gd name="T9" fmla="*/ 0 h 381"/>
                <a:gd name="T10" fmla="*/ 191 w 381"/>
                <a:gd name="T11" fmla="*/ 17 h 381"/>
                <a:gd name="T12" fmla="*/ 365 w 381"/>
                <a:gd name="T13" fmla="*/ 191 h 381"/>
                <a:gd name="T14" fmla="*/ 191 w 381"/>
                <a:gd name="T15" fmla="*/ 365 h 381"/>
                <a:gd name="T16" fmla="*/ 16 w 381"/>
                <a:gd name="T17" fmla="*/ 191 h 381"/>
                <a:gd name="T18" fmla="*/ 191 w 381"/>
                <a:gd name="T19" fmla="*/ 17 h 381"/>
                <a:gd name="T20" fmla="*/ 191 w 381"/>
                <a:gd name="T21" fmla="*/ 21 h 381"/>
                <a:gd name="T22" fmla="*/ 361 w 381"/>
                <a:gd name="T23" fmla="*/ 191 h 381"/>
                <a:gd name="T24" fmla="*/ 191 w 381"/>
                <a:gd name="T25" fmla="*/ 361 h 381"/>
                <a:gd name="T26" fmla="*/ 20 w 381"/>
                <a:gd name="T27" fmla="*/ 191 h 381"/>
                <a:gd name="T28" fmla="*/ 191 w 381"/>
                <a:gd name="T29" fmla="*/ 21 h 381"/>
                <a:gd name="T30" fmla="*/ 191 w 381"/>
                <a:gd name="T31" fmla="*/ 73 h 381"/>
                <a:gd name="T32" fmla="*/ 309 w 381"/>
                <a:gd name="T33" fmla="*/ 191 h 381"/>
                <a:gd name="T34" fmla="*/ 191 w 381"/>
                <a:gd name="T35" fmla="*/ 309 h 381"/>
                <a:gd name="T36" fmla="*/ 72 w 381"/>
                <a:gd name="T37" fmla="*/ 191 h 381"/>
                <a:gd name="T38" fmla="*/ 191 w 381"/>
                <a:gd name="T39" fmla="*/ 73 h 381"/>
                <a:gd name="T40" fmla="*/ 191 w 381"/>
                <a:gd name="T41" fmla="*/ 76 h 381"/>
                <a:gd name="T42" fmla="*/ 305 w 381"/>
                <a:gd name="T43" fmla="*/ 191 h 381"/>
                <a:gd name="T44" fmla="*/ 191 w 381"/>
                <a:gd name="T45" fmla="*/ 306 h 381"/>
                <a:gd name="T46" fmla="*/ 76 w 381"/>
                <a:gd name="T47" fmla="*/ 191 h 381"/>
                <a:gd name="T48" fmla="*/ 191 w 381"/>
                <a:gd name="T49" fmla="*/ 76 h 381"/>
                <a:gd name="T50" fmla="*/ 191 w 381"/>
                <a:gd name="T51" fmla="*/ 9 h 381"/>
                <a:gd name="T52" fmla="*/ 372 w 381"/>
                <a:gd name="T53" fmla="*/ 191 h 381"/>
                <a:gd name="T54" fmla="*/ 191 w 381"/>
                <a:gd name="T55" fmla="*/ 373 h 381"/>
                <a:gd name="T56" fmla="*/ 9 w 381"/>
                <a:gd name="T57" fmla="*/ 191 h 381"/>
                <a:gd name="T58" fmla="*/ 191 w 381"/>
                <a:gd name="T59" fmla="*/ 9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1" h="381">
                  <a:moveTo>
                    <a:pt x="191" y="0"/>
                  </a:moveTo>
                  <a:cubicBezTo>
                    <a:pt x="296" y="0"/>
                    <a:pt x="381" y="86"/>
                    <a:pt x="381" y="191"/>
                  </a:cubicBezTo>
                  <a:cubicBezTo>
                    <a:pt x="381" y="296"/>
                    <a:pt x="296" y="381"/>
                    <a:pt x="191" y="381"/>
                  </a:cubicBezTo>
                  <a:cubicBezTo>
                    <a:pt x="86" y="381"/>
                    <a:pt x="0" y="296"/>
                    <a:pt x="0" y="191"/>
                  </a:cubicBezTo>
                  <a:cubicBezTo>
                    <a:pt x="0" y="86"/>
                    <a:pt x="86" y="0"/>
                    <a:pt x="191" y="0"/>
                  </a:cubicBezTo>
                  <a:close/>
                  <a:moveTo>
                    <a:pt x="191" y="17"/>
                  </a:moveTo>
                  <a:cubicBezTo>
                    <a:pt x="286" y="17"/>
                    <a:pt x="365" y="95"/>
                    <a:pt x="365" y="191"/>
                  </a:cubicBezTo>
                  <a:cubicBezTo>
                    <a:pt x="365" y="287"/>
                    <a:pt x="286" y="365"/>
                    <a:pt x="191" y="365"/>
                  </a:cubicBezTo>
                  <a:cubicBezTo>
                    <a:pt x="95" y="365"/>
                    <a:pt x="16" y="287"/>
                    <a:pt x="16" y="191"/>
                  </a:cubicBezTo>
                  <a:cubicBezTo>
                    <a:pt x="16" y="95"/>
                    <a:pt x="95" y="17"/>
                    <a:pt x="191" y="17"/>
                  </a:cubicBezTo>
                  <a:close/>
                  <a:moveTo>
                    <a:pt x="191" y="21"/>
                  </a:moveTo>
                  <a:cubicBezTo>
                    <a:pt x="284" y="21"/>
                    <a:pt x="361" y="97"/>
                    <a:pt x="361" y="191"/>
                  </a:cubicBezTo>
                  <a:cubicBezTo>
                    <a:pt x="361" y="285"/>
                    <a:pt x="284" y="361"/>
                    <a:pt x="191" y="361"/>
                  </a:cubicBezTo>
                  <a:cubicBezTo>
                    <a:pt x="97" y="361"/>
                    <a:pt x="20" y="285"/>
                    <a:pt x="20" y="191"/>
                  </a:cubicBezTo>
                  <a:cubicBezTo>
                    <a:pt x="20" y="97"/>
                    <a:pt x="97" y="21"/>
                    <a:pt x="191" y="21"/>
                  </a:cubicBezTo>
                  <a:close/>
                  <a:moveTo>
                    <a:pt x="191" y="73"/>
                  </a:moveTo>
                  <a:cubicBezTo>
                    <a:pt x="256" y="73"/>
                    <a:pt x="309" y="126"/>
                    <a:pt x="309" y="191"/>
                  </a:cubicBezTo>
                  <a:cubicBezTo>
                    <a:pt x="309" y="256"/>
                    <a:pt x="256" y="309"/>
                    <a:pt x="191" y="309"/>
                  </a:cubicBezTo>
                  <a:cubicBezTo>
                    <a:pt x="126" y="309"/>
                    <a:pt x="72" y="256"/>
                    <a:pt x="72" y="191"/>
                  </a:cubicBezTo>
                  <a:cubicBezTo>
                    <a:pt x="72" y="126"/>
                    <a:pt x="126" y="73"/>
                    <a:pt x="191" y="73"/>
                  </a:cubicBezTo>
                  <a:close/>
                  <a:moveTo>
                    <a:pt x="191" y="76"/>
                  </a:moveTo>
                  <a:cubicBezTo>
                    <a:pt x="254" y="76"/>
                    <a:pt x="305" y="128"/>
                    <a:pt x="305" y="191"/>
                  </a:cubicBezTo>
                  <a:cubicBezTo>
                    <a:pt x="305" y="254"/>
                    <a:pt x="254" y="306"/>
                    <a:pt x="191" y="306"/>
                  </a:cubicBezTo>
                  <a:cubicBezTo>
                    <a:pt x="127" y="306"/>
                    <a:pt x="76" y="254"/>
                    <a:pt x="76" y="191"/>
                  </a:cubicBezTo>
                  <a:cubicBezTo>
                    <a:pt x="76" y="128"/>
                    <a:pt x="127" y="76"/>
                    <a:pt x="191" y="76"/>
                  </a:cubicBezTo>
                  <a:close/>
                  <a:moveTo>
                    <a:pt x="191" y="9"/>
                  </a:moveTo>
                  <a:cubicBezTo>
                    <a:pt x="291" y="9"/>
                    <a:pt x="372" y="91"/>
                    <a:pt x="372" y="191"/>
                  </a:cubicBezTo>
                  <a:cubicBezTo>
                    <a:pt x="372" y="291"/>
                    <a:pt x="291" y="373"/>
                    <a:pt x="191" y="373"/>
                  </a:cubicBezTo>
                  <a:cubicBezTo>
                    <a:pt x="90" y="373"/>
                    <a:pt x="9" y="291"/>
                    <a:pt x="9" y="191"/>
                  </a:cubicBezTo>
                  <a:cubicBezTo>
                    <a:pt x="9" y="91"/>
                    <a:pt x="90" y="9"/>
                    <a:pt x="19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6" name="Freeform 19"/>
            <p:cNvSpPr>
              <a:spLocks noEditPoints="1"/>
            </p:cNvSpPr>
            <p:nvPr/>
          </p:nvSpPr>
          <p:spPr bwMode="auto">
            <a:xfrm>
              <a:off x="4416426" y="1778000"/>
              <a:ext cx="304800" cy="225425"/>
            </a:xfrm>
            <a:custGeom>
              <a:avLst/>
              <a:gdLst>
                <a:gd name="T0" fmla="*/ 70 w 81"/>
                <a:gd name="T1" fmla="*/ 19 h 60"/>
                <a:gd name="T2" fmla="*/ 79 w 81"/>
                <a:gd name="T3" fmla="*/ 14 h 60"/>
                <a:gd name="T4" fmla="*/ 61 w 81"/>
                <a:gd name="T5" fmla="*/ 19 h 60"/>
                <a:gd name="T6" fmla="*/ 46 w 81"/>
                <a:gd name="T7" fmla="*/ 34 h 60"/>
                <a:gd name="T8" fmla="*/ 49 w 81"/>
                <a:gd name="T9" fmla="*/ 37 h 60"/>
                <a:gd name="T10" fmla="*/ 51 w 81"/>
                <a:gd name="T11" fmla="*/ 43 h 60"/>
                <a:gd name="T12" fmla="*/ 30 w 81"/>
                <a:gd name="T13" fmla="*/ 43 h 60"/>
                <a:gd name="T14" fmla="*/ 25 w 81"/>
                <a:gd name="T15" fmla="*/ 41 h 60"/>
                <a:gd name="T16" fmla="*/ 33 w 81"/>
                <a:gd name="T17" fmla="*/ 36 h 60"/>
                <a:gd name="T18" fmla="*/ 35 w 81"/>
                <a:gd name="T19" fmla="*/ 30 h 60"/>
                <a:gd name="T20" fmla="*/ 55 w 81"/>
                <a:gd name="T21" fmla="*/ 35 h 60"/>
                <a:gd name="T22" fmla="*/ 21 w 81"/>
                <a:gd name="T23" fmla="*/ 39 h 60"/>
                <a:gd name="T24" fmla="*/ 27 w 81"/>
                <a:gd name="T25" fmla="*/ 34 h 60"/>
                <a:gd name="T26" fmla="*/ 55 w 81"/>
                <a:gd name="T27" fmla="*/ 50 h 60"/>
                <a:gd name="T28" fmla="*/ 52 w 81"/>
                <a:gd name="T29" fmla="*/ 59 h 60"/>
                <a:gd name="T30" fmla="*/ 29 w 81"/>
                <a:gd name="T31" fmla="*/ 43 h 60"/>
                <a:gd name="T32" fmla="*/ 25 w 81"/>
                <a:gd name="T33" fmla="*/ 53 h 60"/>
                <a:gd name="T34" fmla="*/ 20 w 81"/>
                <a:gd name="T35" fmla="*/ 46 h 60"/>
                <a:gd name="T36" fmla="*/ 18 w 81"/>
                <a:gd name="T37" fmla="*/ 52 h 60"/>
                <a:gd name="T38" fmla="*/ 13 w 81"/>
                <a:gd name="T39" fmla="*/ 59 h 60"/>
                <a:gd name="T40" fmla="*/ 13 w 81"/>
                <a:gd name="T41" fmla="*/ 41 h 60"/>
                <a:gd name="T42" fmla="*/ 25 w 81"/>
                <a:gd name="T43" fmla="*/ 29 h 60"/>
                <a:gd name="T44" fmla="*/ 6 w 81"/>
                <a:gd name="T45" fmla="*/ 35 h 60"/>
                <a:gd name="T46" fmla="*/ 79 w 81"/>
                <a:gd name="T47" fmla="*/ 29 h 60"/>
                <a:gd name="T48" fmla="*/ 64 w 81"/>
                <a:gd name="T49" fmla="*/ 35 h 60"/>
                <a:gd name="T50" fmla="*/ 12 w 81"/>
                <a:gd name="T51" fmla="*/ 24 h 60"/>
                <a:gd name="T52" fmla="*/ 30 w 81"/>
                <a:gd name="T53" fmla="*/ 28 h 60"/>
                <a:gd name="T54" fmla="*/ 41 w 81"/>
                <a:gd name="T55" fmla="*/ 28 h 60"/>
                <a:gd name="T56" fmla="*/ 51 w 81"/>
                <a:gd name="T57" fmla="*/ 28 h 60"/>
                <a:gd name="T58" fmla="*/ 69 w 81"/>
                <a:gd name="T59" fmla="*/ 24 h 60"/>
                <a:gd name="T60" fmla="*/ 69 w 81"/>
                <a:gd name="T61" fmla="*/ 59 h 60"/>
                <a:gd name="T62" fmla="*/ 52 w 81"/>
                <a:gd name="T63" fmla="*/ 60 h 60"/>
                <a:gd name="T64" fmla="*/ 25 w 81"/>
                <a:gd name="T65" fmla="*/ 60 h 60"/>
                <a:gd name="T66" fmla="*/ 0 w 81"/>
                <a:gd name="T67" fmla="*/ 35 h 60"/>
                <a:gd name="T68" fmla="*/ 6 w 81"/>
                <a:gd name="T69" fmla="*/ 18 h 60"/>
                <a:gd name="T70" fmla="*/ 15 w 81"/>
                <a:gd name="T71" fmla="*/ 12 h 60"/>
                <a:gd name="T72" fmla="*/ 23 w 81"/>
                <a:gd name="T73" fmla="*/ 0 h 60"/>
                <a:gd name="T74" fmla="*/ 32 w 81"/>
                <a:gd name="T75" fmla="*/ 6 h 60"/>
                <a:gd name="T76" fmla="*/ 39 w 81"/>
                <a:gd name="T77" fmla="*/ 6 h 60"/>
                <a:gd name="T78" fmla="*/ 48 w 81"/>
                <a:gd name="T79" fmla="*/ 1 h 60"/>
                <a:gd name="T80" fmla="*/ 58 w 81"/>
                <a:gd name="T81" fmla="*/ 0 h 60"/>
                <a:gd name="T82" fmla="*/ 66 w 81"/>
                <a:gd name="T83" fmla="*/ 18 h 60"/>
                <a:gd name="T84" fmla="*/ 72 w 81"/>
                <a:gd name="T85" fmla="*/ 18 h 60"/>
                <a:gd name="T86" fmla="*/ 81 w 81"/>
                <a:gd name="T87" fmla="*/ 14 h 60"/>
                <a:gd name="T88" fmla="*/ 23 w 81"/>
                <a:gd name="T89" fmla="*/ 14 h 60"/>
                <a:gd name="T90" fmla="*/ 14 w 81"/>
                <a:gd name="T91" fmla="*/ 18 h 60"/>
                <a:gd name="T92" fmla="*/ 5 w 81"/>
                <a:gd name="T93" fmla="*/ 19 h 60"/>
                <a:gd name="T94" fmla="*/ 23 w 81"/>
                <a:gd name="T95" fmla="*/ 18 h 60"/>
                <a:gd name="T96" fmla="*/ 36 w 81"/>
                <a:gd name="T97" fmla="*/ 22 h 60"/>
                <a:gd name="T98" fmla="*/ 49 w 81"/>
                <a:gd name="T99" fmla="*/ 18 h 60"/>
                <a:gd name="T100" fmla="*/ 57 w 81"/>
                <a:gd name="T101" fmla="*/ 59 h 60"/>
                <a:gd name="T102" fmla="*/ 24 w 81"/>
                <a:gd name="T103" fmla="*/ 1 h 60"/>
                <a:gd name="T104" fmla="*/ 37 w 81"/>
                <a:gd name="T105" fmla="*/ 1 h 60"/>
                <a:gd name="T106" fmla="*/ 47 w 81"/>
                <a:gd name="T107" fmla="*/ 6 h 60"/>
                <a:gd name="T108" fmla="*/ 24 w 81"/>
                <a:gd name="T109" fmla="*/ 10 h 60"/>
                <a:gd name="T110" fmla="*/ 41 w 81"/>
                <a:gd name="T111" fmla="*/ 16 h 60"/>
                <a:gd name="T112" fmla="*/ 51 w 81"/>
                <a:gd name="T113" fmla="*/ 16 h 60"/>
                <a:gd name="T114" fmla="*/ 65 w 81"/>
                <a:gd name="T115" fmla="*/ 45 h 60"/>
                <a:gd name="T116" fmla="*/ 57 w 81"/>
                <a:gd name="T117"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1" h="60">
                  <a:moveTo>
                    <a:pt x="63" y="19"/>
                  </a:moveTo>
                  <a:cubicBezTo>
                    <a:pt x="66" y="19"/>
                    <a:pt x="66" y="19"/>
                    <a:pt x="66" y="19"/>
                  </a:cubicBezTo>
                  <a:cubicBezTo>
                    <a:pt x="66" y="19"/>
                    <a:pt x="66" y="19"/>
                    <a:pt x="66" y="19"/>
                  </a:cubicBezTo>
                  <a:cubicBezTo>
                    <a:pt x="67" y="19"/>
                    <a:pt x="67" y="19"/>
                    <a:pt x="67" y="19"/>
                  </a:cubicBezTo>
                  <a:cubicBezTo>
                    <a:pt x="67" y="19"/>
                    <a:pt x="67" y="19"/>
                    <a:pt x="67" y="19"/>
                  </a:cubicBezTo>
                  <a:cubicBezTo>
                    <a:pt x="67" y="18"/>
                    <a:pt x="67" y="18"/>
                    <a:pt x="67" y="18"/>
                  </a:cubicBezTo>
                  <a:cubicBezTo>
                    <a:pt x="67" y="14"/>
                    <a:pt x="67" y="14"/>
                    <a:pt x="67" y="14"/>
                  </a:cubicBezTo>
                  <a:cubicBezTo>
                    <a:pt x="70" y="14"/>
                    <a:pt x="70" y="14"/>
                    <a:pt x="70" y="14"/>
                  </a:cubicBezTo>
                  <a:cubicBezTo>
                    <a:pt x="70" y="19"/>
                    <a:pt x="70" y="19"/>
                    <a:pt x="70" y="19"/>
                  </a:cubicBezTo>
                  <a:cubicBezTo>
                    <a:pt x="72" y="19"/>
                    <a:pt x="72" y="19"/>
                    <a:pt x="72" y="19"/>
                  </a:cubicBezTo>
                  <a:cubicBezTo>
                    <a:pt x="72" y="19"/>
                    <a:pt x="72" y="19"/>
                    <a:pt x="72" y="19"/>
                  </a:cubicBezTo>
                  <a:cubicBezTo>
                    <a:pt x="75" y="19"/>
                    <a:pt x="75" y="19"/>
                    <a:pt x="75" y="19"/>
                  </a:cubicBezTo>
                  <a:cubicBezTo>
                    <a:pt x="75" y="19"/>
                    <a:pt x="75" y="19"/>
                    <a:pt x="75" y="19"/>
                  </a:cubicBezTo>
                  <a:cubicBezTo>
                    <a:pt x="76" y="19"/>
                    <a:pt x="76" y="19"/>
                    <a:pt x="76" y="19"/>
                  </a:cubicBezTo>
                  <a:cubicBezTo>
                    <a:pt x="76" y="19"/>
                    <a:pt x="76" y="19"/>
                    <a:pt x="76" y="19"/>
                  </a:cubicBezTo>
                  <a:cubicBezTo>
                    <a:pt x="76" y="18"/>
                    <a:pt x="76" y="18"/>
                    <a:pt x="76" y="18"/>
                  </a:cubicBezTo>
                  <a:cubicBezTo>
                    <a:pt x="76" y="14"/>
                    <a:pt x="76" y="14"/>
                    <a:pt x="76" y="14"/>
                  </a:cubicBezTo>
                  <a:cubicBezTo>
                    <a:pt x="79" y="14"/>
                    <a:pt x="79" y="14"/>
                    <a:pt x="79" y="14"/>
                  </a:cubicBezTo>
                  <a:cubicBezTo>
                    <a:pt x="79" y="22"/>
                    <a:pt x="79" y="22"/>
                    <a:pt x="79" y="22"/>
                  </a:cubicBezTo>
                  <a:cubicBezTo>
                    <a:pt x="56" y="22"/>
                    <a:pt x="56" y="22"/>
                    <a:pt x="56" y="22"/>
                  </a:cubicBezTo>
                  <a:cubicBezTo>
                    <a:pt x="56" y="18"/>
                    <a:pt x="56" y="18"/>
                    <a:pt x="56" y="18"/>
                  </a:cubicBezTo>
                  <a:cubicBezTo>
                    <a:pt x="57" y="18"/>
                    <a:pt x="57" y="18"/>
                    <a:pt x="57" y="18"/>
                  </a:cubicBezTo>
                  <a:cubicBezTo>
                    <a:pt x="57" y="18"/>
                    <a:pt x="57" y="18"/>
                    <a:pt x="57" y="18"/>
                  </a:cubicBezTo>
                  <a:cubicBezTo>
                    <a:pt x="58" y="18"/>
                    <a:pt x="58" y="18"/>
                    <a:pt x="58" y="18"/>
                  </a:cubicBezTo>
                  <a:cubicBezTo>
                    <a:pt x="58" y="14"/>
                    <a:pt x="58" y="14"/>
                    <a:pt x="58" y="14"/>
                  </a:cubicBezTo>
                  <a:cubicBezTo>
                    <a:pt x="61" y="14"/>
                    <a:pt x="61" y="14"/>
                    <a:pt x="61" y="14"/>
                  </a:cubicBezTo>
                  <a:cubicBezTo>
                    <a:pt x="61" y="19"/>
                    <a:pt x="61" y="19"/>
                    <a:pt x="61" y="19"/>
                  </a:cubicBezTo>
                  <a:cubicBezTo>
                    <a:pt x="63" y="19"/>
                    <a:pt x="63" y="19"/>
                    <a:pt x="63" y="19"/>
                  </a:cubicBezTo>
                  <a:cubicBezTo>
                    <a:pt x="63" y="19"/>
                    <a:pt x="63" y="19"/>
                    <a:pt x="63" y="19"/>
                  </a:cubicBezTo>
                  <a:close/>
                  <a:moveTo>
                    <a:pt x="41" y="33"/>
                  </a:moveTo>
                  <a:cubicBezTo>
                    <a:pt x="42" y="33"/>
                    <a:pt x="43" y="33"/>
                    <a:pt x="44" y="33"/>
                  </a:cubicBezTo>
                  <a:cubicBezTo>
                    <a:pt x="45" y="30"/>
                    <a:pt x="45" y="30"/>
                    <a:pt x="45" y="30"/>
                  </a:cubicBezTo>
                  <a:cubicBezTo>
                    <a:pt x="44" y="30"/>
                    <a:pt x="43" y="29"/>
                    <a:pt x="41" y="29"/>
                  </a:cubicBezTo>
                  <a:cubicBezTo>
                    <a:pt x="41" y="29"/>
                    <a:pt x="41" y="29"/>
                    <a:pt x="41" y="29"/>
                  </a:cubicBezTo>
                  <a:cubicBezTo>
                    <a:pt x="41" y="33"/>
                    <a:pt x="41" y="33"/>
                    <a:pt x="41" y="33"/>
                  </a:cubicBezTo>
                  <a:close/>
                  <a:moveTo>
                    <a:pt x="46" y="34"/>
                  </a:moveTo>
                  <a:cubicBezTo>
                    <a:pt x="46" y="34"/>
                    <a:pt x="47" y="35"/>
                    <a:pt x="48" y="36"/>
                  </a:cubicBezTo>
                  <a:cubicBezTo>
                    <a:pt x="51" y="33"/>
                    <a:pt x="51" y="33"/>
                    <a:pt x="51" y="33"/>
                  </a:cubicBezTo>
                  <a:cubicBezTo>
                    <a:pt x="49" y="32"/>
                    <a:pt x="48" y="31"/>
                    <a:pt x="47" y="31"/>
                  </a:cubicBezTo>
                  <a:cubicBezTo>
                    <a:pt x="46" y="34"/>
                    <a:pt x="46" y="34"/>
                    <a:pt x="46" y="34"/>
                  </a:cubicBezTo>
                  <a:close/>
                  <a:moveTo>
                    <a:pt x="49" y="37"/>
                  </a:moveTo>
                  <a:cubicBezTo>
                    <a:pt x="50" y="37"/>
                    <a:pt x="50" y="38"/>
                    <a:pt x="50" y="38"/>
                  </a:cubicBezTo>
                  <a:cubicBezTo>
                    <a:pt x="54" y="37"/>
                    <a:pt x="54" y="37"/>
                    <a:pt x="54" y="37"/>
                  </a:cubicBezTo>
                  <a:cubicBezTo>
                    <a:pt x="53" y="36"/>
                    <a:pt x="53" y="35"/>
                    <a:pt x="52" y="34"/>
                  </a:cubicBezTo>
                  <a:cubicBezTo>
                    <a:pt x="49" y="37"/>
                    <a:pt x="49" y="37"/>
                    <a:pt x="49" y="37"/>
                  </a:cubicBezTo>
                  <a:close/>
                  <a:moveTo>
                    <a:pt x="51" y="40"/>
                  </a:moveTo>
                  <a:cubicBezTo>
                    <a:pt x="51" y="40"/>
                    <a:pt x="52" y="41"/>
                    <a:pt x="52" y="42"/>
                  </a:cubicBezTo>
                  <a:cubicBezTo>
                    <a:pt x="55" y="42"/>
                    <a:pt x="55" y="42"/>
                    <a:pt x="55" y="42"/>
                  </a:cubicBezTo>
                  <a:cubicBezTo>
                    <a:pt x="55" y="40"/>
                    <a:pt x="55" y="40"/>
                    <a:pt x="55" y="40"/>
                  </a:cubicBezTo>
                  <a:cubicBezTo>
                    <a:pt x="55" y="40"/>
                    <a:pt x="55" y="40"/>
                    <a:pt x="55" y="40"/>
                  </a:cubicBezTo>
                  <a:cubicBezTo>
                    <a:pt x="55" y="40"/>
                    <a:pt x="55" y="39"/>
                    <a:pt x="55" y="39"/>
                  </a:cubicBezTo>
                  <a:cubicBezTo>
                    <a:pt x="51" y="40"/>
                    <a:pt x="51" y="40"/>
                    <a:pt x="51" y="40"/>
                  </a:cubicBezTo>
                  <a:close/>
                  <a:moveTo>
                    <a:pt x="51" y="43"/>
                  </a:moveTo>
                  <a:cubicBezTo>
                    <a:pt x="51" y="43"/>
                    <a:pt x="51" y="43"/>
                    <a:pt x="51" y="43"/>
                  </a:cubicBezTo>
                  <a:cubicBezTo>
                    <a:pt x="50" y="42"/>
                    <a:pt x="50" y="41"/>
                    <a:pt x="50" y="40"/>
                  </a:cubicBezTo>
                  <a:cubicBezTo>
                    <a:pt x="50" y="40"/>
                    <a:pt x="50" y="40"/>
                    <a:pt x="50" y="40"/>
                  </a:cubicBezTo>
                  <a:cubicBezTo>
                    <a:pt x="50" y="40"/>
                    <a:pt x="50" y="40"/>
                    <a:pt x="50" y="40"/>
                  </a:cubicBezTo>
                  <a:cubicBezTo>
                    <a:pt x="49" y="39"/>
                    <a:pt x="48" y="38"/>
                    <a:pt x="47" y="37"/>
                  </a:cubicBezTo>
                  <a:cubicBezTo>
                    <a:pt x="47" y="37"/>
                    <a:pt x="47" y="37"/>
                    <a:pt x="47" y="37"/>
                  </a:cubicBezTo>
                  <a:cubicBezTo>
                    <a:pt x="47" y="37"/>
                    <a:pt x="47" y="37"/>
                    <a:pt x="47" y="37"/>
                  </a:cubicBezTo>
                  <a:cubicBezTo>
                    <a:pt x="45" y="35"/>
                    <a:pt x="43" y="34"/>
                    <a:pt x="40" y="34"/>
                  </a:cubicBezTo>
                  <a:cubicBezTo>
                    <a:pt x="35" y="34"/>
                    <a:pt x="31" y="38"/>
                    <a:pt x="30" y="43"/>
                  </a:cubicBezTo>
                  <a:cubicBezTo>
                    <a:pt x="30" y="43"/>
                    <a:pt x="30" y="43"/>
                    <a:pt x="30" y="43"/>
                  </a:cubicBezTo>
                  <a:cubicBezTo>
                    <a:pt x="30" y="59"/>
                    <a:pt x="30" y="59"/>
                    <a:pt x="30" y="59"/>
                  </a:cubicBezTo>
                  <a:cubicBezTo>
                    <a:pt x="51" y="59"/>
                    <a:pt x="51" y="59"/>
                    <a:pt x="51" y="59"/>
                  </a:cubicBezTo>
                  <a:cubicBezTo>
                    <a:pt x="51" y="43"/>
                    <a:pt x="51" y="43"/>
                    <a:pt x="51" y="43"/>
                  </a:cubicBezTo>
                  <a:close/>
                  <a:moveTo>
                    <a:pt x="29" y="42"/>
                  </a:moveTo>
                  <a:cubicBezTo>
                    <a:pt x="29" y="41"/>
                    <a:pt x="29" y="40"/>
                    <a:pt x="30" y="40"/>
                  </a:cubicBezTo>
                  <a:cubicBezTo>
                    <a:pt x="26" y="39"/>
                    <a:pt x="26" y="39"/>
                    <a:pt x="26" y="39"/>
                  </a:cubicBezTo>
                  <a:cubicBezTo>
                    <a:pt x="26" y="39"/>
                    <a:pt x="26" y="40"/>
                    <a:pt x="25" y="40"/>
                  </a:cubicBezTo>
                  <a:cubicBezTo>
                    <a:pt x="25" y="40"/>
                    <a:pt x="25" y="40"/>
                    <a:pt x="25" y="40"/>
                  </a:cubicBezTo>
                  <a:cubicBezTo>
                    <a:pt x="25" y="41"/>
                    <a:pt x="25" y="41"/>
                    <a:pt x="25" y="41"/>
                  </a:cubicBezTo>
                  <a:cubicBezTo>
                    <a:pt x="25" y="41"/>
                    <a:pt x="25" y="41"/>
                    <a:pt x="25" y="41"/>
                  </a:cubicBezTo>
                  <a:cubicBezTo>
                    <a:pt x="25" y="42"/>
                    <a:pt x="25" y="42"/>
                    <a:pt x="25" y="42"/>
                  </a:cubicBezTo>
                  <a:cubicBezTo>
                    <a:pt x="29" y="42"/>
                    <a:pt x="29" y="42"/>
                    <a:pt x="29" y="42"/>
                  </a:cubicBezTo>
                  <a:close/>
                  <a:moveTo>
                    <a:pt x="30" y="38"/>
                  </a:moveTo>
                  <a:cubicBezTo>
                    <a:pt x="31" y="38"/>
                    <a:pt x="31" y="37"/>
                    <a:pt x="32" y="37"/>
                  </a:cubicBezTo>
                  <a:cubicBezTo>
                    <a:pt x="29" y="34"/>
                    <a:pt x="29" y="34"/>
                    <a:pt x="29" y="34"/>
                  </a:cubicBezTo>
                  <a:cubicBezTo>
                    <a:pt x="28" y="35"/>
                    <a:pt x="27" y="36"/>
                    <a:pt x="27" y="37"/>
                  </a:cubicBezTo>
                  <a:cubicBezTo>
                    <a:pt x="30" y="38"/>
                    <a:pt x="30" y="38"/>
                    <a:pt x="30" y="38"/>
                  </a:cubicBezTo>
                  <a:close/>
                  <a:moveTo>
                    <a:pt x="33" y="36"/>
                  </a:moveTo>
                  <a:cubicBezTo>
                    <a:pt x="33" y="35"/>
                    <a:pt x="34" y="34"/>
                    <a:pt x="35" y="34"/>
                  </a:cubicBezTo>
                  <a:cubicBezTo>
                    <a:pt x="34" y="31"/>
                    <a:pt x="34" y="31"/>
                    <a:pt x="34" y="31"/>
                  </a:cubicBezTo>
                  <a:cubicBezTo>
                    <a:pt x="32" y="31"/>
                    <a:pt x="31" y="32"/>
                    <a:pt x="30" y="33"/>
                  </a:cubicBezTo>
                  <a:cubicBezTo>
                    <a:pt x="33" y="36"/>
                    <a:pt x="33" y="36"/>
                    <a:pt x="33" y="36"/>
                  </a:cubicBezTo>
                  <a:close/>
                  <a:moveTo>
                    <a:pt x="36" y="33"/>
                  </a:moveTo>
                  <a:cubicBezTo>
                    <a:pt x="37" y="33"/>
                    <a:pt x="39" y="33"/>
                    <a:pt x="40" y="33"/>
                  </a:cubicBezTo>
                  <a:cubicBezTo>
                    <a:pt x="40" y="29"/>
                    <a:pt x="40" y="29"/>
                    <a:pt x="40" y="29"/>
                  </a:cubicBezTo>
                  <a:cubicBezTo>
                    <a:pt x="39" y="29"/>
                    <a:pt x="39" y="29"/>
                    <a:pt x="39" y="29"/>
                  </a:cubicBezTo>
                  <a:cubicBezTo>
                    <a:pt x="38" y="29"/>
                    <a:pt x="36" y="30"/>
                    <a:pt x="35" y="30"/>
                  </a:cubicBezTo>
                  <a:cubicBezTo>
                    <a:pt x="36" y="33"/>
                    <a:pt x="36" y="33"/>
                    <a:pt x="36" y="33"/>
                  </a:cubicBezTo>
                  <a:close/>
                  <a:moveTo>
                    <a:pt x="47" y="29"/>
                  </a:moveTo>
                  <a:cubicBezTo>
                    <a:pt x="50" y="30"/>
                    <a:pt x="52" y="32"/>
                    <a:pt x="54" y="34"/>
                  </a:cubicBezTo>
                  <a:cubicBezTo>
                    <a:pt x="54" y="29"/>
                    <a:pt x="54" y="29"/>
                    <a:pt x="54" y="29"/>
                  </a:cubicBezTo>
                  <a:cubicBezTo>
                    <a:pt x="47" y="29"/>
                    <a:pt x="47" y="29"/>
                    <a:pt x="47" y="29"/>
                  </a:cubicBezTo>
                  <a:close/>
                  <a:moveTo>
                    <a:pt x="55" y="35"/>
                  </a:moveTo>
                  <a:cubicBezTo>
                    <a:pt x="55" y="36"/>
                    <a:pt x="55" y="36"/>
                    <a:pt x="55" y="36"/>
                  </a:cubicBezTo>
                  <a:cubicBezTo>
                    <a:pt x="55" y="35"/>
                    <a:pt x="55" y="35"/>
                    <a:pt x="55" y="35"/>
                  </a:cubicBezTo>
                  <a:cubicBezTo>
                    <a:pt x="55" y="35"/>
                    <a:pt x="55" y="35"/>
                    <a:pt x="55" y="35"/>
                  </a:cubicBezTo>
                  <a:close/>
                  <a:moveTo>
                    <a:pt x="55" y="36"/>
                  </a:moveTo>
                  <a:cubicBezTo>
                    <a:pt x="56" y="37"/>
                    <a:pt x="56" y="38"/>
                    <a:pt x="57" y="39"/>
                  </a:cubicBezTo>
                  <a:cubicBezTo>
                    <a:pt x="60" y="39"/>
                    <a:pt x="60" y="39"/>
                    <a:pt x="60" y="39"/>
                  </a:cubicBezTo>
                  <a:cubicBezTo>
                    <a:pt x="60" y="36"/>
                    <a:pt x="60" y="36"/>
                    <a:pt x="60" y="36"/>
                  </a:cubicBezTo>
                  <a:cubicBezTo>
                    <a:pt x="55" y="36"/>
                    <a:pt x="55" y="36"/>
                    <a:pt x="55" y="36"/>
                  </a:cubicBezTo>
                  <a:close/>
                  <a:moveTo>
                    <a:pt x="24" y="39"/>
                  </a:moveTo>
                  <a:cubicBezTo>
                    <a:pt x="24" y="38"/>
                    <a:pt x="25" y="37"/>
                    <a:pt x="26" y="36"/>
                  </a:cubicBezTo>
                  <a:cubicBezTo>
                    <a:pt x="21" y="36"/>
                    <a:pt x="21" y="36"/>
                    <a:pt x="21" y="36"/>
                  </a:cubicBezTo>
                  <a:cubicBezTo>
                    <a:pt x="21" y="39"/>
                    <a:pt x="21" y="39"/>
                    <a:pt x="21" y="39"/>
                  </a:cubicBezTo>
                  <a:cubicBezTo>
                    <a:pt x="24" y="39"/>
                    <a:pt x="24" y="39"/>
                    <a:pt x="24" y="39"/>
                  </a:cubicBezTo>
                  <a:close/>
                  <a:moveTo>
                    <a:pt x="26" y="35"/>
                  </a:moveTo>
                  <a:cubicBezTo>
                    <a:pt x="26" y="35"/>
                    <a:pt x="26" y="35"/>
                    <a:pt x="26" y="35"/>
                  </a:cubicBezTo>
                  <a:cubicBezTo>
                    <a:pt x="26" y="35"/>
                    <a:pt x="26" y="35"/>
                    <a:pt x="26" y="35"/>
                  </a:cubicBezTo>
                  <a:cubicBezTo>
                    <a:pt x="26" y="35"/>
                    <a:pt x="26" y="35"/>
                    <a:pt x="26" y="35"/>
                  </a:cubicBezTo>
                  <a:close/>
                  <a:moveTo>
                    <a:pt x="27" y="34"/>
                  </a:moveTo>
                  <a:cubicBezTo>
                    <a:pt x="29" y="32"/>
                    <a:pt x="31" y="30"/>
                    <a:pt x="33" y="29"/>
                  </a:cubicBezTo>
                  <a:cubicBezTo>
                    <a:pt x="27" y="29"/>
                    <a:pt x="27" y="29"/>
                    <a:pt x="27" y="29"/>
                  </a:cubicBezTo>
                  <a:cubicBezTo>
                    <a:pt x="27" y="34"/>
                    <a:pt x="27" y="34"/>
                    <a:pt x="27" y="34"/>
                  </a:cubicBezTo>
                  <a:close/>
                  <a:moveTo>
                    <a:pt x="55" y="43"/>
                  </a:moveTo>
                  <a:cubicBezTo>
                    <a:pt x="52" y="43"/>
                    <a:pt x="52" y="43"/>
                    <a:pt x="52" y="43"/>
                  </a:cubicBezTo>
                  <a:cubicBezTo>
                    <a:pt x="52" y="46"/>
                    <a:pt x="52" y="46"/>
                    <a:pt x="52" y="46"/>
                  </a:cubicBezTo>
                  <a:cubicBezTo>
                    <a:pt x="55" y="46"/>
                    <a:pt x="55" y="46"/>
                    <a:pt x="55" y="46"/>
                  </a:cubicBezTo>
                  <a:cubicBezTo>
                    <a:pt x="55" y="43"/>
                    <a:pt x="55" y="43"/>
                    <a:pt x="55" y="43"/>
                  </a:cubicBezTo>
                  <a:close/>
                  <a:moveTo>
                    <a:pt x="55" y="48"/>
                  </a:moveTo>
                  <a:cubicBezTo>
                    <a:pt x="52" y="48"/>
                    <a:pt x="52" y="48"/>
                    <a:pt x="52" y="48"/>
                  </a:cubicBezTo>
                  <a:cubicBezTo>
                    <a:pt x="52" y="50"/>
                    <a:pt x="52" y="50"/>
                    <a:pt x="52" y="50"/>
                  </a:cubicBezTo>
                  <a:cubicBezTo>
                    <a:pt x="55" y="50"/>
                    <a:pt x="55" y="50"/>
                    <a:pt x="55" y="50"/>
                  </a:cubicBezTo>
                  <a:cubicBezTo>
                    <a:pt x="55" y="48"/>
                    <a:pt x="55" y="48"/>
                    <a:pt x="55" y="48"/>
                  </a:cubicBezTo>
                  <a:close/>
                  <a:moveTo>
                    <a:pt x="55" y="52"/>
                  </a:moveTo>
                  <a:cubicBezTo>
                    <a:pt x="52" y="52"/>
                    <a:pt x="52" y="52"/>
                    <a:pt x="52" y="52"/>
                  </a:cubicBezTo>
                  <a:cubicBezTo>
                    <a:pt x="52" y="55"/>
                    <a:pt x="52" y="55"/>
                    <a:pt x="52" y="55"/>
                  </a:cubicBezTo>
                  <a:cubicBezTo>
                    <a:pt x="55" y="55"/>
                    <a:pt x="55" y="55"/>
                    <a:pt x="55" y="55"/>
                  </a:cubicBezTo>
                  <a:cubicBezTo>
                    <a:pt x="55" y="52"/>
                    <a:pt x="55" y="52"/>
                    <a:pt x="55" y="52"/>
                  </a:cubicBezTo>
                  <a:close/>
                  <a:moveTo>
                    <a:pt x="55" y="56"/>
                  </a:moveTo>
                  <a:cubicBezTo>
                    <a:pt x="52" y="56"/>
                    <a:pt x="52" y="56"/>
                    <a:pt x="52" y="56"/>
                  </a:cubicBezTo>
                  <a:cubicBezTo>
                    <a:pt x="52" y="59"/>
                    <a:pt x="52" y="59"/>
                    <a:pt x="52" y="59"/>
                  </a:cubicBezTo>
                  <a:cubicBezTo>
                    <a:pt x="55" y="59"/>
                    <a:pt x="55" y="59"/>
                    <a:pt x="55" y="59"/>
                  </a:cubicBezTo>
                  <a:cubicBezTo>
                    <a:pt x="55" y="56"/>
                    <a:pt x="55" y="56"/>
                    <a:pt x="55" y="56"/>
                  </a:cubicBezTo>
                  <a:close/>
                  <a:moveTo>
                    <a:pt x="29" y="43"/>
                  </a:moveTo>
                  <a:cubicBezTo>
                    <a:pt x="25" y="43"/>
                    <a:pt x="25" y="43"/>
                    <a:pt x="25" y="43"/>
                  </a:cubicBezTo>
                  <a:cubicBezTo>
                    <a:pt x="25" y="45"/>
                    <a:pt x="25" y="45"/>
                    <a:pt x="25" y="45"/>
                  </a:cubicBezTo>
                  <a:cubicBezTo>
                    <a:pt x="25" y="45"/>
                    <a:pt x="25" y="45"/>
                    <a:pt x="25" y="45"/>
                  </a:cubicBezTo>
                  <a:cubicBezTo>
                    <a:pt x="25" y="46"/>
                    <a:pt x="25" y="46"/>
                    <a:pt x="25" y="46"/>
                  </a:cubicBezTo>
                  <a:cubicBezTo>
                    <a:pt x="29" y="46"/>
                    <a:pt x="29" y="46"/>
                    <a:pt x="29" y="46"/>
                  </a:cubicBezTo>
                  <a:cubicBezTo>
                    <a:pt x="29" y="43"/>
                    <a:pt x="29" y="43"/>
                    <a:pt x="29" y="43"/>
                  </a:cubicBezTo>
                  <a:close/>
                  <a:moveTo>
                    <a:pt x="29" y="48"/>
                  </a:moveTo>
                  <a:cubicBezTo>
                    <a:pt x="25" y="48"/>
                    <a:pt x="25" y="48"/>
                    <a:pt x="25" y="48"/>
                  </a:cubicBezTo>
                  <a:cubicBezTo>
                    <a:pt x="25" y="50"/>
                    <a:pt x="25" y="50"/>
                    <a:pt x="25" y="50"/>
                  </a:cubicBezTo>
                  <a:cubicBezTo>
                    <a:pt x="29" y="50"/>
                    <a:pt x="29" y="50"/>
                    <a:pt x="29" y="50"/>
                  </a:cubicBezTo>
                  <a:cubicBezTo>
                    <a:pt x="29" y="48"/>
                    <a:pt x="29" y="48"/>
                    <a:pt x="29" y="48"/>
                  </a:cubicBezTo>
                  <a:close/>
                  <a:moveTo>
                    <a:pt x="29" y="52"/>
                  </a:moveTo>
                  <a:cubicBezTo>
                    <a:pt x="25" y="52"/>
                    <a:pt x="25" y="52"/>
                    <a:pt x="25" y="52"/>
                  </a:cubicBezTo>
                  <a:cubicBezTo>
                    <a:pt x="25" y="53"/>
                    <a:pt x="25" y="53"/>
                    <a:pt x="25" y="53"/>
                  </a:cubicBezTo>
                  <a:cubicBezTo>
                    <a:pt x="25" y="53"/>
                    <a:pt x="25" y="53"/>
                    <a:pt x="25" y="53"/>
                  </a:cubicBezTo>
                  <a:cubicBezTo>
                    <a:pt x="25" y="55"/>
                    <a:pt x="25" y="55"/>
                    <a:pt x="25" y="55"/>
                  </a:cubicBezTo>
                  <a:cubicBezTo>
                    <a:pt x="29" y="55"/>
                    <a:pt x="29" y="55"/>
                    <a:pt x="29" y="55"/>
                  </a:cubicBezTo>
                  <a:cubicBezTo>
                    <a:pt x="29" y="52"/>
                    <a:pt x="29" y="52"/>
                    <a:pt x="29" y="52"/>
                  </a:cubicBezTo>
                  <a:close/>
                  <a:moveTo>
                    <a:pt x="29" y="56"/>
                  </a:moveTo>
                  <a:cubicBezTo>
                    <a:pt x="25" y="56"/>
                    <a:pt x="25" y="56"/>
                    <a:pt x="25" y="56"/>
                  </a:cubicBezTo>
                  <a:cubicBezTo>
                    <a:pt x="25" y="59"/>
                    <a:pt x="25" y="59"/>
                    <a:pt x="25" y="59"/>
                  </a:cubicBezTo>
                  <a:cubicBezTo>
                    <a:pt x="29" y="59"/>
                    <a:pt x="29" y="59"/>
                    <a:pt x="29" y="59"/>
                  </a:cubicBezTo>
                  <a:cubicBezTo>
                    <a:pt x="29" y="56"/>
                    <a:pt x="29" y="56"/>
                    <a:pt x="29" y="56"/>
                  </a:cubicBezTo>
                  <a:close/>
                  <a:moveTo>
                    <a:pt x="20" y="46"/>
                  </a:moveTo>
                  <a:cubicBezTo>
                    <a:pt x="20" y="52"/>
                    <a:pt x="20" y="52"/>
                    <a:pt x="20" y="52"/>
                  </a:cubicBezTo>
                  <a:cubicBezTo>
                    <a:pt x="24" y="52"/>
                    <a:pt x="24" y="52"/>
                    <a:pt x="24" y="52"/>
                  </a:cubicBezTo>
                  <a:cubicBezTo>
                    <a:pt x="24" y="46"/>
                    <a:pt x="24" y="46"/>
                    <a:pt x="24" y="46"/>
                  </a:cubicBezTo>
                  <a:cubicBezTo>
                    <a:pt x="20" y="46"/>
                    <a:pt x="20" y="46"/>
                    <a:pt x="20" y="46"/>
                  </a:cubicBezTo>
                  <a:close/>
                  <a:moveTo>
                    <a:pt x="18" y="52"/>
                  </a:moveTo>
                  <a:cubicBezTo>
                    <a:pt x="18" y="46"/>
                    <a:pt x="18" y="46"/>
                    <a:pt x="18" y="46"/>
                  </a:cubicBezTo>
                  <a:cubicBezTo>
                    <a:pt x="13" y="46"/>
                    <a:pt x="13" y="46"/>
                    <a:pt x="13" y="46"/>
                  </a:cubicBezTo>
                  <a:cubicBezTo>
                    <a:pt x="13" y="52"/>
                    <a:pt x="13" y="52"/>
                    <a:pt x="13" y="52"/>
                  </a:cubicBezTo>
                  <a:cubicBezTo>
                    <a:pt x="18" y="52"/>
                    <a:pt x="18" y="52"/>
                    <a:pt x="18" y="52"/>
                  </a:cubicBezTo>
                  <a:close/>
                  <a:moveTo>
                    <a:pt x="17" y="53"/>
                  </a:moveTo>
                  <a:cubicBezTo>
                    <a:pt x="17" y="59"/>
                    <a:pt x="17" y="59"/>
                    <a:pt x="17" y="59"/>
                  </a:cubicBezTo>
                  <a:cubicBezTo>
                    <a:pt x="24" y="59"/>
                    <a:pt x="24" y="59"/>
                    <a:pt x="24" y="59"/>
                  </a:cubicBezTo>
                  <a:cubicBezTo>
                    <a:pt x="24" y="53"/>
                    <a:pt x="24" y="53"/>
                    <a:pt x="24" y="53"/>
                  </a:cubicBezTo>
                  <a:cubicBezTo>
                    <a:pt x="17" y="53"/>
                    <a:pt x="17" y="53"/>
                    <a:pt x="17" y="53"/>
                  </a:cubicBezTo>
                  <a:close/>
                  <a:moveTo>
                    <a:pt x="16" y="59"/>
                  </a:moveTo>
                  <a:cubicBezTo>
                    <a:pt x="16" y="53"/>
                    <a:pt x="16" y="53"/>
                    <a:pt x="16" y="53"/>
                  </a:cubicBezTo>
                  <a:cubicBezTo>
                    <a:pt x="13" y="53"/>
                    <a:pt x="13" y="53"/>
                    <a:pt x="13" y="53"/>
                  </a:cubicBezTo>
                  <a:cubicBezTo>
                    <a:pt x="13" y="59"/>
                    <a:pt x="13" y="59"/>
                    <a:pt x="13" y="59"/>
                  </a:cubicBezTo>
                  <a:cubicBezTo>
                    <a:pt x="16" y="59"/>
                    <a:pt x="16" y="59"/>
                    <a:pt x="16" y="59"/>
                  </a:cubicBezTo>
                  <a:close/>
                  <a:moveTo>
                    <a:pt x="17" y="41"/>
                  </a:moveTo>
                  <a:cubicBezTo>
                    <a:pt x="17" y="45"/>
                    <a:pt x="17" y="45"/>
                    <a:pt x="17" y="45"/>
                  </a:cubicBezTo>
                  <a:cubicBezTo>
                    <a:pt x="24" y="45"/>
                    <a:pt x="24" y="45"/>
                    <a:pt x="24" y="45"/>
                  </a:cubicBezTo>
                  <a:cubicBezTo>
                    <a:pt x="24" y="41"/>
                    <a:pt x="24" y="41"/>
                    <a:pt x="24" y="41"/>
                  </a:cubicBezTo>
                  <a:cubicBezTo>
                    <a:pt x="17" y="41"/>
                    <a:pt x="17" y="41"/>
                    <a:pt x="17" y="41"/>
                  </a:cubicBezTo>
                  <a:close/>
                  <a:moveTo>
                    <a:pt x="16" y="45"/>
                  </a:moveTo>
                  <a:cubicBezTo>
                    <a:pt x="16" y="41"/>
                    <a:pt x="16" y="41"/>
                    <a:pt x="16" y="41"/>
                  </a:cubicBezTo>
                  <a:cubicBezTo>
                    <a:pt x="13" y="41"/>
                    <a:pt x="13" y="41"/>
                    <a:pt x="13" y="41"/>
                  </a:cubicBezTo>
                  <a:cubicBezTo>
                    <a:pt x="13" y="45"/>
                    <a:pt x="13" y="45"/>
                    <a:pt x="13" y="45"/>
                  </a:cubicBezTo>
                  <a:cubicBezTo>
                    <a:pt x="16" y="45"/>
                    <a:pt x="16" y="45"/>
                    <a:pt x="16" y="45"/>
                  </a:cubicBezTo>
                  <a:close/>
                  <a:moveTo>
                    <a:pt x="19" y="39"/>
                  </a:moveTo>
                  <a:cubicBezTo>
                    <a:pt x="19" y="36"/>
                    <a:pt x="19" y="36"/>
                    <a:pt x="19" y="36"/>
                  </a:cubicBezTo>
                  <a:cubicBezTo>
                    <a:pt x="13" y="36"/>
                    <a:pt x="13" y="36"/>
                    <a:pt x="13" y="36"/>
                  </a:cubicBezTo>
                  <a:cubicBezTo>
                    <a:pt x="13" y="39"/>
                    <a:pt x="13" y="39"/>
                    <a:pt x="13" y="39"/>
                  </a:cubicBezTo>
                  <a:cubicBezTo>
                    <a:pt x="19" y="39"/>
                    <a:pt x="19" y="39"/>
                    <a:pt x="19" y="39"/>
                  </a:cubicBezTo>
                  <a:close/>
                  <a:moveTo>
                    <a:pt x="25" y="35"/>
                  </a:moveTo>
                  <a:cubicBezTo>
                    <a:pt x="25" y="29"/>
                    <a:pt x="25" y="29"/>
                    <a:pt x="25" y="29"/>
                  </a:cubicBezTo>
                  <a:cubicBezTo>
                    <a:pt x="17" y="29"/>
                    <a:pt x="17" y="29"/>
                    <a:pt x="17" y="29"/>
                  </a:cubicBezTo>
                  <a:cubicBezTo>
                    <a:pt x="17" y="35"/>
                    <a:pt x="17" y="35"/>
                    <a:pt x="17" y="35"/>
                  </a:cubicBezTo>
                  <a:cubicBezTo>
                    <a:pt x="25" y="35"/>
                    <a:pt x="25" y="35"/>
                    <a:pt x="25" y="35"/>
                  </a:cubicBezTo>
                  <a:close/>
                  <a:moveTo>
                    <a:pt x="16" y="35"/>
                  </a:moveTo>
                  <a:cubicBezTo>
                    <a:pt x="16" y="29"/>
                    <a:pt x="16" y="29"/>
                    <a:pt x="16" y="29"/>
                  </a:cubicBezTo>
                  <a:cubicBezTo>
                    <a:pt x="8" y="29"/>
                    <a:pt x="8" y="29"/>
                    <a:pt x="8" y="29"/>
                  </a:cubicBezTo>
                  <a:cubicBezTo>
                    <a:pt x="8" y="35"/>
                    <a:pt x="8" y="35"/>
                    <a:pt x="8" y="35"/>
                  </a:cubicBezTo>
                  <a:cubicBezTo>
                    <a:pt x="16" y="35"/>
                    <a:pt x="16" y="35"/>
                    <a:pt x="16" y="35"/>
                  </a:cubicBezTo>
                  <a:close/>
                  <a:moveTo>
                    <a:pt x="6" y="35"/>
                  </a:moveTo>
                  <a:cubicBezTo>
                    <a:pt x="6" y="29"/>
                    <a:pt x="6" y="29"/>
                    <a:pt x="6" y="29"/>
                  </a:cubicBezTo>
                  <a:cubicBezTo>
                    <a:pt x="2" y="29"/>
                    <a:pt x="2" y="29"/>
                    <a:pt x="2" y="29"/>
                  </a:cubicBezTo>
                  <a:cubicBezTo>
                    <a:pt x="2" y="35"/>
                    <a:pt x="2" y="35"/>
                    <a:pt x="2" y="35"/>
                  </a:cubicBezTo>
                  <a:cubicBezTo>
                    <a:pt x="6" y="35"/>
                    <a:pt x="6" y="35"/>
                    <a:pt x="6" y="35"/>
                  </a:cubicBezTo>
                  <a:close/>
                  <a:moveTo>
                    <a:pt x="79" y="29"/>
                  </a:moveTo>
                  <a:cubicBezTo>
                    <a:pt x="74" y="29"/>
                    <a:pt x="74" y="29"/>
                    <a:pt x="74" y="29"/>
                  </a:cubicBezTo>
                  <a:cubicBezTo>
                    <a:pt x="74" y="35"/>
                    <a:pt x="74" y="35"/>
                    <a:pt x="74" y="35"/>
                  </a:cubicBezTo>
                  <a:cubicBezTo>
                    <a:pt x="79" y="35"/>
                    <a:pt x="79" y="35"/>
                    <a:pt x="79" y="35"/>
                  </a:cubicBezTo>
                  <a:cubicBezTo>
                    <a:pt x="79" y="29"/>
                    <a:pt x="79" y="29"/>
                    <a:pt x="79" y="29"/>
                  </a:cubicBezTo>
                  <a:close/>
                  <a:moveTo>
                    <a:pt x="73" y="29"/>
                  </a:moveTo>
                  <a:cubicBezTo>
                    <a:pt x="65" y="29"/>
                    <a:pt x="65" y="29"/>
                    <a:pt x="65" y="29"/>
                  </a:cubicBezTo>
                  <a:cubicBezTo>
                    <a:pt x="65" y="35"/>
                    <a:pt x="65" y="35"/>
                    <a:pt x="65" y="35"/>
                  </a:cubicBezTo>
                  <a:cubicBezTo>
                    <a:pt x="73" y="35"/>
                    <a:pt x="73" y="35"/>
                    <a:pt x="73" y="35"/>
                  </a:cubicBezTo>
                  <a:cubicBezTo>
                    <a:pt x="73" y="29"/>
                    <a:pt x="73" y="29"/>
                    <a:pt x="73" y="29"/>
                  </a:cubicBezTo>
                  <a:close/>
                  <a:moveTo>
                    <a:pt x="64" y="29"/>
                  </a:moveTo>
                  <a:cubicBezTo>
                    <a:pt x="55" y="29"/>
                    <a:pt x="55" y="29"/>
                    <a:pt x="55" y="29"/>
                  </a:cubicBezTo>
                  <a:cubicBezTo>
                    <a:pt x="55" y="35"/>
                    <a:pt x="55" y="35"/>
                    <a:pt x="55" y="35"/>
                  </a:cubicBezTo>
                  <a:cubicBezTo>
                    <a:pt x="64" y="35"/>
                    <a:pt x="64" y="35"/>
                    <a:pt x="64" y="35"/>
                  </a:cubicBezTo>
                  <a:cubicBezTo>
                    <a:pt x="64" y="29"/>
                    <a:pt x="64" y="29"/>
                    <a:pt x="64" y="29"/>
                  </a:cubicBezTo>
                  <a:close/>
                  <a:moveTo>
                    <a:pt x="2" y="28"/>
                  </a:moveTo>
                  <a:cubicBezTo>
                    <a:pt x="5" y="28"/>
                    <a:pt x="5" y="28"/>
                    <a:pt x="5" y="28"/>
                  </a:cubicBezTo>
                  <a:cubicBezTo>
                    <a:pt x="5" y="24"/>
                    <a:pt x="5" y="24"/>
                    <a:pt x="5" y="24"/>
                  </a:cubicBezTo>
                  <a:cubicBezTo>
                    <a:pt x="2" y="24"/>
                    <a:pt x="2" y="24"/>
                    <a:pt x="2" y="24"/>
                  </a:cubicBezTo>
                  <a:cubicBezTo>
                    <a:pt x="2" y="28"/>
                    <a:pt x="2" y="28"/>
                    <a:pt x="2" y="28"/>
                  </a:cubicBezTo>
                  <a:close/>
                  <a:moveTo>
                    <a:pt x="6" y="28"/>
                  </a:moveTo>
                  <a:cubicBezTo>
                    <a:pt x="12" y="28"/>
                    <a:pt x="12" y="28"/>
                    <a:pt x="12" y="28"/>
                  </a:cubicBezTo>
                  <a:cubicBezTo>
                    <a:pt x="12" y="24"/>
                    <a:pt x="12" y="24"/>
                    <a:pt x="12" y="24"/>
                  </a:cubicBezTo>
                  <a:cubicBezTo>
                    <a:pt x="6" y="24"/>
                    <a:pt x="6" y="24"/>
                    <a:pt x="6" y="24"/>
                  </a:cubicBezTo>
                  <a:cubicBezTo>
                    <a:pt x="6" y="28"/>
                    <a:pt x="6" y="28"/>
                    <a:pt x="6" y="28"/>
                  </a:cubicBezTo>
                  <a:close/>
                  <a:moveTo>
                    <a:pt x="13" y="28"/>
                  </a:moveTo>
                  <a:cubicBezTo>
                    <a:pt x="18" y="28"/>
                    <a:pt x="18" y="28"/>
                    <a:pt x="18" y="28"/>
                  </a:cubicBezTo>
                  <a:cubicBezTo>
                    <a:pt x="18" y="24"/>
                    <a:pt x="18" y="24"/>
                    <a:pt x="18" y="24"/>
                  </a:cubicBezTo>
                  <a:cubicBezTo>
                    <a:pt x="13" y="24"/>
                    <a:pt x="13" y="24"/>
                    <a:pt x="13" y="24"/>
                  </a:cubicBezTo>
                  <a:cubicBezTo>
                    <a:pt x="13" y="28"/>
                    <a:pt x="13" y="28"/>
                    <a:pt x="13" y="28"/>
                  </a:cubicBezTo>
                  <a:close/>
                  <a:moveTo>
                    <a:pt x="20" y="28"/>
                  </a:moveTo>
                  <a:cubicBezTo>
                    <a:pt x="30" y="28"/>
                    <a:pt x="30" y="28"/>
                    <a:pt x="30" y="28"/>
                  </a:cubicBezTo>
                  <a:cubicBezTo>
                    <a:pt x="30" y="24"/>
                    <a:pt x="30" y="24"/>
                    <a:pt x="30" y="24"/>
                  </a:cubicBezTo>
                  <a:cubicBezTo>
                    <a:pt x="20" y="24"/>
                    <a:pt x="20" y="24"/>
                    <a:pt x="20" y="24"/>
                  </a:cubicBezTo>
                  <a:cubicBezTo>
                    <a:pt x="20" y="28"/>
                    <a:pt x="20" y="28"/>
                    <a:pt x="20" y="28"/>
                  </a:cubicBezTo>
                  <a:close/>
                  <a:moveTo>
                    <a:pt x="31" y="28"/>
                  </a:moveTo>
                  <a:cubicBezTo>
                    <a:pt x="40" y="28"/>
                    <a:pt x="40" y="28"/>
                    <a:pt x="40" y="28"/>
                  </a:cubicBezTo>
                  <a:cubicBezTo>
                    <a:pt x="40" y="24"/>
                    <a:pt x="40" y="24"/>
                    <a:pt x="40" y="24"/>
                  </a:cubicBezTo>
                  <a:cubicBezTo>
                    <a:pt x="31" y="24"/>
                    <a:pt x="31" y="24"/>
                    <a:pt x="31" y="24"/>
                  </a:cubicBezTo>
                  <a:cubicBezTo>
                    <a:pt x="31" y="28"/>
                    <a:pt x="31" y="28"/>
                    <a:pt x="31" y="28"/>
                  </a:cubicBezTo>
                  <a:close/>
                  <a:moveTo>
                    <a:pt x="41" y="28"/>
                  </a:moveTo>
                  <a:cubicBezTo>
                    <a:pt x="50" y="28"/>
                    <a:pt x="50" y="28"/>
                    <a:pt x="50" y="28"/>
                  </a:cubicBezTo>
                  <a:cubicBezTo>
                    <a:pt x="50" y="24"/>
                    <a:pt x="50" y="24"/>
                    <a:pt x="50" y="24"/>
                  </a:cubicBezTo>
                  <a:cubicBezTo>
                    <a:pt x="41" y="24"/>
                    <a:pt x="41" y="24"/>
                    <a:pt x="41" y="24"/>
                  </a:cubicBezTo>
                  <a:cubicBezTo>
                    <a:pt x="41" y="28"/>
                    <a:pt x="41" y="28"/>
                    <a:pt x="41" y="28"/>
                  </a:cubicBezTo>
                  <a:close/>
                  <a:moveTo>
                    <a:pt x="51" y="28"/>
                  </a:moveTo>
                  <a:cubicBezTo>
                    <a:pt x="61" y="28"/>
                    <a:pt x="61" y="28"/>
                    <a:pt x="61" y="28"/>
                  </a:cubicBezTo>
                  <a:cubicBezTo>
                    <a:pt x="61" y="24"/>
                    <a:pt x="61" y="24"/>
                    <a:pt x="61" y="24"/>
                  </a:cubicBezTo>
                  <a:cubicBezTo>
                    <a:pt x="51" y="24"/>
                    <a:pt x="51" y="24"/>
                    <a:pt x="51" y="24"/>
                  </a:cubicBezTo>
                  <a:cubicBezTo>
                    <a:pt x="51" y="28"/>
                    <a:pt x="51" y="28"/>
                    <a:pt x="51" y="28"/>
                  </a:cubicBezTo>
                  <a:close/>
                  <a:moveTo>
                    <a:pt x="63" y="28"/>
                  </a:moveTo>
                  <a:cubicBezTo>
                    <a:pt x="67" y="28"/>
                    <a:pt x="67" y="28"/>
                    <a:pt x="67" y="28"/>
                  </a:cubicBezTo>
                  <a:cubicBezTo>
                    <a:pt x="67" y="24"/>
                    <a:pt x="67" y="24"/>
                    <a:pt x="67" y="24"/>
                  </a:cubicBezTo>
                  <a:cubicBezTo>
                    <a:pt x="63" y="24"/>
                    <a:pt x="63" y="24"/>
                    <a:pt x="63" y="24"/>
                  </a:cubicBezTo>
                  <a:cubicBezTo>
                    <a:pt x="63" y="28"/>
                    <a:pt x="63" y="28"/>
                    <a:pt x="63" y="28"/>
                  </a:cubicBezTo>
                  <a:close/>
                  <a:moveTo>
                    <a:pt x="69" y="28"/>
                  </a:moveTo>
                  <a:cubicBezTo>
                    <a:pt x="74" y="28"/>
                    <a:pt x="74" y="28"/>
                    <a:pt x="74" y="28"/>
                  </a:cubicBezTo>
                  <a:cubicBezTo>
                    <a:pt x="74" y="24"/>
                    <a:pt x="74" y="24"/>
                    <a:pt x="74" y="24"/>
                  </a:cubicBezTo>
                  <a:cubicBezTo>
                    <a:pt x="69" y="24"/>
                    <a:pt x="69" y="24"/>
                    <a:pt x="69" y="24"/>
                  </a:cubicBezTo>
                  <a:cubicBezTo>
                    <a:pt x="69" y="28"/>
                    <a:pt x="69" y="28"/>
                    <a:pt x="69" y="28"/>
                  </a:cubicBezTo>
                  <a:close/>
                  <a:moveTo>
                    <a:pt x="76" y="28"/>
                  </a:moveTo>
                  <a:cubicBezTo>
                    <a:pt x="79" y="28"/>
                    <a:pt x="79" y="28"/>
                    <a:pt x="79" y="28"/>
                  </a:cubicBezTo>
                  <a:cubicBezTo>
                    <a:pt x="79" y="24"/>
                    <a:pt x="79" y="24"/>
                    <a:pt x="79" y="24"/>
                  </a:cubicBezTo>
                  <a:cubicBezTo>
                    <a:pt x="76" y="24"/>
                    <a:pt x="76" y="24"/>
                    <a:pt x="76" y="24"/>
                  </a:cubicBezTo>
                  <a:cubicBezTo>
                    <a:pt x="76" y="28"/>
                    <a:pt x="76" y="28"/>
                    <a:pt x="76" y="28"/>
                  </a:cubicBezTo>
                  <a:close/>
                  <a:moveTo>
                    <a:pt x="79" y="36"/>
                  </a:moveTo>
                  <a:cubicBezTo>
                    <a:pt x="69" y="36"/>
                    <a:pt x="69" y="36"/>
                    <a:pt x="69" y="36"/>
                  </a:cubicBezTo>
                  <a:cubicBezTo>
                    <a:pt x="69" y="59"/>
                    <a:pt x="69" y="59"/>
                    <a:pt x="69" y="59"/>
                  </a:cubicBezTo>
                  <a:cubicBezTo>
                    <a:pt x="69" y="60"/>
                    <a:pt x="69" y="60"/>
                    <a:pt x="69" y="60"/>
                  </a:cubicBezTo>
                  <a:cubicBezTo>
                    <a:pt x="69" y="60"/>
                    <a:pt x="69" y="60"/>
                    <a:pt x="69" y="60"/>
                  </a:cubicBezTo>
                  <a:cubicBezTo>
                    <a:pt x="68" y="60"/>
                    <a:pt x="68" y="60"/>
                    <a:pt x="68" y="60"/>
                  </a:cubicBezTo>
                  <a:cubicBezTo>
                    <a:pt x="68" y="60"/>
                    <a:pt x="68" y="60"/>
                    <a:pt x="68" y="60"/>
                  </a:cubicBezTo>
                  <a:cubicBezTo>
                    <a:pt x="57" y="60"/>
                    <a:pt x="57" y="60"/>
                    <a:pt x="57" y="60"/>
                  </a:cubicBezTo>
                  <a:cubicBezTo>
                    <a:pt x="57" y="60"/>
                    <a:pt x="57" y="60"/>
                    <a:pt x="57" y="60"/>
                  </a:cubicBezTo>
                  <a:cubicBezTo>
                    <a:pt x="55" y="60"/>
                    <a:pt x="55" y="60"/>
                    <a:pt x="55" y="60"/>
                  </a:cubicBezTo>
                  <a:cubicBezTo>
                    <a:pt x="55" y="60"/>
                    <a:pt x="55" y="60"/>
                    <a:pt x="55" y="60"/>
                  </a:cubicBezTo>
                  <a:cubicBezTo>
                    <a:pt x="52" y="60"/>
                    <a:pt x="52" y="60"/>
                    <a:pt x="52" y="60"/>
                  </a:cubicBezTo>
                  <a:cubicBezTo>
                    <a:pt x="52" y="60"/>
                    <a:pt x="52" y="60"/>
                    <a:pt x="52" y="60"/>
                  </a:cubicBezTo>
                  <a:cubicBezTo>
                    <a:pt x="51" y="60"/>
                    <a:pt x="51" y="60"/>
                    <a:pt x="51" y="60"/>
                  </a:cubicBezTo>
                  <a:cubicBezTo>
                    <a:pt x="51" y="60"/>
                    <a:pt x="51" y="60"/>
                    <a:pt x="51" y="60"/>
                  </a:cubicBezTo>
                  <a:cubicBezTo>
                    <a:pt x="30" y="60"/>
                    <a:pt x="30" y="60"/>
                    <a:pt x="30" y="60"/>
                  </a:cubicBezTo>
                  <a:cubicBezTo>
                    <a:pt x="30" y="60"/>
                    <a:pt x="30" y="60"/>
                    <a:pt x="30" y="60"/>
                  </a:cubicBezTo>
                  <a:cubicBezTo>
                    <a:pt x="29" y="60"/>
                    <a:pt x="29" y="60"/>
                    <a:pt x="29" y="60"/>
                  </a:cubicBezTo>
                  <a:cubicBezTo>
                    <a:pt x="29" y="60"/>
                    <a:pt x="29" y="60"/>
                    <a:pt x="29" y="60"/>
                  </a:cubicBezTo>
                  <a:cubicBezTo>
                    <a:pt x="25" y="60"/>
                    <a:pt x="25" y="60"/>
                    <a:pt x="25" y="60"/>
                  </a:cubicBezTo>
                  <a:cubicBezTo>
                    <a:pt x="25" y="60"/>
                    <a:pt x="25" y="60"/>
                    <a:pt x="25" y="60"/>
                  </a:cubicBezTo>
                  <a:cubicBezTo>
                    <a:pt x="24" y="60"/>
                    <a:pt x="24" y="60"/>
                    <a:pt x="24" y="60"/>
                  </a:cubicBezTo>
                  <a:cubicBezTo>
                    <a:pt x="24" y="60"/>
                    <a:pt x="24" y="60"/>
                    <a:pt x="24" y="60"/>
                  </a:cubicBezTo>
                  <a:cubicBezTo>
                    <a:pt x="13" y="60"/>
                    <a:pt x="13" y="60"/>
                    <a:pt x="13" y="60"/>
                  </a:cubicBezTo>
                  <a:cubicBezTo>
                    <a:pt x="13" y="60"/>
                    <a:pt x="13" y="60"/>
                    <a:pt x="13" y="60"/>
                  </a:cubicBezTo>
                  <a:cubicBezTo>
                    <a:pt x="11" y="60"/>
                    <a:pt x="11" y="60"/>
                    <a:pt x="11" y="60"/>
                  </a:cubicBezTo>
                  <a:cubicBezTo>
                    <a:pt x="11" y="36"/>
                    <a:pt x="11" y="36"/>
                    <a:pt x="11" y="36"/>
                  </a:cubicBezTo>
                  <a:cubicBezTo>
                    <a:pt x="2" y="36"/>
                    <a:pt x="2" y="36"/>
                    <a:pt x="2" y="36"/>
                  </a:cubicBezTo>
                  <a:cubicBezTo>
                    <a:pt x="0" y="36"/>
                    <a:pt x="0" y="36"/>
                    <a:pt x="0" y="36"/>
                  </a:cubicBezTo>
                  <a:cubicBezTo>
                    <a:pt x="0" y="35"/>
                    <a:pt x="0" y="35"/>
                    <a:pt x="0" y="35"/>
                  </a:cubicBezTo>
                  <a:cubicBezTo>
                    <a:pt x="0" y="14"/>
                    <a:pt x="0" y="14"/>
                    <a:pt x="0" y="14"/>
                  </a:cubicBezTo>
                  <a:cubicBezTo>
                    <a:pt x="0" y="12"/>
                    <a:pt x="0" y="12"/>
                    <a:pt x="0" y="12"/>
                  </a:cubicBezTo>
                  <a:cubicBezTo>
                    <a:pt x="0" y="12"/>
                    <a:pt x="0" y="12"/>
                    <a:pt x="0" y="12"/>
                  </a:cubicBezTo>
                  <a:cubicBezTo>
                    <a:pt x="2" y="12"/>
                    <a:pt x="2" y="12"/>
                    <a:pt x="2" y="12"/>
                  </a:cubicBezTo>
                  <a:cubicBezTo>
                    <a:pt x="2" y="12"/>
                    <a:pt x="2" y="12"/>
                    <a:pt x="2" y="12"/>
                  </a:cubicBezTo>
                  <a:cubicBezTo>
                    <a:pt x="5" y="12"/>
                    <a:pt x="5" y="12"/>
                    <a:pt x="5" y="12"/>
                  </a:cubicBezTo>
                  <a:cubicBezTo>
                    <a:pt x="5" y="12"/>
                    <a:pt x="5" y="12"/>
                    <a:pt x="5" y="12"/>
                  </a:cubicBezTo>
                  <a:cubicBezTo>
                    <a:pt x="6" y="12"/>
                    <a:pt x="6" y="12"/>
                    <a:pt x="6" y="12"/>
                  </a:cubicBezTo>
                  <a:cubicBezTo>
                    <a:pt x="6" y="18"/>
                    <a:pt x="6" y="18"/>
                    <a:pt x="6" y="18"/>
                  </a:cubicBezTo>
                  <a:cubicBezTo>
                    <a:pt x="9" y="18"/>
                    <a:pt x="9" y="18"/>
                    <a:pt x="9" y="18"/>
                  </a:cubicBezTo>
                  <a:cubicBezTo>
                    <a:pt x="9" y="14"/>
                    <a:pt x="9" y="14"/>
                    <a:pt x="9" y="14"/>
                  </a:cubicBezTo>
                  <a:cubicBezTo>
                    <a:pt x="9" y="12"/>
                    <a:pt x="9" y="12"/>
                    <a:pt x="9" y="12"/>
                  </a:cubicBezTo>
                  <a:cubicBezTo>
                    <a:pt x="9" y="12"/>
                    <a:pt x="9" y="12"/>
                    <a:pt x="9" y="12"/>
                  </a:cubicBezTo>
                  <a:cubicBezTo>
                    <a:pt x="11" y="12"/>
                    <a:pt x="11" y="12"/>
                    <a:pt x="11" y="12"/>
                  </a:cubicBezTo>
                  <a:cubicBezTo>
                    <a:pt x="11" y="12"/>
                    <a:pt x="11" y="12"/>
                    <a:pt x="11" y="12"/>
                  </a:cubicBezTo>
                  <a:cubicBezTo>
                    <a:pt x="14" y="12"/>
                    <a:pt x="14" y="12"/>
                    <a:pt x="14" y="12"/>
                  </a:cubicBezTo>
                  <a:cubicBezTo>
                    <a:pt x="14" y="12"/>
                    <a:pt x="14" y="12"/>
                    <a:pt x="14" y="12"/>
                  </a:cubicBezTo>
                  <a:cubicBezTo>
                    <a:pt x="15" y="12"/>
                    <a:pt x="15" y="12"/>
                    <a:pt x="15" y="12"/>
                  </a:cubicBezTo>
                  <a:cubicBezTo>
                    <a:pt x="15" y="18"/>
                    <a:pt x="15" y="18"/>
                    <a:pt x="15" y="18"/>
                  </a:cubicBezTo>
                  <a:cubicBezTo>
                    <a:pt x="18" y="18"/>
                    <a:pt x="18" y="18"/>
                    <a:pt x="18" y="18"/>
                  </a:cubicBezTo>
                  <a:cubicBezTo>
                    <a:pt x="18" y="14"/>
                    <a:pt x="18" y="14"/>
                    <a:pt x="18" y="14"/>
                  </a:cubicBezTo>
                  <a:cubicBezTo>
                    <a:pt x="18" y="12"/>
                    <a:pt x="18" y="12"/>
                    <a:pt x="18" y="12"/>
                  </a:cubicBezTo>
                  <a:cubicBezTo>
                    <a:pt x="18" y="12"/>
                    <a:pt x="18" y="12"/>
                    <a:pt x="18" y="12"/>
                  </a:cubicBezTo>
                  <a:cubicBezTo>
                    <a:pt x="20" y="12"/>
                    <a:pt x="20" y="12"/>
                    <a:pt x="20" y="12"/>
                  </a:cubicBezTo>
                  <a:cubicBezTo>
                    <a:pt x="20" y="12"/>
                    <a:pt x="20" y="12"/>
                    <a:pt x="20" y="12"/>
                  </a:cubicBezTo>
                  <a:cubicBezTo>
                    <a:pt x="23" y="12"/>
                    <a:pt x="23" y="12"/>
                    <a:pt x="23" y="12"/>
                  </a:cubicBezTo>
                  <a:cubicBezTo>
                    <a:pt x="23" y="0"/>
                    <a:pt x="23" y="0"/>
                    <a:pt x="23" y="0"/>
                  </a:cubicBezTo>
                  <a:cubicBezTo>
                    <a:pt x="24" y="0"/>
                    <a:pt x="24" y="0"/>
                    <a:pt x="24" y="0"/>
                  </a:cubicBezTo>
                  <a:cubicBezTo>
                    <a:pt x="24" y="0"/>
                    <a:pt x="24" y="0"/>
                    <a:pt x="24" y="0"/>
                  </a:cubicBezTo>
                  <a:cubicBezTo>
                    <a:pt x="27" y="0"/>
                    <a:pt x="27" y="0"/>
                    <a:pt x="27" y="0"/>
                  </a:cubicBezTo>
                  <a:cubicBezTo>
                    <a:pt x="27" y="0"/>
                    <a:pt x="27" y="0"/>
                    <a:pt x="27" y="0"/>
                  </a:cubicBezTo>
                  <a:cubicBezTo>
                    <a:pt x="29" y="0"/>
                    <a:pt x="29" y="0"/>
                    <a:pt x="29" y="0"/>
                  </a:cubicBezTo>
                  <a:cubicBezTo>
                    <a:pt x="29" y="0"/>
                    <a:pt x="29" y="0"/>
                    <a:pt x="29" y="0"/>
                  </a:cubicBezTo>
                  <a:cubicBezTo>
                    <a:pt x="29" y="1"/>
                    <a:pt x="29" y="1"/>
                    <a:pt x="29" y="1"/>
                  </a:cubicBezTo>
                  <a:cubicBezTo>
                    <a:pt x="29" y="6"/>
                    <a:pt x="29" y="6"/>
                    <a:pt x="29" y="6"/>
                  </a:cubicBezTo>
                  <a:cubicBezTo>
                    <a:pt x="32" y="6"/>
                    <a:pt x="32" y="6"/>
                    <a:pt x="32" y="6"/>
                  </a:cubicBezTo>
                  <a:cubicBezTo>
                    <a:pt x="32" y="0"/>
                    <a:pt x="32" y="0"/>
                    <a:pt x="32" y="0"/>
                  </a:cubicBezTo>
                  <a:cubicBezTo>
                    <a:pt x="34" y="0"/>
                    <a:pt x="34" y="0"/>
                    <a:pt x="34" y="0"/>
                  </a:cubicBezTo>
                  <a:cubicBezTo>
                    <a:pt x="34" y="0"/>
                    <a:pt x="34" y="0"/>
                    <a:pt x="34" y="0"/>
                  </a:cubicBezTo>
                  <a:cubicBezTo>
                    <a:pt x="37" y="0"/>
                    <a:pt x="37" y="0"/>
                    <a:pt x="37" y="0"/>
                  </a:cubicBezTo>
                  <a:cubicBezTo>
                    <a:pt x="37" y="0"/>
                    <a:pt x="37" y="0"/>
                    <a:pt x="37" y="0"/>
                  </a:cubicBezTo>
                  <a:cubicBezTo>
                    <a:pt x="39" y="0"/>
                    <a:pt x="39" y="0"/>
                    <a:pt x="39" y="0"/>
                  </a:cubicBezTo>
                  <a:cubicBezTo>
                    <a:pt x="39" y="0"/>
                    <a:pt x="39" y="0"/>
                    <a:pt x="39" y="0"/>
                  </a:cubicBezTo>
                  <a:cubicBezTo>
                    <a:pt x="39" y="1"/>
                    <a:pt x="39" y="1"/>
                    <a:pt x="39" y="1"/>
                  </a:cubicBezTo>
                  <a:cubicBezTo>
                    <a:pt x="39" y="6"/>
                    <a:pt x="39" y="6"/>
                    <a:pt x="39" y="6"/>
                  </a:cubicBezTo>
                  <a:cubicBezTo>
                    <a:pt x="42" y="6"/>
                    <a:pt x="42" y="6"/>
                    <a:pt x="42" y="6"/>
                  </a:cubicBezTo>
                  <a:cubicBezTo>
                    <a:pt x="42" y="0"/>
                    <a:pt x="42" y="0"/>
                    <a:pt x="42" y="0"/>
                  </a:cubicBezTo>
                  <a:cubicBezTo>
                    <a:pt x="44" y="0"/>
                    <a:pt x="44" y="0"/>
                    <a:pt x="44" y="0"/>
                  </a:cubicBezTo>
                  <a:cubicBezTo>
                    <a:pt x="44" y="0"/>
                    <a:pt x="44" y="0"/>
                    <a:pt x="44" y="0"/>
                  </a:cubicBezTo>
                  <a:cubicBezTo>
                    <a:pt x="47" y="0"/>
                    <a:pt x="47" y="0"/>
                    <a:pt x="47" y="0"/>
                  </a:cubicBezTo>
                  <a:cubicBezTo>
                    <a:pt x="47" y="0"/>
                    <a:pt x="47" y="0"/>
                    <a:pt x="47" y="0"/>
                  </a:cubicBezTo>
                  <a:cubicBezTo>
                    <a:pt x="48" y="0"/>
                    <a:pt x="48" y="0"/>
                    <a:pt x="48" y="0"/>
                  </a:cubicBezTo>
                  <a:cubicBezTo>
                    <a:pt x="48" y="0"/>
                    <a:pt x="48" y="0"/>
                    <a:pt x="48" y="0"/>
                  </a:cubicBezTo>
                  <a:cubicBezTo>
                    <a:pt x="48" y="1"/>
                    <a:pt x="48" y="1"/>
                    <a:pt x="48" y="1"/>
                  </a:cubicBezTo>
                  <a:cubicBezTo>
                    <a:pt x="48" y="6"/>
                    <a:pt x="48" y="6"/>
                    <a:pt x="48" y="6"/>
                  </a:cubicBezTo>
                  <a:cubicBezTo>
                    <a:pt x="52" y="6"/>
                    <a:pt x="52" y="6"/>
                    <a:pt x="52" y="6"/>
                  </a:cubicBezTo>
                  <a:cubicBezTo>
                    <a:pt x="52" y="1"/>
                    <a:pt x="52" y="1"/>
                    <a:pt x="52" y="1"/>
                  </a:cubicBezTo>
                  <a:cubicBezTo>
                    <a:pt x="52" y="0"/>
                    <a:pt x="52" y="0"/>
                    <a:pt x="52" y="0"/>
                  </a:cubicBezTo>
                  <a:cubicBezTo>
                    <a:pt x="52" y="0"/>
                    <a:pt x="52" y="0"/>
                    <a:pt x="52" y="0"/>
                  </a:cubicBezTo>
                  <a:cubicBezTo>
                    <a:pt x="53" y="0"/>
                    <a:pt x="53" y="0"/>
                    <a:pt x="53" y="0"/>
                  </a:cubicBezTo>
                  <a:cubicBezTo>
                    <a:pt x="53" y="0"/>
                    <a:pt x="53" y="0"/>
                    <a:pt x="53" y="0"/>
                  </a:cubicBezTo>
                  <a:cubicBezTo>
                    <a:pt x="58" y="0"/>
                    <a:pt x="58" y="0"/>
                    <a:pt x="58" y="0"/>
                  </a:cubicBezTo>
                  <a:cubicBezTo>
                    <a:pt x="58" y="0"/>
                    <a:pt x="58" y="0"/>
                    <a:pt x="58" y="0"/>
                  </a:cubicBezTo>
                  <a:cubicBezTo>
                    <a:pt x="58" y="0"/>
                    <a:pt x="58" y="0"/>
                    <a:pt x="58" y="0"/>
                  </a:cubicBezTo>
                  <a:cubicBezTo>
                    <a:pt x="58" y="12"/>
                    <a:pt x="58" y="12"/>
                    <a:pt x="58" y="12"/>
                  </a:cubicBezTo>
                  <a:cubicBezTo>
                    <a:pt x="61" y="12"/>
                    <a:pt x="61" y="12"/>
                    <a:pt x="61" y="12"/>
                  </a:cubicBezTo>
                  <a:cubicBezTo>
                    <a:pt x="61" y="12"/>
                    <a:pt x="61" y="12"/>
                    <a:pt x="61" y="12"/>
                  </a:cubicBezTo>
                  <a:cubicBezTo>
                    <a:pt x="63" y="12"/>
                    <a:pt x="63" y="12"/>
                    <a:pt x="63" y="12"/>
                  </a:cubicBezTo>
                  <a:cubicBezTo>
                    <a:pt x="63" y="12"/>
                    <a:pt x="63" y="12"/>
                    <a:pt x="63" y="12"/>
                  </a:cubicBezTo>
                  <a:cubicBezTo>
                    <a:pt x="63" y="14"/>
                    <a:pt x="63" y="14"/>
                    <a:pt x="63" y="14"/>
                  </a:cubicBezTo>
                  <a:cubicBezTo>
                    <a:pt x="63" y="18"/>
                    <a:pt x="63" y="18"/>
                    <a:pt x="63" y="18"/>
                  </a:cubicBezTo>
                  <a:cubicBezTo>
                    <a:pt x="66" y="18"/>
                    <a:pt x="66" y="18"/>
                    <a:pt x="66" y="18"/>
                  </a:cubicBezTo>
                  <a:cubicBezTo>
                    <a:pt x="66" y="12"/>
                    <a:pt x="66" y="12"/>
                    <a:pt x="66" y="12"/>
                  </a:cubicBezTo>
                  <a:cubicBezTo>
                    <a:pt x="67" y="12"/>
                    <a:pt x="67" y="12"/>
                    <a:pt x="67" y="12"/>
                  </a:cubicBezTo>
                  <a:cubicBezTo>
                    <a:pt x="67" y="12"/>
                    <a:pt x="67" y="12"/>
                    <a:pt x="67" y="12"/>
                  </a:cubicBezTo>
                  <a:cubicBezTo>
                    <a:pt x="70" y="12"/>
                    <a:pt x="70" y="12"/>
                    <a:pt x="70" y="12"/>
                  </a:cubicBezTo>
                  <a:cubicBezTo>
                    <a:pt x="70" y="12"/>
                    <a:pt x="70" y="12"/>
                    <a:pt x="70" y="12"/>
                  </a:cubicBezTo>
                  <a:cubicBezTo>
                    <a:pt x="72" y="12"/>
                    <a:pt x="72" y="12"/>
                    <a:pt x="72" y="12"/>
                  </a:cubicBezTo>
                  <a:cubicBezTo>
                    <a:pt x="72" y="12"/>
                    <a:pt x="72" y="12"/>
                    <a:pt x="72" y="12"/>
                  </a:cubicBezTo>
                  <a:cubicBezTo>
                    <a:pt x="72" y="14"/>
                    <a:pt x="72" y="14"/>
                    <a:pt x="72" y="14"/>
                  </a:cubicBezTo>
                  <a:cubicBezTo>
                    <a:pt x="72" y="18"/>
                    <a:pt x="72" y="18"/>
                    <a:pt x="72" y="18"/>
                  </a:cubicBezTo>
                  <a:cubicBezTo>
                    <a:pt x="75" y="18"/>
                    <a:pt x="75" y="18"/>
                    <a:pt x="75" y="18"/>
                  </a:cubicBezTo>
                  <a:cubicBezTo>
                    <a:pt x="75" y="12"/>
                    <a:pt x="75" y="12"/>
                    <a:pt x="75" y="12"/>
                  </a:cubicBezTo>
                  <a:cubicBezTo>
                    <a:pt x="76" y="12"/>
                    <a:pt x="76" y="12"/>
                    <a:pt x="76" y="12"/>
                  </a:cubicBezTo>
                  <a:cubicBezTo>
                    <a:pt x="76" y="12"/>
                    <a:pt x="76" y="12"/>
                    <a:pt x="76" y="12"/>
                  </a:cubicBezTo>
                  <a:cubicBezTo>
                    <a:pt x="79" y="12"/>
                    <a:pt x="79" y="12"/>
                    <a:pt x="79" y="12"/>
                  </a:cubicBezTo>
                  <a:cubicBezTo>
                    <a:pt x="79" y="12"/>
                    <a:pt x="79" y="12"/>
                    <a:pt x="79" y="12"/>
                  </a:cubicBezTo>
                  <a:cubicBezTo>
                    <a:pt x="81" y="12"/>
                    <a:pt x="81" y="12"/>
                    <a:pt x="81" y="12"/>
                  </a:cubicBezTo>
                  <a:cubicBezTo>
                    <a:pt x="81" y="12"/>
                    <a:pt x="81" y="12"/>
                    <a:pt x="81" y="12"/>
                  </a:cubicBezTo>
                  <a:cubicBezTo>
                    <a:pt x="81" y="14"/>
                    <a:pt x="81" y="14"/>
                    <a:pt x="81" y="14"/>
                  </a:cubicBezTo>
                  <a:cubicBezTo>
                    <a:pt x="81" y="35"/>
                    <a:pt x="81" y="35"/>
                    <a:pt x="81" y="35"/>
                  </a:cubicBezTo>
                  <a:cubicBezTo>
                    <a:pt x="81" y="36"/>
                    <a:pt x="81" y="36"/>
                    <a:pt x="81" y="36"/>
                  </a:cubicBezTo>
                  <a:cubicBezTo>
                    <a:pt x="79" y="36"/>
                    <a:pt x="79" y="36"/>
                    <a:pt x="79" y="36"/>
                  </a:cubicBezTo>
                  <a:close/>
                  <a:moveTo>
                    <a:pt x="68" y="36"/>
                  </a:moveTo>
                  <a:cubicBezTo>
                    <a:pt x="61" y="36"/>
                    <a:pt x="61" y="36"/>
                    <a:pt x="61" y="36"/>
                  </a:cubicBezTo>
                  <a:cubicBezTo>
                    <a:pt x="61" y="39"/>
                    <a:pt x="61" y="39"/>
                    <a:pt x="61" y="39"/>
                  </a:cubicBezTo>
                  <a:cubicBezTo>
                    <a:pt x="68" y="39"/>
                    <a:pt x="68" y="39"/>
                    <a:pt x="68" y="39"/>
                  </a:cubicBezTo>
                  <a:cubicBezTo>
                    <a:pt x="68" y="36"/>
                    <a:pt x="68" y="36"/>
                    <a:pt x="68" y="36"/>
                  </a:cubicBezTo>
                  <a:close/>
                  <a:moveTo>
                    <a:pt x="23" y="14"/>
                  </a:moveTo>
                  <a:cubicBezTo>
                    <a:pt x="20" y="14"/>
                    <a:pt x="20" y="14"/>
                    <a:pt x="20" y="14"/>
                  </a:cubicBezTo>
                  <a:cubicBezTo>
                    <a:pt x="20" y="19"/>
                    <a:pt x="20" y="19"/>
                    <a:pt x="20" y="19"/>
                  </a:cubicBezTo>
                  <a:cubicBezTo>
                    <a:pt x="18" y="19"/>
                    <a:pt x="18" y="19"/>
                    <a:pt x="18" y="19"/>
                  </a:cubicBezTo>
                  <a:cubicBezTo>
                    <a:pt x="18" y="19"/>
                    <a:pt x="18" y="19"/>
                    <a:pt x="18" y="19"/>
                  </a:cubicBezTo>
                  <a:cubicBezTo>
                    <a:pt x="15" y="19"/>
                    <a:pt x="15" y="19"/>
                    <a:pt x="15" y="19"/>
                  </a:cubicBezTo>
                  <a:cubicBezTo>
                    <a:pt x="15" y="19"/>
                    <a:pt x="15" y="19"/>
                    <a:pt x="15" y="19"/>
                  </a:cubicBezTo>
                  <a:cubicBezTo>
                    <a:pt x="14" y="19"/>
                    <a:pt x="14" y="19"/>
                    <a:pt x="14" y="19"/>
                  </a:cubicBezTo>
                  <a:cubicBezTo>
                    <a:pt x="14" y="19"/>
                    <a:pt x="14" y="19"/>
                    <a:pt x="14" y="19"/>
                  </a:cubicBezTo>
                  <a:cubicBezTo>
                    <a:pt x="14" y="18"/>
                    <a:pt x="14" y="18"/>
                    <a:pt x="14" y="18"/>
                  </a:cubicBezTo>
                  <a:cubicBezTo>
                    <a:pt x="14" y="14"/>
                    <a:pt x="14" y="14"/>
                    <a:pt x="14" y="14"/>
                  </a:cubicBezTo>
                  <a:cubicBezTo>
                    <a:pt x="11" y="14"/>
                    <a:pt x="11" y="14"/>
                    <a:pt x="11" y="14"/>
                  </a:cubicBezTo>
                  <a:cubicBezTo>
                    <a:pt x="11" y="19"/>
                    <a:pt x="11" y="19"/>
                    <a:pt x="11" y="19"/>
                  </a:cubicBezTo>
                  <a:cubicBezTo>
                    <a:pt x="9" y="19"/>
                    <a:pt x="9" y="19"/>
                    <a:pt x="9" y="19"/>
                  </a:cubicBezTo>
                  <a:cubicBezTo>
                    <a:pt x="9" y="19"/>
                    <a:pt x="9" y="19"/>
                    <a:pt x="9" y="19"/>
                  </a:cubicBezTo>
                  <a:cubicBezTo>
                    <a:pt x="6" y="19"/>
                    <a:pt x="6" y="19"/>
                    <a:pt x="6" y="19"/>
                  </a:cubicBezTo>
                  <a:cubicBezTo>
                    <a:pt x="6" y="19"/>
                    <a:pt x="6" y="19"/>
                    <a:pt x="6" y="19"/>
                  </a:cubicBezTo>
                  <a:cubicBezTo>
                    <a:pt x="5" y="19"/>
                    <a:pt x="5" y="19"/>
                    <a:pt x="5" y="19"/>
                  </a:cubicBezTo>
                  <a:cubicBezTo>
                    <a:pt x="5" y="19"/>
                    <a:pt x="5" y="19"/>
                    <a:pt x="5" y="19"/>
                  </a:cubicBezTo>
                  <a:cubicBezTo>
                    <a:pt x="5" y="18"/>
                    <a:pt x="5" y="18"/>
                    <a:pt x="5" y="18"/>
                  </a:cubicBezTo>
                  <a:cubicBezTo>
                    <a:pt x="5" y="14"/>
                    <a:pt x="5" y="14"/>
                    <a:pt x="5" y="14"/>
                  </a:cubicBezTo>
                  <a:cubicBezTo>
                    <a:pt x="2" y="14"/>
                    <a:pt x="2" y="14"/>
                    <a:pt x="2" y="14"/>
                  </a:cubicBezTo>
                  <a:cubicBezTo>
                    <a:pt x="2" y="22"/>
                    <a:pt x="2" y="22"/>
                    <a:pt x="2" y="22"/>
                  </a:cubicBezTo>
                  <a:cubicBezTo>
                    <a:pt x="25" y="22"/>
                    <a:pt x="25" y="22"/>
                    <a:pt x="25" y="22"/>
                  </a:cubicBezTo>
                  <a:cubicBezTo>
                    <a:pt x="25" y="18"/>
                    <a:pt x="25" y="18"/>
                    <a:pt x="25" y="18"/>
                  </a:cubicBezTo>
                  <a:cubicBezTo>
                    <a:pt x="24" y="18"/>
                    <a:pt x="24" y="18"/>
                    <a:pt x="24" y="18"/>
                  </a:cubicBezTo>
                  <a:cubicBezTo>
                    <a:pt x="23" y="18"/>
                    <a:pt x="23" y="18"/>
                    <a:pt x="23" y="18"/>
                  </a:cubicBezTo>
                  <a:cubicBezTo>
                    <a:pt x="23" y="18"/>
                    <a:pt x="23" y="18"/>
                    <a:pt x="23" y="18"/>
                  </a:cubicBezTo>
                  <a:cubicBezTo>
                    <a:pt x="23" y="14"/>
                    <a:pt x="23" y="14"/>
                    <a:pt x="23" y="14"/>
                  </a:cubicBezTo>
                  <a:close/>
                  <a:moveTo>
                    <a:pt x="26" y="22"/>
                  </a:moveTo>
                  <a:cubicBezTo>
                    <a:pt x="26" y="18"/>
                    <a:pt x="26" y="18"/>
                    <a:pt x="26" y="18"/>
                  </a:cubicBezTo>
                  <a:cubicBezTo>
                    <a:pt x="31" y="18"/>
                    <a:pt x="31" y="18"/>
                    <a:pt x="31" y="18"/>
                  </a:cubicBezTo>
                  <a:cubicBezTo>
                    <a:pt x="32" y="18"/>
                    <a:pt x="32" y="18"/>
                    <a:pt x="32" y="18"/>
                  </a:cubicBezTo>
                  <a:cubicBezTo>
                    <a:pt x="35" y="18"/>
                    <a:pt x="35" y="18"/>
                    <a:pt x="35" y="18"/>
                  </a:cubicBezTo>
                  <a:cubicBezTo>
                    <a:pt x="35" y="22"/>
                    <a:pt x="35" y="22"/>
                    <a:pt x="35" y="22"/>
                  </a:cubicBezTo>
                  <a:cubicBezTo>
                    <a:pt x="26" y="22"/>
                    <a:pt x="26" y="22"/>
                    <a:pt x="26" y="22"/>
                  </a:cubicBezTo>
                  <a:close/>
                  <a:moveTo>
                    <a:pt x="36" y="22"/>
                  </a:moveTo>
                  <a:cubicBezTo>
                    <a:pt x="36" y="18"/>
                    <a:pt x="36" y="18"/>
                    <a:pt x="36" y="18"/>
                  </a:cubicBezTo>
                  <a:cubicBezTo>
                    <a:pt x="40" y="18"/>
                    <a:pt x="40" y="18"/>
                    <a:pt x="40" y="18"/>
                  </a:cubicBezTo>
                  <a:cubicBezTo>
                    <a:pt x="41" y="18"/>
                    <a:pt x="41" y="18"/>
                    <a:pt x="41" y="18"/>
                  </a:cubicBezTo>
                  <a:cubicBezTo>
                    <a:pt x="45" y="18"/>
                    <a:pt x="45" y="18"/>
                    <a:pt x="45" y="18"/>
                  </a:cubicBezTo>
                  <a:cubicBezTo>
                    <a:pt x="45" y="22"/>
                    <a:pt x="45" y="22"/>
                    <a:pt x="45" y="22"/>
                  </a:cubicBezTo>
                  <a:cubicBezTo>
                    <a:pt x="36" y="22"/>
                    <a:pt x="36" y="22"/>
                    <a:pt x="36" y="22"/>
                  </a:cubicBezTo>
                  <a:close/>
                  <a:moveTo>
                    <a:pt x="46" y="22"/>
                  </a:moveTo>
                  <a:cubicBezTo>
                    <a:pt x="46" y="18"/>
                    <a:pt x="46" y="18"/>
                    <a:pt x="46" y="18"/>
                  </a:cubicBezTo>
                  <a:cubicBezTo>
                    <a:pt x="49" y="18"/>
                    <a:pt x="49" y="18"/>
                    <a:pt x="49" y="18"/>
                  </a:cubicBezTo>
                  <a:cubicBezTo>
                    <a:pt x="51" y="18"/>
                    <a:pt x="51" y="18"/>
                    <a:pt x="51" y="18"/>
                  </a:cubicBezTo>
                  <a:cubicBezTo>
                    <a:pt x="54" y="18"/>
                    <a:pt x="54" y="18"/>
                    <a:pt x="54" y="18"/>
                  </a:cubicBezTo>
                  <a:cubicBezTo>
                    <a:pt x="54" y="22"/>
                    <a:pt x="54" y="22"/>
                    <a:pt x="54" y="22"/>
                  </a:cubicBezTo>
                  <a:cubicBezTo>
                    <a:pt x="46" y="22"/>
                    <a:pt x="46" y="22"/>
                    <a:pt x="46" y="22"/>
                  </a:cubicBezTo>
                  <a:close/>
                  <a:moveTo>
                    <a:pt x="57" y="59"/>
                  </a:moveTo>
                  <a:cubicBezTo>
                    <a:pt x="64" y="59"/>
                    <a:pt x="64" y="59"/>
                    <a:pt x="64" y="59"/>
                  </a:cubicBezTo>
                  <a:cubicBezTo>
                    <a:pt x="64" y="53"/>
                    <a:pt x="64" y="53"/>
                    <a:pt x="64" y="53"/>
                  </a:cubicBezTo>
                  <a:cubicBezTo>
                    <a:pt x="57" y="53"/>
                    <a:pt x="57" y="53"/>
                    <a:pt x="57" y="53"/>
                  </a:cubicBezTo>
                  <a:cubicBezTo>
                    <a:pt x="57" y="59"/>
                    <a:pt x="57" y="59"/>
                    <a:pt x="57" y="59"/>
                  </a:cubicBezTo>
                  <a:close/>
                  <a:moveTo>
                    <a:pt x="65" y="59"/>
                  </a:moveTo>
                  <a:cubicBezTo>
                    <a:pt x="68" y="59"/>
                    <a:pt x="68" y="59"/>
                    <a:pt x="68" y="59"/>
                  </a:cubicBezTo>
                  <a:cubicBezTo>
                    <a:pt x="68" y="53"/>
                    <a:pt x="68" y="53"/>
                    <a:pt x="68" y="53"/>
                  </a:cubicBezTo>
                  <a:cubicBezTo>
                    <a:pt x="65" y="53"/>
                    <a:pt x="65" y="53"/>
                    <a:pt x="65" y="53"/>
                  </a:cubicBezTo>
                  <a:cubicBezTo>
                    <a:pt x="65" y="59"/>
                    <a:pt x="65" y="59"/>
                    <a:pt x="65" y="59"/>
                  </a:cubicBezTo>
                  <a:close/>
                  <a:moveTo>
                    <a:pt x="57" y="1"/>
                  </a:moveTo>
                  <a:cubicBezTo>
                    <a:pt x="57" y="9"/>
                    <a:pt x="57" y="9"/>
                    <a:pt x="57" y="9"/>
                  </a:cubicBezTo>
                  <a:cubicBezTo>
                    <a:pt x="24" y="9"/>
                    <a:pt x="24" y="9"/>
                    <a:pt x="24" y="9"/>
                  </a:cubicBezTo>
                  <a:cubicBezTo>
                    <a:pt x="24" y="1"/>
                    <a:pt x="24" y="1"/>
                    <a:pt x="24" y="1"/>
                  </a:cubicBezTo>
                  <a:cubicBezTo>
                    <a:pt x="27" y="1"/>
                    <a:pt x="27" y="1"/>
                    <a:pt x="27" y="1"/>
                  </a:cubicBezTo>
                  <a:cubicBezTo>
                    <a:pt x="27" y="7"/>
                    <a:pt x="27" y="7"/>
                    <a:pt x="27" y="7"/>
                  </a:cubicBezTo>
                  <a:cubicBezTo>
                    <a:pt x="28" y="7"/>
                    <a:pt x="28" y="7"/>
                    <a:pt x="28" y="7"/>
                  </a:cubicBezTo>
                  <a:cubicBezTo>
                    <a:pt x="28" y="7"/>
                    <a:pt x="28" y="7"/>
                    <a:pt x="28" y="7"/>
                  </a:cubicBezTo>
                  <a:cubicBezTo>
                    <a:pt x="34" y="7"/>
                    <a:pt x="34" y="7"/>
                    <a:pt x="34" y="7"/>
                  </a:cubicBezTo>
                  <a:cubicBezTo>
                    <a:pt x="34" y="7"/>
                    <a:pt x="34" y="7"/>
                    <a:pt x="34" y="7"/>
                  </a:cubicBezTo>
                  <a:cubicBezTo>
                    <a:pt x="34" y="7"/>
                    <a:pt x="34" y="7"/>
                    <a:pt x="34" y="7"/>
                  </a:cubicBezTo>
                  <a:cubicBezTo>
                    <a:pt x="34" y="1"/>
                    <a:pt x="34" y="1"/>
                    <a:pt x="34" y="1"/>
                  </a:cubicBezTo>
                  <a:cubicBezTo>
                    <a:pt x="37" y="1"/>
                    <a:pt x="37" y="1"/>
                    <a:pt x="37" y="1"/>
                  </a:cubicBezTo>
                  <a:cubicBezTo>
                    <a:pt x="37" y="6"/>
                    <a:pt x="37" y="6"/>
                    <a:pt x="37" y="6"/>
                  </a:cubicBezTo>
                  <a:cubicBezTo>
                    <a:pt x="37" y="7"/>
                    <a:pt x="37" y="7"/>
                    <a:pt x="37" y="7"/>
                  </a:cubicBezTo>
                  <a:cubicBezTo>
                    <a:pt x="37" y="7"/>
                    <a:pt x="37" y="7"/>
                    <a:pt x="37" y="7"/>
                  </a:cubicBezTo>
                  <a:cubicBezTo>
                    <a:pt x="43" y="7"/>
                    <a:pt x="43" y="7"/>
                    <a:pt x="43" y="7"/>
                  </a:cubicBezTo>
                  <a:cubicBezTo>
                    <a:pt x="43" y="7"/>
                    <a:pt x="43" y="7"/>
                    <a:pt x="43" y="7"/>
                  </a:cubicBezTo>
                  <a:cubicBezTo>
                    <a:pt x="44" y="7"/>
                    <a:pt x="44" y="7"/>
                    <a:pt x="44" y="7"/>
                  </a:cubicBezTo>
                  <a:cubicBezTo>
                    <a:pt x="44" y="1"/>
                    <a:pt x="44" y="1"/>
                    <a:pt x="44" y="1"/>
                  </a:cubicBezTo>
                  <a:cubicBezTo>
                    <a:pt x="47" y="1"/>
                    <a:pt x="47" y="1"/>
                    <a:pt x="47" y="1"/>
                  </a:cubicBezTo>
                  <a:cubicBezTo>
                    <a:pt x="47" y="6"/>
                    <a:pt x="47" y="6"/>
                    <a:pt x="47" y="6"/>
                  </a:cubicBezTo>
                  <a:cubicBezTo>
                    <a:pt x="47" y="7"/>
                    <a:pt x="47" y="7"/>
                    <a:pt x="47" y="7"/>
                  </a:cubicBezTo>
                  <a:cubicBezTo>
                    <a:pt x="47" y="7"/>
                    <a:pt x="47" y="7"/>
                    <a:pt x="47" y="7"/>
                  </a:cubicBezTo>
                  <a:cubicBezTo>
                    <a:pt x="53" y="7"/>
                    <a:pt x="53" y="7"/>
                    <a:pt x="53" y="7"/>
                  </a:cubicBezTo>
                  <a:cubicBezTo>
                    <a:pt x="53" y="7"/>
                    <a:pt x="53" y="7"/>
                    <a:pt x="53" y="7"/>
                  </a:cubicBezTo>
                  <a:cubicBezTo>
                    <a:pt x="53" y="7"/>
                    <a:pt x="53" y="7"/>
                    <a:pt x="53" y="7"/>
                  </a:cubicBezTo>
                  <a:cubicBezTo>
                    <a:pt x="53" y="1"/>
                    <a:pt x="53" y="1"/>
                    <a:pt x="53" y="1"/>
                  </a:cubicBezTo>
                  <a:cubicBezTo>
                    <a:pt x="57" y="1"/>
                    <a:pt x="57" y="1"/>
                    <a:pt x="57" y="1"/>
                  </a:cubicBezTo>
                  <a:close/>
                  <a:moveTo>
                    <a:pt x="24" y="16"/>
                  </a:moveTo>
                  <a:cubicBezTo>
                    <a:pt x="24" y="10"/>
                    <a:pt x="24" y="10"/>
                    <a:pt x="24" y="10"/>
                  </a:cubicBezTo>
                  <a:cubicBezTo>
                    <a:pt x="31" y="10"/>
                    <a:pt x="31" y="10"/>
                    <a:pt x="31" y="10"/>
                  </a:cubicBezTo>
                  <a:cubicBezTo>
                    <a:pt x="31" y="16"/>
                    <a:pt x="31" y="16"/>
                    <a:pt x="31" y="16"/>
                  </a:cubicBezTo>
                  <a:cubicBezTo>
                    <a:pt x="24" y="16"/>
                    <a:pt x="24" y="16"/>
                    <a:pt x="24" y="16"/>
                  </a:cubicBezTo>
                  <a:close/>
                  <a:moveTo>
                    <a:pt x="32" y="16"/>
                  </a:moveTo>
                  <a:cubicBezTo>
                    <a:pt x="32" y="10"/>
                    <a:pt x="32" y="10"/>
                    <a:pt x="32" y="10"/>
                  </a:cubicBezTo>
                  <a:cubicBezTo>
                    <a:pt x="40" y="10"/>
                    <a:pt x="40" y="10"/>
                    <a:pt x="40" y="10"/>
                  </a:cubicBezTo>
                  <a:cubicBezTo>
                    <a:pt x="40" y="16"/>
                    <a:pt x="40" y="16"/>
                    <a:pt x="40" y="16"/>
                  </a:cubicBezTo>
                  <a:cubicBezTo>
                    <a:pt x="32" y="16"/>
                    <a:pt x="32" y="16"/>
                    <a:pt x="32" y="16"/>
                  </a:cubicBezTo>
                  <a:close/>
                  <a:moveTo>
                    <a:pt x="41" y="16"/>
                  </a:moveTo>
                  <a:cubicBezTo>
                    <a:pt x="41" y="10"/>
                    <a:pt x="41" y="10"/>
                    <a:pt x="41" y="10"/>
                  </a:cubicBezTo>
                  <a:cubicBezTo>
                    <a:pt x="49" y="10"/>
                    <a:pt x="49" y="10"/>
                    <a:pt x="49" y="10"/>
                  </a:cubicBezTo>
                  <a:cubicBezTo>
                    <a:pt x="49" y="16"/>
                    <a:pt x="49" y="16"/>
                    <a:pt x="49" y="16"/>
                  </a:cubicBezTo>
                  <a:cubicBezTo>
                    <a:pt x="41" y="16"/>
                    <a:pt x="41" y="16"/>
                    <a:pt x="41" y="16"/>
                  </a:cubicBezTo>
                  <a:close/>
                  <a:moveTo>
                    <a:pt x="51" y="16"/>
                  </a:moveTo>
                  <a:cubicBezTo>
                    <a:pt x="51" y="10"/>
                    <a:pt x="51" y="10"/>
                    <a:pt x="51" y="10"/>
                  </a:cubicBezTo>
                  <a:cubicBezTo>
                    <a:pt x="57" y="10"/>
                    <a:pt x="57" y="10"/>
                    <a:pt x="57" y="10"/>
                  </a:cubicBezTo>
                  <a:cubicBezTo>
                    <a:pt x="57" y="16"/>
                    <a:pt x="57" y="16"/>
                    <a:pt x="57" y="16"/>
                  </a:cubicBezTo>
                  <a:cubicBezTo>
                    <a:pt x="51" y="16"/>
                    <a:pt x="51" y="16"/>
                    <a:pt x="51" y="16"/>
                  </a:cubicBezTo>
                  <a:close/>
                  <a:moveTo>
                    <a:pt x="68" y="52"/>
                  </a:moveTo>
                  <a:cubicBezTo>
                    <a:pt x="68" y="46"/>
                    <a:pt x="68" y="46"/>
                    <a:pt x="68" y="46"/>
                  </a:cubicBezTo>
                  <a:cubicBezTo>
                    <a:pt x="62" y="46"/>
                    <a:pt x="62" y="46"/>
                    <a:pt x="62" y="46"/>
                  </a:cubicBezTo>
                  <a:cubicBezTo>
                    <a:pt x="62" y="52"/>
                    <a:pt x="62" y="52"/>
                    <a:pt x="62" y="52"/>
                  </a:cubicBezTo>
                  <a:cubicBezTo>
                    <a:pt x="68" y="52"/>
                    <a:pt x="68" y="52"/>
                    <a:pt x="68" y="52"/>
                  </a:cubicBezTo>
                  <a:close/>
                  <a:moveTo>
                    <a:pt x="68" y="45"/>
                  </a:moveTo>
                  <a:cubicBezTo>
                    <a:pt x="68" y="41"/>
                    <a:pt x="68" y="41"/>
                    <a:pt x="68" y="41"/>
                  </a:cubicBezTo>
                  <a:cubicBezTo>
                    <a:pt x="65" y="41"/>
                    <a:pt x="65" y="41"/>
                    <a:pt x="65" y="41"/>
                  </a:cubicBezTo>
                  <a:cubicBezTo>
                    <a:pt x="65" y="45"/>
                    <a:pt x="65" y="45"/>
                    <a:pt x="65" y="45"/>
                  </a:cubicBezTo>
                  <a:cubicBezTo>
                    <a:pt x="68" y="45"/>
                    <a:pt x="68" y="45"/>
                    <a:pt x="68" y="45"/>
                  </a:cubicBezTo>
                  <a:close/>
                  <a:moveTo>
                    <a:pt x="61" y="46"/>
                  </a:moveTo>
                  <a:cubicBezTo>
                    <a:pt x="61" y="52"/>
                    <a:pt x="61" y="52"/>
                    <a:pt x="61" y="52"/>
                  </a:cubicBezTo>
                  <a:cubicBezTo>
                    <a:pt x="57" y="52"/>
                    <a:pt x="57" y="52"/>
                    <a:pt x="57" y="52"/>
                  </a:cubicBezTo>
                  <a:cubicBezTo>
                    <a:pt x="57" y="46"/>
                    <a:pt x="57" y="46"/>
                    <a:pt x="57" y="46"/>
                  </a:cubicBezTo>
                  <a:cubicBezTo>
                    <a:pt x="61" y="46"/>
                    <a:pt x="61" y="46"/>
                    <a:pt x="61" y="46"/>
                  </a:cubicBezTo>
                  <a:close/>
                  <a:moveTo>
                    <a:pt x="64" y="41"/>
                  </a:moveTo>
                  <a:cubicBezTo>
                    <a:pt x="64" y="45"/>
                    <a:pt x="64" y="45"/>
                    <a:pt x="64" y="45"/>
                  </a:cubicBezTo>
                  <a:cubicBezTo>
                    <a:pt x="57" y="45"/>
                    <a:pt x="57" y="45"/>
                    <a:pt x="57" y="45"/>
                  </a:cubicBezTo>
                  <a:cubicBezTo>
                    <a:pt x="57" y="41"/>
                    <a:pt x="57" y="41"/>
                    <a:pt x="57" y="41"/>
                  </a:cubicBezTo>
                  <a:cubicBezTo>
                    <a:pt x="64" y="41"/>
                    <a:pt x="64" y="41"/>
                    <a:pt x="64"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7" name="Freeform 20"/>
            <p:cNvSpPr>
              <a:spLocks noEditPoints="1"/>
            </p:cNvSpPr>
            <p:nvPr/>
          </p:nvSpPr>
          <p:spPr bwMode="auto">
            <a:xfrm>
              <a:off x="4348163" y="1792288"/>
              <a:ext cx="441325" cy="260350"/>
            </a:xfrm>
            <a:custGeom>
              <a:avLst/>
              <a:gdLst>
                <a:gd name="T0" fmla="*/ 97 w 278"/>
                <a:gd name="T1" fmla="*/ 0 h 164"/>
                <a:gd name="T2" fmla="*/ 0 w 278"/>
                <a:gd name="T3" fmla="*/ 7 h 164"/>
                <a:gd name="T4" fmla="*/ 0 w 278"/>
                <a:gd name="T5" fmla="*/ 0 h 164"/>
                <a:gd name="T6" fmla="*/ 278 w 278"/>
                <a:gd name="T7" fmla="*/ 0 h 164"/>
                <a:gd name="T8" fmla="*/ 180 w 278"/>
                <a:gd name="T9" fmla="*/ 7 h 164"/>
                <a:gd name="T10" fmla="*/ 180 w 278"/>
                <a:gd name="T11" fmla="*/ 0 h 164"/>
                <a:gd name="T12" fmla="*/ 45 w 278"/>
                <a:gd name="T13" fmla="*/ 59 h 164"/>
                <a:gd name="T14" fmla="*/ 2 w 278"/>
                <a:gd name="T15" fmla="*/ 64 h 164"/>
                <a:gd name="T16" fmla="*/ 2 w 278"/>
                <a:gd name="T17" fmla="*/ 59 h 164"/>
                <a:gd name="T18" fmla="*/ 275 w 278"/>
                <a:gd name="T19" fmla="*/ 59 h 164"/>
                <a:gd name="T20" fmla="*/ 232 w 278"/>
                <a:gd name="T21" fmla="*/ 64 h 164"/>
                <a:gd name="T22" fmla="*/ 232 w 278"/>
                <a:gd name="T23" fmla="*/ 59 h 164"/>
                <a:gd name="T24" fmla="*/ 69 w 278"/>
                <a:gd name="T25" fmla="*/ 102 h 164"/>
                <a:gd name="T26" fmla="*/ 7 w 278"/>
                <a:gd name="T27" fmla="*/ 109 h 164"/>
                <a:gd name="T28" fmla="*/ 7 w 278"/>
                <a:gd name="T29" fmla="*/ 102 h 164"/>
                <a:gd name="T30" fmla="*/ 164 w 278"/>
                <a:gd name="T31" fmla="*/ 102 h 164"/>
                <a:gd name="T32" fmla="*/ 114 w 278"/>
                <a:gd name="T33" fmla="*/ 109 h 164"/>
                <a:gd name="T34" fmla="*/ 114 w 278"/>
                <a:gd name="T35" fmla="*/ 102 h 164"/>
                <a:gd name="T36" fmla="*/ 270 w 278"/>
                <a:gd name="T37" fmla="*/ 102 h 164"/>
                <a:gd name="T38" fmla="*/ 206 w 278"/>
                <a:gd name="T39" fmla="*/ 109 h 164"/>
                <a:gd name="T40" fmla="*/ 206 w 278"/>
                <a:gd name="T41" fmla="*/ 102 h 164"/>
                <a:gd name="T42" fmla="*/ 81 w 278"/>
                <a:gd name="T43" fmla="*/ 159 h 164"/>
                <a:gd name="T44" fmla="*/ 111 w 278"/>
                <a:gd name="T45" fmla="*/ 133 h 164"/>
                <a:gd name="T46" fmla="*/ 114 w 278"/>
                <a:gd name="T47" fmla="*/ 133 h 164"/>
                <a:gd name="T48" fmla="*/ 185 w 278"/>
                <a:gd name="T49" fmla="*/ 159 h 164"/>
                <a:gd name="T50" fmla="*/ 164 w 278"/>
                <a:gd name="T51" fmla="*/ 131 h 164"/>
                <a:gd name="T52" fmla="*/ 164 w 278"/>
                <a:gd name="T53" fmla="*/ 133 h 164"/>
                <a:gd name="T54" fmla="*/ 166 w 278"/>
                <a:gd name="T55" fmla="*/ 133 h 164"/>
                <a:gd name="T56" fmla="*/ 194 w 278"/>
                <a:gd name="T57" fmla="*/ 159 h 164"/>
                <a:gd name="T58" fmla="*/ 261 w 278"/>
                <a:gd name="T59" fmla="*/ 164 h 164"/>
                <a:gd name="T60" fmla="*/ 16 w 278"/>
                <a:gd name="T61" fmla="*/ 159 h 164"/>
                <a:gd name="T62" fmla="*/ 114 w 278"/>
                <a:gd name="T63" fmla="*/ 131 h 164"/>
                <a:gd name="T64" fmla="*/ 114 w 278"/>
                <a:gd name="T65" fmla="*/ 133 h 164"/>
                <a:gd name="T66" fmla="*/ 114 w 278"/>
                <a:gd name="T67" fmla="*/ 13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8" h="164">
                  <a:moveTo>
                    <a:pt x="0" y="0"/>
                  </a:moveTo>
                  <a:lnTo>
                    <a:pt x="97" y="0"/>
                  </a:lnTo>
                  <a:lnTo>
                    <a:pt x="97" y="7"/>
                  </a:lnTo>
                  <a:lnTo>
                    <a:pt x="0" y="7"/>
                  </a:lnTo>
                  <a:lnTo>
                    <a:pt x="0" y="0"/>
                  </a:lnTo>
                  <a:lnTo>
                    <a:pt x="0" y="0"/>
                  </a:lnTo>
                  <a:close/>
                  <a:moveTo>
                    <a:pt x="180" y="0"/>
                  </a:moveTo>
                  <a:lnTo>
                    <a:pt x="278" y="0"/>
                  </a:lnTo>
                  <a:lnTo>
                    <a:pt x="278" y="7"/>
                  </a:lnTo>
                  <a:lnTo>
                    <a:pt x="180" y="7"/>
                  </a:lnTo>
                  <a:lnTo>
                    <a:pt x="180" y="0"/>
                  </a:lnTo>
                  <a:lnTo>
                    <a:pt x="180" y="0"/>
                  </a:lnTo>
                  <a:close/>
                  <a:moveTo>
                    <a:pt x="2" y="59"/>
                  </a:moveTo>
                  <a:lnTo>
                    <a:pt x="45" y="59"/>
                  </a:lnTo>
                  <a:lnTo>
                    <a:pt x="45" y="64"/>
                  </a:lnTo>
                  <a:lnTo>
                    <a:pt x="2" y="64"/>
                  </a:lnTo>
                  <a:lnTo>
                    <a:pt x="2" y="59"/>
                  </a:lnTo>
                  <a:lnTo>
                    <a:pt x="2" y="59"/>
                  </a:lnTo>
                  <a:close/>
                  <a:moveTo>
                    <a:pt x="232" y="59"/>
                  </a:moveTo>
                  <a:lnTo>
                    <a:pt x="275" y="59"/>
                  </a:lnTo>
                  <a:lnTo>
                    <a:pt x="275" y="64"/>
                  </a:lnTo>
                  <a:lnTo>
                    <a:pt x="232" y="64"/>
                  </a:lnTo>
                  <a:lnTo>
                    <a:pt x="232" y="59"/>
                  </a:lnTo>
                  <a:lnTo>
                    <a:pt x="232" y="59"/>
                  </a:lnTo>
                  <a:close/>
                  <a:moveTo>
                    <a:pt x="7" y="102"/>
                  </a:moveTo>
                  <a:lnTo>
                    <a:pt x="69" y="102"/>
                  </a:lnTo>
                  <a:lnTo>
                    <a:pt x="69" y="109"/>
                  </a:lnTo>
                  <a:lnTo>
                    <a:pt x="7" y="109"/>
                  </a:lnTo>
                  <a:lnTo>
                    <a:pt x="7" y="102"/>
                  </a:lnTo>
                  <a:lnTo>
                    <a:pt x="7" y="102"/>
                  </a:lnTo>
                  <a:close/>
                  <a:moveTo>
                    <a:pt x="114" y="102"/>
                  </a:moveTo>
                  <a:lnTo>
                    <a:pt x="164" y="102"/>
                  </a:lnTo>
                  <a:lnTo>
                    <a:pt x="164" y="109"/>
                  </a:lnTo>
                  <a:lnTo>
                    <a:pt x="114" y="109"/>
                  </a:lnTo>
                  <a:lnTo>
                    <a:pt x="114" y="102"/>
                  </a:lnTo>
                  <a:lnTo>
                    <a:pt x="114" y="102"/>
                  </a:lnTo>
                  <a:close/>
                  <a:moveTo>
                    <a:pt x="206" y="102"/>
                  </a:moveTo>
                  <a:lnTo>
                    <a:pt x="270" y="102"/>
                  </a:lnTo>
                  <a:lnTo>
                    <a:pt x="270" y="109"/>
                  </a:lnTo>
                  <a:lnTo>
                    <a:pt x="206" y="109"/>
                  </a:lnTo>
                  <a:lnTo>
                    <a:pt x="206" y="102"/>
                  </a:lnTo>
                  <a:lnTo>
                    <a:pt x="206" y="102"/>
                  </a:lnTo>
                  <a:close/>
                  <a:moveTo>
                    <a:pt x="16" y="159"/>
                  </a:moveTo>
                  <a:lnTo>
                    <a:pt x="81" y="159"/>
                  </a:lnTo>
                  <a:lnTo>
                    <a:pt x="107" y="133"/>
                  </a:lnTo>
                  <a:lnTo>
                    <a:pt x="111" y="133"/>
                  </a:lnTo>
                  <a:lnTo>
                    <a:pt x="111" y="133"/>
                  </a:lnTo>
                  <a:lnTo>
                    <a:pt x="114" y="133"/>
                  </a:lnTo>
                  <a:lnTo>
                    <a:pt x="88" y="159"/>
                  </a:lnTo>
                  <a:lnTo>
                    <a:pt x="185" y="159"/>
                  </a:lnTo>
                  <a:lnTo>
                    <a:pt x="159" y="131"/>
                  </a:lnTo>
                  <a:lnTo>
                    <a:pt x="164" y="131"/>
                  </a:lnTo>
                  <a:lnTo>
                    <a:pt x="164" y="133"/>
                  </a:lnTo>
                  <a:lnTo>
                    <a:pt x="164" y="133"/>
                  </a:lnTo>
                  <a:lnTo>
                    <a:pt x="166" y="133"/>
                  </a:lnTo>
                  <a:lnTo>
                    <a:pt x="166" y="133"/>
                  </a:lnTo>
                  <a:lnTo>
                    <a:pt x="168" y="133"/>
                  </a:lnTo>
                  <a:lnTo>
                    <a:pt x="194" y="159"/>
                  </a:lnTo>
                  <a:lnTo>
                    <a:pt x="261" y="159"/>
                  </a:lnTo>
                  <a:lnTo>
                    <a:pt x="261" y="164"/>
                  </a:lnTo>
                  <a:lnTo>
                    <a:pt x="16" y="164"/>
                  </a:lnTo>
                  <a:lnTo>
                    <a:pt x="16" y="159"/>
                  </a:lnTo>
                  <a:lnTo>
                    <a:pt x="16" y="159"/>
                  </a:lnTo>
                  <a:close/>
                  <a:moveTo>
                    <a:pt x="114" y="131"/>
                  </a:moveTo>
                  <a:lnTo>
                    <a:pt x="116" y="131"/>
                  </a:lnTo>
                  <a:lnTo>
                    <a:pt x="114" y="133"/>
                  </a:lnTo>
                  <a:lnTo>
                    <a:pt x="114" y="131"/>
                  </a:lnTo>
                  <a:lnTo>
                    <a:pt x="114" y="1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8" name="Freeform 21"/>
            <p:cNvSpPr>
              <a:spLocks noEditPoints="1"/>
            </p:cNvSpPr>
            <p:nvPr/>
          </p:nvSpPr>
          <p:spPr bwMode="auto">
            <a:xfrm>
              <a:off x="4295776" y="1660525"/>
              <a:ext cx="546100" cy="508000"/>
            </a:xfrm>
            <a:custGeom>
              <a:avLst/>
              <a:gdLst>
                <a:gd name="T0" fmla="*/ 31 w 145"/>
                <a:gd name="T1" fmla="*/ 0 h 135"/>
                <a:gd name="T2" fmla="*/ 0 w 145"/>
                <a:gd name="T3" fmla="*/ 27 h 135"/>
                <a:gd name="T4" fmla="*/ 14 w 145"/>
                <a:gd name="T5" fmla="*/ 45 h 135"/>
                <a:gd name="T6" fmla="*/ 14 w 145"/>
                <a:gd name="T7" fmla="*/ 63 h 135"/>
                <a:gd name="T8" fmla="*/ 33 w 145"/>
                <a:gd name="T9" fmla="*/ 116 h 135"/>
                <a:gd name="T10" fmla="*/ 61 w 145"/>
                <a:gd name="T11" fmla="*/ 125 h 135"/>
                <a:gd name="T12" fmla="*/ 73 w 145"/>
                <a:gd name="T13" fmla="*/ 135 h 135"/>
                <a:gd name="T14" fmla="*/ 83 w 145"/>
                <a:gd name="T15" fmla="*/ 126 h 135"/>
                <a:gd name="T16" fmla="*/ 112 w 145"/>
                <a:gd name="T17" fmla="*/ 116 h 135"/>
                <a:gd name="T18" fmla="*/ 131 w 145"/>
                <a:gd name="T19" fmla="*/ 63 h 135"/>
                <a:gd name="T20" fmla="*/ 131 w 145"/>
                <a:gd name="T21" fmla="*/ 46 h 135"/>
                <a:gd name="T22" fmla="*/ 145 w 145"/>
                <a:gd name="T23" fmla="*/ 27 h 135"/>
                <a:gd name="T24" fmla="*/ 115 w 145"/>
                <a:gd name="T25" fmla="*/ 0 h 135"/>
                <a:gd name="T26" fmla="*/ 73 w 145"/>
                <a:gd name="T27" fmla="*/ 14 h 135"/>
                <a:gd name="T28" fmla="*/ 31 w 145"/>
                <a:gd name="T29" fmla="*/ 0 h 135"/>
                <a:gd name="T30" fmla="*/ 31 w 145"/>
                <a:gd name="T31" fmla="*/ 4 h 135"/>
                <a:gd name="T32" fmla="*/ 6 w 145"/>
                <a:gd name="T33" fmla="*/ 26 h 135"/>
                <a:gd name="T34" fmla="*/ 16 w 145"/>
                <a:gd name="T35" fmla="*/ 38 h 135"/>
                <a:gd name="T36" fmla="*/ 17 w 145"/>
                <a:gd name="T37" fmla="*/ 51 h 135"/>
                <a:gd name="T38" fmla="*/ 17 w 145"/>
                <a:gd name="T39" fmla="*/ 64 h 135"/>
                <a:gd name="T40" fmla="*/ 34 w 145"/>
                <a:gd name="T41" fmla="*/ 113 h 135"/>
                <a:gd name="T42" fmla="*/ 60 w 145"/>
                <a:gd name="T43" fmla="*/ 122 h 135"/>
                <a:gd name="T44" fmla="*/ 73 w 145"/>
                <a:gd name="T45" fmla="*/ 130 h 135"/>
                <a:gd name="T46" fmla="*/ 83 w 145"/>
                <a:gd name="T47" fmla="*/ 123 h 135"/>
                <a:gd name="T48" fmla="*/ 111 w 145"/>
                <a:gd name="T49" fmla="*/ 113 h 135"/>
                <a:gd name="T50" fmla="*/ 128 w 145"/>
                <a:gd name="T51" fmla="*/ 63 h 135"/>
                <a:gd name="T52" fmla="*/ 128 w 145"/>
                <a:gd name="T53" fmla="*/ 52 h 135"/>
                <a:gd name="T54" fmla="*/ 129 w 145"/>
                <a:gd name="T55" fmla="*/ 38 h 135"/>
                <a:gd name="T56" fmla="*/ 139 w 145"/>
                <a:gd name="T57" fmla="*/ 26 h 135"/>
                <a:gd name="T58" fmla="*/ 114 w 145"/>
                <a:gd name="T59" fmla="*/ 4 h 135"/>
                <a:gd name="T60" fmla="*/ 73 w 145"/>
                <a:gd name="T61" fmla="*/ 16 h 135"/>
                <a:gd name="T62" fmla="*/ 31 w 145"/>
                <a:gd name="T63" fmla="*/ 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5">
                  <a:moveTo>
                    <a:pt x="31" y="0"/>
                  </a:moveTo>
                  <a:cubicBezTo>
                    <a:pt x="0" y="27"/>
                    <a:pt x="0" y="27"/>
                    <a:pt x="0" y="27"/>
                  </a:cubicBezTo>
                  <a:cubicBezTo>
                    <a:pt x="9" y="28"/>
                    <a:pt x="14" y="37"/>
                    <a:pt x="14" y="45"/>
                  </a:cubicBezTo>
                  <a:cubicBezTo>
                    <a:pt x="14" y="63"/>
                    <a:pt x="14" y="63"/>
                    <a:pt x="14" y="63"/>
                  </a:cubicBezTo>
                  <a:cubicBezTo>
                    <a:pt x="14" y="80"/>
                    <a:pt x="15" y="109"/>
                    <a:pt x="33" y="116"/>
                  </a:cubicBezTo>
                  <a:cubicBezTo>
                    <a:pt x="36" y="117"/>
                    <a:pt x="53" y="121"/>
                    <a:pt x="61" y="125"/>
                  </a:cubicBezTo>
                  <a:cubicBezTo>
                    <a:pt x="70" y="130"/>
                    <a:pt x="71" y="135"/>
                    <a:pt x="73" y="135"/>
                  </a:cubicBezTo>
                  <a:cubicBezTo>
                    <a:pt x="74" y="134"/>
                    <a:pt x="76" y="130"/>
                    <a:pt x="83" y="126"/>
                  </a:cubicBezTo>
                  <a:cubicBezTo>
                    <a:pt x="92" y="122"/>
                    <a:pt x="107" y="118"/>
                    <a:pt x="112" y="116"/>
                  </a:cubicBezTo>
                  <a:cubicBezTo>
                    <a:pt x="130" y="109"/>
                    <a:pt x="131" y="80"/>
                    <a:pt x="131" y="63"/>
                  </a:cubicBezTo>
                  <a:cubicBezTo>
                    <a:pt x="131" y="46"/>
                    <a:pt x="131" y="46"/>
                    <a:pt x="131" y="46"/>
                  </a:cubicBezTo>
                  <a:cubicBezTo>
                    <a:pt x="131" y="38"/>
                    <a:pt x="136" y="28"/>
                    <a:pt x="145" y="27"/>
                  </a:cubicBezTo>
                  <a:cubicBezTo>
                    <a:pt x="115" y="0"/>
                    <a:pt x="115" y="0"/>
                    <a:pt x="115" y="0"/>
                  </a:cubicBezTo>
                  <a:cubicBezTo>
                    <a:pt x="100" y="9"/>
                    <a:pt x="90" y="13"/>
                    <a:pt x="73" y="14"/>
                  </a:cubicBezTo>
                  <a:cubicBezTo>
                    <a:pt x="55" y="14"/>
                    <a:pt x="45" y="10"/>
                    <a:pt x="31" y="0"/>
                  </a:cubicBezTo>
                  <a:close/>
                  <a:moveTo>
                    <a:pt x="31" y="4"/>
                  </a:moveTo>
                  <a:cubicBezTo>
                    <a:pt x="6" y="26"/>
                    <a:pt x="6" y="26"/>
                    <a:pt x="6" y="26"/>
                  </a:cubicBezTo>
                  <a:cubicBezTo>
                    <a:pt x="7" y="26"/>
                    <a:pt x="13" y="29"/>
                    <a:pt x="16" y="38"/>
                  </a:cubicBezTo>
                  <a:cubicBezTo>
                    <a:pt x="17" y="42"/>
                    <a:pt x="17" y="47"/>
                    <a:pt x="17" y="51"/>
                  </a:cubicBezTo>
                  <a:cubicBezTo>
                    <a:pt x="17" y="56"/>
                    <a:pt x="17" y="60"/>
                    <a:pt x="17" y="64"/>
                  </a:cubicBezTo>
                  <a:cubicBezTo>
                    <a:pt x="17" y="79"/>
                    <a:pt x="18" y="106"/>
                    <a:pt x="34" y="113"/>
                  </a:cubicBezTo>
                  <a:cubicBezTo>
                    <a:pt x="37" y="115"/>
                    <a:pt x="53" y="118"/>
                    <a:pt x="60" y="122"/>
                  </a:cubicBezTo>
                  <a:cubicBezTo>
                    <a:pt x="70" y="126"/>
                    <a:pt x="72" y="130"/>
                    <a:pt x="73" y="130"/>
                  </a:cubicBezTo>
                  <a:cubicBezTo>
                    <a:pt x="74" y="129"/>
                    <a:pt x="76" y="126"/>
                    <a:pt x="83" y="123"/>
                  </a:cubicBezTo>
                  <a:cubicBezTo>
                    <a:pt x="91" y="119"/>
                    <a:pt x="106" y="115"/>
                    <a:pt x="111" y="113"/>
                  </a:cubicBezTo>
                  <a:cubicBezTo>
                    <a:pt x="127" y="107"/>
                    <a:pt x="127" y="79"/>
                    <a:pt x="128" y="63"/>
                  </a:cubicBezTo>
                  <a:cubicBezTo>
                    <a:pt x="128" y="52"/>
                    <a:pt x="128" y="52"/>
                    <a:pt x="128" y="52"/>
                  </a:cubicBezTo>
                  <a:cubicBezTo>
                    <a:pt x="128" y="47"/>
                    <a:pt x="127" y="43"/>
                    <a:pt x="129" y="38"/>
                  </a:cubicBezTo>
                  <a:cubicBezTo>
                    <a:pt x="131" y="33"/>
                    <a:pt x="134" y="28"/>
                    <a:pt x="139" y="26"/>
                  </a:cubicBezTo>
                  <a:cubicBezTo>
                    <a:pt x="114" y="4"/>
                    <a:pt x="114" y="4"/>
                    <a:pt x="114" y="4"/>
                  </a:cubicBezTo>
                  <a:cubicBezTo>
                    <a:pt x="100" y="13"/>
                    <a:pt x="90" y="16"/>
                    <a:pt x="73" y="16"/>
                  </a:cubicBezTo>
                  <a:cubicBezTo>
                    <a:pt x="56" y="16"/>
                    <a:pt x="45" y="13"/>
                    <a:pt x="3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29" name="Freeform 22"/>
            <p:cNvSpPr>
              <a:spLocks noEditPoints="1"/>
            </p:cNvSpPr>
            <p:nvPr/>
          </p:nvSpPr>
          <p:spPr bwMode="auto">
            <a:xfrm>
              <a:off x="4373563" y="1701800"/>
              <a:ext cx="388938" cy="430213"/>
            </a:xfrm>
            <a:custGeom>
              <a:avLst/>
              <a:gdLst>
                <a:gd name="T0" fmla="*/ 226 w 245"/>
                <a:gd name="T1" fmla="*/ 17 h 271"/>
                <a:gd name="T2" fmla="*/ 233 w 245"/>
                <a:gd name="T3" fmla="*/ 31 h 271"/>
                <a:gd name="T4" fmla="*/ 219 w 245"/>
                <a:gd name="T5" fmla="*/ 40 h 271"/>
                <a:gd name="T6" fmla="*/ 207 w 245"/>
                <a:gd name="T7" fmla="*/ 31 h 271"/>
                <a:gd name="T8" fmla="*/ 212 w 245"/>
                <a:gd name="T9" fmla="*/ 17 h 271"/>
                <a:gd name="T10" fmla="*/ 219 w 245"/>
                <a:gd name="T11" fmla="*/ 0 h 271"/>
                <a:gd name="T12" fmla="*/ 131 w 245"/>
                <a:gd name="T13" fmla="*/ 240 h 271"/>
                <a:gd name="T14" fmla="*/ 136 w 245"/>
                <a:gd name="T15" fmla="*/ 254 h 271"/>
                <a:gd name="T16" fmla="*/ 121 w 245"/>
                <a:gd name="T17" fmla="*/ 263 h 271"/>
                <a:gd name="T18" fmla="*/ 110 w 245"/>
                <a:gd name="T19" fmla="*/ 254 h 271"/>
                <a:gd name="T20" fmla="*/ 114 w 245"/>
                <a:gd name="T21" fmla="*/ 240 h 271"/>
                <a:gd name="T22" fmla="*/ 121 w 245"/>
                <a:gd name="T23" fmla="*/ 223 h 271"/>
                <a:gd name="T24" fmla="*/ 126 w 245"/>
                <a:gd name="T25" fmla="*/ 242 h 271"/>
                <a:gd name="T26" fmla="*/ 129 w 245"/>
                <a:gd name="T27" fmla="*/ 252 h 271"/>
                <a:gd name="T28" fmla="*/ 121 w 245"/>
                <a:gd name="T29" fmla="*/ 256 h 271"/>
                <a:gd name="T30" fmla="*/ 114 w 245"/>
                <a:gd name="T31" fmla="*/ 252 h 271"/>
                <a:gd name="T32" fmla="*/ 117 w 245"/>
                <a:gd name="T33" fmla="*/ 242 h 271"/>
                <a:gd name="T34" fmla="*/ 121 w 245"/>
                <a:gd name="T35" fmla="*/ 235 h 271"/>
                <a:gd name="T36" fmla="*/ 34 w 245"/>
                <a:gd name="T37" fmla="*/ 17 h 271"/>
                <a:gd name="T38" fmla="*/ 38 w 245"/>
                <a:gd name="T39" fmla="*/ 31 h 271"/>
                <a:gd name="T40" fmla="*/ 27 w 245"/>
                <a:gd name="T41" fmla="*/ 40 h 271"/>
                <a:gd name="T42" fmla="*/ 15 w 245"/>
                <a:gd name="T43" fmla="*/ 31 h 271"/>
                <a:gd name="T44" fmla="*/ 19 w 245"/>
                <a:gd name="T45" fmla="*/ 17 h 271"/>
                <a:gd name="T46" fmla="*/ 27 w 245"/>
                <a:gd name="T47" fmla="*/ 0 h 271"/>
                <a:gd name="T48" fmla="*/ 31 w 245"/>
                <a:gd name="T49" fmla="*/ 22 h 271"/>
                <a:gd name="T50" fmla="*/ 34 w 245"/>
                <a:gd name="T51" fmla="*/ 29 h 271"/>
                <a:gd name="T52" fmla="*/ 27 w 245"/>
                <a:gd name="T53" fmla="*/ 33 h 271"/>
                <a:gd name="T54" fmla="*/ 19 w 245"/>
                <a:gd name="T55" fmla="*/ 29 h 271"/>
                <a:gd name="T56" fmla="*/ 22 w 245"/>
                <a:gd name="T57" fmla="*/ 22 h 271"/>
                <a:gd name="T58" fmla="*/ 27 w 245"/>
                <a:gd name="T59" fmla="*/ 12 h 271"/>
                <a:gd name="T60" fmla="*/ 224 w 245"/>
                <a:gd name="T61" fmla="*/ 22 h 271"/>
                <a:gd name="T62" fmla="*/ 226 w 245"/>
                <a:gd name="T63" fmla="*/ 29 h 271"/>
                <a:gd name="T64" fmla="*/ 219 w 245"/>
                <a:gd name="T65" fmla="*/ 33 h 271"/>
                <a:gd name="T66" fmla="*/ 212 w 245"/>
                <a:gd name="T67" fmla="*/ 29 h 271"/>
                <a:gd name="T68" fmla="*/ 214 w 245"/>
                <a:gd name="T69" fmla="*/ 22 h 271"/>
                <a:gd name="T70" fmla="*/ 219 w 245"/>
                <a:gd name="T71" fmla="*/ 1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5" h="271">
                  <a:moveTo>
                    <a:pt x="219" y="0"/>
                  </a:moveTo>
                  <a:lnTo>
                    <a:pt x="226" y="17"/>
                  </a:lnTo>
                  <a:lnTo>
                    <a:pt x="245" y="19"/>
                  </a:lnTo>
                  <a:lnTo>
                    <a:pt x="233" y="31"/>
                  </a:lnTo>
                  <a:lnTo>
                    <a:pt x="235" y="48"/>
                  </a:lnTo>
                  <a:lnTo>
                    <a:pt x="219" y="40"/>
                  </a:lnTo>
                  <a:lnTo>
                    <a:pt x="205" y="48"/>
                  </a:lnTo>
                  <a:lnTo>
                    <a:pt x="207" y="31"/>
                  </a:lnTo>
                  <a:lnTo>
                    <a:pt x="193" y="19"/>
                  </a:lnTo>
                  <a:lnTo>
                    <a:pt x="212" y="17"/>
                  </a:lnTo>
                  <a:lnTo>
                    <a:pt x="219" y="0"/>
                  </a:lnTo>
                  <a:lnTo>
                    <a:pt x="219" y="0"/>
                  </a:lnTo>
                  <a:close/>
                  <a:moveTo>
                    <a:pt x="121" y="223"/>
                  </a:moveTo>
                  <a:lnTo>
                    <a:pt x="131" y="240"/>
                  </a:lnTo>
                  <a:lnTo>
                    <a:pt x="148" y="242"/>
                  </a:lnTo>
                  <a:lnTo>
                    <a:pt x="136" y="254"/>
                  </a:lnTo>
                  <a:lnTo>
                    <a:pt x="138" y="271"/>
                  </a:lnTo>
                  <a:lnTo>
                    <a:pt x="121" y="263"/>
                  </a:lnTo>
                  <a:lnTo>
                    <a:pt x="107" y="271"/>
                  </a:lnTo>
                  <a:lnTo>
                    <a:pt x="110" y="254"/>
                  </a:lnTo>
                  <a:lnTo>
                    <a:pt x="98" y="242"/>
                  </a:lnTo>
                  <a:lnTo>
                    <a:pt x="114" y="240"/>
                  </a:lnTo>
                  <a:lnTo>
                    <a:pt x="121" y="223"/>
                  </a:lnTo>
                  <a:lnTo>
                    <a:pt x="121" y="223"/>
                  </a:lnTo>
                  <a:close/>
                  <a:moveTo>
                    <a:pt x="121" y="235"/>
                  </a:moveTo>
                  <a:lnTo>
                    <a:pt x="126" y="242"/>
                  </a:lnTo>
                  <a:lnTo>
                    <a:pt x="136" y="244"/>
                  </a:lnTo>
                  <a:lnTo>
                    <a:pt x="129" y="252"/>
                  </a:lnTo>
                  <a:lnTo>
                    <a:pt x="131" y="261"/>
                  </a:lnTo>
                  <a:lnTo>
                    <a:pt x="121" y="256"/>
                  </a:lnTo>
                  <a:lnTo>
                    <a:pt x="112" y="261"/>
                  </a:lnTo>
                  <a:lnTo>
                    <a:pt x="114" y="252"/>
                  </a:lnTo>
                  <a:lnTo>
                    <a:pt x="107" y="244"/>
                  </a:lnTo>
                  <a:lnTo>
                    <a:pt x="117" y="242"/>
                  </a:lnTo>
                  <a:lnTo>
                    <a:pt x="121" y="235"/>
                  </a:lnTo>
                  <a:lnTo>
                    <a:pt x="121" y="235"/>
                  </a:lnTo>
                  <a:close/>
                  <a:moveTo>
                    <a:pt x="27" y="0"/>
                  </a:moveTo>
                  <a:lnTo>
                    <a:pt x="34" y="17"/>
                  </a:lnTo>
                  <a:lnTo>
                    <a:pt x="53" y="19"/>
                  </a:lnTo>
                  <a:lnTo>
                    <a:pt x="38" y="31"/>
                  </a:lnTo>
                  <a:lnTo>
                    <a:pt x="41" y="48"/>
                  </a:lnTo>
                  <a:lnTo>
                    <a:pt x="27" y="40"/>
                  </a:lnTo>
                  <a:lnTo>
                    <a:pt x="10" y="48"/>
                  </a:lnTo>
                  <a:lnTo>
                    <a:pt x="15" y="31"/>
                  </a:lnTo>
                  <a:lnTo>
                    <a:pt x="0" y="19"/>
                  </a:lnTo>
                  <a:lnTo>
                    <a:pt x="19" y="17"/>
                  </a:lnTo>
                  <a:lnTo>
                    <a:pt x="27" y="0"/>
                  </a:lnTo>
                  <a:lnTo>
                    <a:pt x="27" y="0"/>
                  </a:lnTo>
                  <a:close/>
                  <a:moveTo>
                    <a:pt x="27" y="12"/>
                  </a:moveTo>
                  <a:lnTo>
                    <a:pt x="31" y="22"/>
                  </a:lnTo>
                  <a:lnTo>
                    <a:pt x="41" y="22"/>
                  </a:lnTo>
                  <a:lnTo>
                    <a:pt x="34" y="29"/>
                  </a:lnTo>
                  <a:lnTo>
                    <a:pt x="36" y="38"/>
                  </a:lnTo>
                  <a:lnTo>
                    <a:pt x="27" y="33"/>
                  </a:lnTo>
                  <a:lnTo>
                    <a:pt x="17" y="38"/>
                  </a:lnTo>
                  <a:lnTo>
                    <a:pt x="19" y="29"/>
                  </a:lnTo>
                  <a:lnTo>
                    <a:pt x="12" y="22"/>
                  </a:lnTo>
                  <a:lnTo>
                    <a:pt x="22" y="22"/>
                  </a:lnTo>
                  <a:lnTo>
                    <a:pt x="27" y="12"/>
                  </a:lnTo>
                  <a:lnTo>
                    <a:pt x="27" y="12"/>
                  </a:lnTo>
                  <a:close/>
                  <a:moveTo>
                    <a:pt x="219" y="12"/>
                  </a:moveTo>
                  <a:lnTo>
                    <a:pt x="224" y="22"/>
                  </a:lnTo>
                  <a:lnTo>
                    <a:pt x="233" y="22"/>
                  </a:lnTo>
                  <a:lnTo>
                    <a:pt x="226" y="29"/>
                  </a:lnTo>
                  <a:lnTo>
                    <a:pt x="228" y="38"/>
                  </a:lnTo>
                  <a:lnTo>
                    <a:pt x="219" y="33"/>
                  </a:lnTo>
                  <a:lnTo>
                    <a:pt x="209" y="38"/>
                  </a:lnTo>
                  <a:lnTo>
                    <a:pt x="212" y="29"/>
                  </a:lnTo>
                  <a:lnTo>
                    <a:pt x="205" y="22"/>
                  </a:lnTo>
                  <a:lnTo>
                    <a:pt x="214" y="22"/>
                  </a:lnTo>
                  <a:lnTo>
                    <a:pt x="219" y="12"/>
                  </a:lnTo>
                  <a:lnTo>
                    <a:pt x="21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30" name="Freeform 23"/>
            <p:cNvSpPr>
              <a:spLocks noEditPoints="1"/>
            </p:cNvSpPr>
            <p:nvPr/>
          </p:nvSpPr>
          <p:spPr bwMode="auto">
            <a:xfrm>
              <a:off x="4392613" y="2220913"/>
              <a:ext cx="350838" cy="79375"/>
            </a:xfrm>
            <a:custGeom>
              <a:avLst/>
              <a:gdLst>
                <a:gd name="T0" fmla="*/ 11 w 93"/>
                <a:gd name="T1" fmla="*/ 4 h 21"/>
                <a:gd name="T2" fmla="*/ 11 w 93"/>
                <a:gd name="T3" fmla="*/ 4 h 21"/>
                <a:gd name="T4" fmla="*/ 11 w 93"/>
                <a:gd name="T5" fmla="*/ 2 h 21"/>
                <a:gd name="T6" fmla="*/ 29 w 93"/>
                <a:gd name="T7" fmla="*/ 3 h 21"/>
                <a:gd name="T8" fmla="*/ 28 w 93"/>
                <a:gd name="T9" fmla="*/ 8 h 21"/>
                <a:gd name="T10" fmla="*/ 38 w 93"/>
                <a:gd name="T11" fmla="*/ 7 h 21"/>
                <a:gd name="T12" fmla="*/ 37 w 93"/>
                <a:gd name="T13" fmla="*/ 5 h 21"/>
                <a:gd name="T14" fmla="*/ 33 w 93"/>
                <a:gd name="T15" fmla="*/ 4 h 21"/>
                <a:gd name="T16" fmla="*/ 39 w 93"/>
                <a:gd name="T17" fmla="*/ 1 h 21"/>
                <a:gd name="T18" fmla="*/ 63 w 93"/>
                <a:gd name="T19" fmla="*/ 3 h 21"/>
                <a:gd name="T20" fmla="*/ 65 w 93"/>
                <a:gd name="T21" fmla="*/ 8 h 21"/>
                <a:gd name="T22" fmla="*/ 71 w 93"/>
                <a:gd name="T23" fmla="*/ 10 h 21"/>
                <a:gd name="T24" fmla="*/ 65 w 93"/>
                <a:gd name="T25" fmla="*/ 2 h 21"/>
                <a:gd name="T26" fmla="*/ 88 w 93"/>
                <a:gd name="T27" fmla="*/ 12 h 21"/>
                <a:gd name="T28" fmla="*/ 87 w 93"/>
                <a:gd name="T29" fmla="*/ 11 h 21"/>
                <a:gd name="T30" fmla="*/ 87 w 93"/>
                <a:gd name="T31" fmla="*/ 5 h 21"/>
                <a:gd name="T32" fmla="*/ 83 w 93"/>
                <a:gd name="T33" fmla="*/ 18 h 21"/>
                <a:gd name="T34" fmla="*/ 80 w 93"/>
                <a:gd name="T35" fmla="*/ 11 h 21"/>
                <a:gd name="T36" fmla="*/ 78 w 93"/>
                <a:gd name="T37" fmla="*/ 11 h 21"/>
                <a:gd name="T38" fmla="*/ 75 w 93"/>
                <a:gd name="T39" fmla="*/ 19 h 21"/>
                <a:gd name="T40" fmla="*/ 93 w 93"/>
                <a:gd name="T41" fmla="*/ 20 h 21"/>
                <a:gd name="T42" fmla="*/ 85 w 93"/>
                <a:gd name="T43" fmla="*/ 12 h 21"/>
                <a:gd name="T44" fmla="*/ 55 w 93"/>
                <a:gd name="T45" fmla="*/ 2 h 21"/>
                <a:gd name="T46" fmla="*/ 50 w 93"/>
                <a:gd name="T47" fmla="*/ 7 h 21"/>
                <a:gd name="T48" fmla="*/ 50 w 93"/>
                <a:gd name="T49" fmla="*/ 15 h 21"/>
                <a:gd name="T50" fmla="*/ 57 w 93"/>
                <a:gd name="T51" fmla="*/ 10 h 21"/>
                <a:gd name="T52" fmla="*/ 53 w 93"/>
                <a:gd name="T53" fmla="*/ 14 h 21"/>
                <a:gd name="T54" fmla="*/ 57 w 93"/>
                <a:gd name="T55" fmla="*/ 14 h 21"/>
                <a:gd name="T56" fmla="*/ 57 w 93"/>
                <a:gd name="T57" fmla="*/ 9 h 21"/>
                <a:gd name="T58" fmla="*/ 55 w 93"/>
                <a:gd name="T59" fmla="*/ 7 h 21"/>
                <a:gd name="T60" fmla="*/ 62 w 93"/>
                <a:gd name="T61" fmla="*/ 11 h 21"/>
                <a:gd name="T62" fmla="*/ 62 w 93"/>
                <a:gd name="T63" fmla="*/ 11 h 21"/>
                <a:gd name="T64" fmla="*/ 62 w 93"/>
                <a:gd name="T65" fmla="*/ 14 h 21"/>
                <a:gd name="T66" fmla="*/ 39 w 93"/>
                <a:gd name="T67" fmla="*/ 11 h 21"/>
                <a:gd name="T68" fmla="*/ 36 w 93"/>
                <a:gd name="T69" fmla="*/ 10 h 21"/>
                <a:gd name="T70" fmla="*/ 34 w 93"/>
                <a:gd name="T71" fmla="*/ 12 h 21"/>
                <a:gd name="T72" fmla="*/ 34 w 93"/>
                <a:gd name="T73" fmla="*/ 13 h 21"/>
                <a:gd name="T74" fmla="*/ 26 w 93"/>
                <a:gd name="T75" fmla="*/ 17 h 21"/>
                <a:gd name="T76" fmla="*/ 44 w 93"/>
                <a:gd name="T77" fmla="*/ 15 h 21"/>
                <a:gd name="T78" fmla="*/ 35 w 93"/>
                <a:gd name="T79" fmla="*/ 12 h 21"/>
                <a:gd name="T80" fmla="*/ 7 w 93"/>
                <a:gd name="T81" fmla="*/ 6 h 21"/>
                <a:gd name="T82" fmla="*/ 12 w 93"/>
                <a:gd name="T83" fmla="*/ 8 h 21"/>
                <a:gd name="T84" fmla="*/ 10 w 93"/>
                <a:gd name="T85" fmla="*/ 8 h 21"/>
                <a:gd name="T86" fmla="*/ 13 w 93"/>
                <a:gd name="T87" fmla="*/ 5 h 21"/>
                <a:gd name="T88" fmla="*/ 5 w 93"/>
                <a:gd name="T89" fmla="*/ 7 h 21"/>
                <a:gd name="T90" fmla="*/ 6 w 93"/>
                <a:gd name="T91" fmla="*/ 9 h 21"/>
                <a:gd name="T92" fmla="*/ 4 w 93"/>
                <a:gd name="T93" fmla="*/ 11 h 21"/>
                <a:gd name="T94" fmla="*/ 8 w 93"/>
                <a:gd name="T95" fmla="*/ 11 h 21"/>
                <a:gd name="T96" fmla="*/ 0 w 93"/>
                <a:gd name="T97" fmla="*/ 16 h 21"/>
                <a:gd name="T98" fmla="*/ 18 w 93"/>
                <a:gd name="T99" fmla="*/ 14 h 21"/>
                <a:gd name="T100" fmla="*/ 14 w 93"/>
                <a:gd name="T101" fmla="*/ 13 h 21"/>
                <a:gd name="T102" fmla="*/ 12 w 93"/>
                <a:gd name="T103" fmla="*/ 11 h 21"/>
                <a:gd name="T104" fmla="*/ 10 w 93"/>
                <a:gd name="T105" fmla="*/ 14 h 21"/>
                <a:gd name="T106" fmla="*/ 14 w 93"/>
                <a:gd name="T107" fmla="*/ 10 h 21"/>
                <a:gd name="T108" fmla="*/ 10 w 93"/>
                <a:gd name="T109" fmla="*/ 9 h 21"/>
                <a:gd name="T110" fmla="*/ 6 w 93"/>
                <a:gd name="T111" fmla="*/ 14 h 21"/>
                <a:gd name="T112" fmla="*/ 7 w 93"/>
                <a:gd name="T113" fmla="*/ 17 h 21"/>
                <a:gd name="T114" fmla="*/ 7 w 93"/>
                <a:gd name="T115" fmla="*/ 21 h 21"/>
                <a:gd name="T116" fmla="*/ 14 w 93"/>
                <a:gd name="T117" fmla="*/ 20 h 21"/>
                <a:gd name="T118" fmla="*/ 15 w 93"/>
                <a:gd name="T119" fmla="*/ 16 h 21"/>
                <a:gd name="T120" fmla="*/ 12 w 93"/>
                <a:gd name="T121" fmla="*/ 17 h 21"/>
                <a:gd name="T122" fmla="*/ 7 w 93"/>
                <a:gd name="T12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3" h="21">
                  <a:moveTo>
                    <a:pt x="11" y="2"/>
                  </a:moveTo>
                  <a:cubicBezTo>
                    <a:pt x="11" y="2"/>
                    <a:pt x="11" y="2"/>
                    <a:pt x="11" y="3"/>
                  </a:cubicBezTo>
                  <a:cubicBezTo>
                    <a:pt x="11" y="3"/>
                    <a:pt x="11" y="3"/>
                    <a:pt x="11" y="3"/>
                  </a:cubicBezTo>
                  <a:cubicBezTo>
                    <a:pt x="11" y="3"/>
                    <a:pt x="11" y="4"/>
                    <a:pt x="11" y="4"/>
                  </a:cubicBezTo>
                  <a:cubicBezTo>
                    <a:pt x="10" y="4"/>
                    <a:pt x="10" y="5"/>
                    <a:pt x="10" y="5"/>
                  </a:cubicBezTo>
                  <a:cubicBezTo>
                    <a:pt x="9" y="5"/>
                    <a:pt x="9" y="5"/>
                    <a:pt x="9" y="5"/>
                  </a:cubicBezTo>
                  <a:cubicBezTo>
                    <a:pt x="9" y="5"/>
                    <a:pt x="10" y="5"/>
                    <a:pt x="10" y="5"/>
                  </a:cubicBezTo>
                  <a:cubicBezTo>
                    <a:pt x="10" y="5"/>
                    <a:pt x="11" y="5"/>
                    <a:pt x="11" y="4"/>
                  </a:cubicBezTo>
                  <a:cubicBezTo>
                    <a:pt x="12" y="4"/>
                    <a:pt x="12" y="4"/>
                    <a:pt x="12" y="4"/>
                  </a:cubicBezTo>
                  <a:cubicBezTo>
                    <a:pt x="12" y="4"/>
                    <a:pt x="13" y="4"/>
                    <a:pt x="13" y="3"/>
                  </a:cubicBezTo>
                  <a:cubicBezTo>
                    <a:pt x="13" y="3"/>
                    <a:pt x="14" y="3"/>
                    <a:pt x="13" y="3"/>
                  </a:cubicBezTo>
                  <a:cubicBezTo>
                    <a:pt x="13" y="2"/>
                    <a:pt x="12" y="2"/>
                    <a:pt x="11" y="2"/>
                  </a:cubicBezTo>
                  <a:close/>
                  <a:moveTo>
                    <a:pt x="38" y="1"/>
                  </a:moveTo>
                  <a:cubicBezTo>
                    <a:pt x="38" y="1"/>
                    <a:pt x="38" y="1"/>
                    <a:pt x="37" y="1"/>
                  </a:cubicBezTo>
                  <a:cubicBezTo>
                    <a:pt x="36" y="1"/>
                    <a:pt x="33" y="2"/>
                    <a:pt x="29" y="2"/>
                  </a:cubicBezTo>
                  <a:cubicBezTo>
                    <a:pt x="28" y="2"/>
                    <a:pt x="28" y="3"/>
                    <a:pt x="29" y="3"/>
                  </a:cubicBezTo>
                  <a:cubicBezTo>
                    <a:pt x="30" y="3"/>
                    <a:pt x="31" y="3"/>
                    <a:pt x="32" y="3"/>
                  </a:cubicBezTo>
                  <a:cubicBezTo>
                    <a:pt x="32" y="3"/>
                    <a:pt x="32" y="4"/>
                    <a:pt x="32" y="5"/>
                  </a:cubicBezTo>
                  <a:cubicBezTo>
                    <a:pt x="31" y="6"/>
                    <a:pt x="30" y="7"/>
                    <a:pt x="29" y="8"/>
                  </a:cubicBezTo>
                  <a:cubicBezTo>
                    <a:pt x="29" y="8"/>
                    <a:pt x="29" y="8"/>
                    <a:pt x="28" y="8"/>
                  </a:cubicBezTo>
                  <a:cubicBezTo>
                    <a:pt x="28" y="8"/>
                    <a:pt x="28" y="9"/>
                    <a:pt x="28" y="9"/>
                  </a:cubicBezTo>
                  <a:cubicBezTo>
                    <a:pt x="28" y="9"/>
                    <a:pt x="29" y="10"/>
                    <a:pt x="29" y="10"/>
                  </a:cubicBezTo>
                  <a:cubicBezTo>
                    <a:pt x="29" y="10"/>
                    <a:pt x="29" y="10"/>
                    <a:pt x="30" y="9"/>
                  </a:cubicBezTo>
                  <a:cubicBezTo>
                    <a:pt x="30" y="9"/>
                    <a:pt x="33" y="8"/>
                    <a:pt x="38" y="7"/>
                  </a:cubicBezTo>
                  <a:cubicBezTo>
                    <a:pt x="38" y="7"/>
                    <a:pt x="38" y="7"/>
                    <a:pt x="38" y="7"/>
                  </a:cubicBezTo>
                  <a:cubicBezTo>
                    <a:pt x="38" y="8"/>
                    <a:pt x="39" y="8"/>
                    <a:pt x="39" y="8"/>
                  </a:cubicBezTo>
                  <a:cubicBezTo>
                    <a:pt x="40" y="8"/>
                    <a:pt x="40" y="7"/>
                    <a:pt x="39" y="6"/>
                  </a:cubicBezTo>
                  <a:cubicBezTo>
                    <a:pt x="39" y="5"/>
                    <a:pt x="38" y="5"/>
                    <a:pt x="37" y="5"/>
                  </a:cubicBezTo>
                  <a:cubicBezTo>
                    <a:pt x="35" y="4"/>
                    <a:pt x="35" y="4"/>
                    <a:pt x="36" y="5"/>
                  </a:cubicBezTo>
                  <a:cubicBezTo>
                    <a:pt x="36" y="5"/>
                    <a:pt x="36" y="6"/>
                    <a:pt x="37" y="7"/>
                  </a:cubicBezTo>
                  <a:cubicBezTo>
                    <a:pt x="34" y="7"/>
                    <a:pt x="32" y="8"/>
                    <a:pt x="30" y="8"/>
                  </a:cubicBezTo>
                  <a:cubicBezTo>
                    <a:pt x="31" y="7"/>
                    <a:pt x="32" y="6"/>
                    <a:pt x="33" y="4"/>
                  </a:cubicBezTo>
                  <a:cubicBezTo>
                    <a:pt x="34" y="4"/>
                    <a:pt x="34" y="4"/>
                    <a:pt x="34" y="4"/>
                  </a:cubicBezTo>
                  <a:cubicBezTo>
                    <a:pt x="35" y="4"/>
                    <a:pt x="35" y="3"/>
                    <a:pt x="33" y="3"/>
                  </a:cubicBezTo>
                  <a:cubicBezTo>
                    <a:pt x="36" y="2"/>
                    <a:pt x="38" y="2"/>
                    <a:pt x="39" y="2"/>
                  </a:cubicBezTo>
                  <a:cubicBezTo>
                    <a:pt x="39" y="2"/>
                    <a:pt x="39" y="1"/>
                    <a:pt x="39" y="1"/>
                  </a:cubicBezTo>
                  <a:cubicBezTo>
                    <a:pt x="39" y="1"/>
                    <a:pt x="38" y="1"/>
                    <a:pt x="38" y="1"/>
                  </a:cubicBezTo>
                  <a:close/>
                  <a:moveTo>
                    <a:pt x="63" y="0"/>
                  </a:moveTo>
                  <a:cubicBezTo>
                    <a:pt x="63" y="0"/>
                    <a:pt x="63" y="1"/>
                    <a:pt x="63" y="1"/>
                  </a:cubicBezTo>
                  <a:cubicBezTo>
                    <a:pt x="63" y="1"/>
                    <a:pt x="63" y="2"/>
                    <a:pt x="63" y="3"/>
                  </a:cubicBezTo>
                  <a:cubicBezTo>
                    <a:pt x="62" y="7"/>
                    <a:pt x="61" y="9"/>
                    <a:pt x="59" y="11"/>
                  </a:cubicBezTo>
                  <a:cubicBezTo>
                    <a:pt x="59" y="11"/>
                    <a:pt x="59" y="11"/>
                    <a:pt x="59" y="11"/>
                  </a:cubicBezTo>
                  <a:cubicBezTo>
                    <a:pt x="61" y="10"/>
                    <a:pt x="62" y="8"/>
                    <a:pt x="63" y="5"/>
                  </a:cubicBezTo>
                  <a:cubicBezTo>
                    <a:pt x="64" y="5"/>
                    <a:pt x="64" y="6"/>
                    <a:pt x="65" y="8"/>
                  </a:cubicBezTo>
                  <a:cubicBezTo>
                    <a:pt x="66" y="9"/>
                    <a:pt x="66" y="9"/>
                    <a:pt x="66" y="10"/>
                  </a:cubicBezTo>
                  <a:cubicBezTo>
                    <a:pt x="66" y="10"/>
                    <a:pt x="67" y="11"/>
                    <a:pt x="69" y="11"/>
                  </a:cubicBezTo>
                  <a:cubicBezTo>
                    <a:pt x="69" y="11"/>
                    <a:pt x="69" y="11"/>
                    <a:pt x="70" y="11"/>
                  </a:cubicBezTo>
                  <a:cubicBezTo>
                    <a:pt x="70" y="11"/>
                    <a:pt x="71" y="11"/>
                    <a:pt x="71" y="10"/>
                  </a:cubicBezTo>
                  <a:cubicBezTo>
                    <a:pt x="71" y="10"/>
                    <a:pt x="71" y="10"/>
                    <a:pt x="71" y="10"/>
                  </a:cubicBezTo>
                  <a:cubicBezTo>
                    <a:pt x="68" y="8"/>
                    <a:pt x="66" y="7"/>
                    <a:pt x="65" y="5"/>
                  </a:cubicBezTo>
                  <a:cubicBezTo>
                    <a:pt x="64" y="5"/>
                    <a:pt x="64" y="4"/>
                    <a:pt x="64" y="4"/>
                  </a:cubicBezTo>
                  <a:cubicBezTo>
                    <a:pt x="64" y="3"/>
                    <a:pt x="64" y="2"/>
                    <a:pt x="65" y="2"/>
                  </a:cubicBezTo>
                  <a:cubicBezTo>
                    <a:pt x="65" y="2"/>
                    <a:pt x="65" y="2"/>
                    <a:pt x="65" y="1"/>
                  </a:cubicBezTo>
                  <a:cubicBezTo>
                    <a:pt x="64" y="1"/>
                    <a:pt x="64" y="1"/>
                    <a:pt x="63" y="0"/>
                  </a:cubicBezTo>
                  <a:close/>
                  <a:moveTo>
                    <a:pt x="85" y="12"/>
                  </a:moveTo>
                  <a:cubicBezTo>
                    <a:pt x="86" y="12"/>
                    <a:pt x="87" y="12"/>
                    <a:pt x="88" y="12"/>
                  </a:cubicBezTo>
                  <a:cubicBezTo>
                    <a:pt x="89" y="12"/>
                    <a:pt x="89" y="12"/>
                    <a:pt x="89" y="12"/>
                  </a:cubicBezTo>
                  <a:cubicBezTo>
                    <a:pt x="90" y="12"/>
                    <a:pt x="90" y="12"/>
                    <a:pt x="91" y="11"/>
                  </a:cubicBezTo>
                  <a:cubicBezTo>
                    <a:pt x="91" y="11"/>
                    <a:pt x="90" y="11"/>
                    <a:pt x="90" y="11"/>
                  </a:cubicBezTo>
                  <a:cubicBezTo>
                    <a:pt x="89" y="10"/>
                    <a:pt x="88" y="11"/>
                    <a:pt x="87" y="11"/>
                  </a:cubicBezTo>
                  <a:cubicBezTo>
                    <a:pt x="86" y="11"/>
                    <a:pt x="86" y="11"/>
                    <a:pt x="85" y="11"/>
                  </a:cubicBezTo>
                  <a:cubicBezTo>
                    <a:pt x="86" y="9"/>
                    <a:pt x="86" y="7"/>
                    <a:pt x="86" y="7"/>
                  </a:cubicBezTo>
                  <a:cubicBezTo>
                    <a:pt x="86" y="6"/>
                    <a:pt x="86" y="6"/>
                    <a:pt x="86" y="6"/>
                  </a:cubicBezTo>
                  <a:cubicBezTo>
                    <a:pt x="86" y="5"/>
                    <a:pt x="87" y="5"/>
                    <a:pt x="87" y="5"/>
                  </a:cubicBezTo>
                  <a:cubicBezTo>
                    <a:pt x="86" y="5"/>
                    <a:pt x="85" y="4"/>
                    <a:pt x="84" y="4"/>
                  </a:cubicBezTo>
                  <a:cubicBezTo>
                    <a:pt x="84" y="4"/>
                    <a:pt x="84" y="4"/>
                    <a:pt x="84" y="5"/>
                  </a:cubicBezTo>
                  <a:cubicBezTo>
                    <a:pt x="84" y="5"/>
                    <a:pt x="84" y="6"/>
                    <a:pt x="84" y="6"/>
                  </a:cubicBezTo>
                  <a:cubicBezTo>
                    <a:pt x="84" y="8"/>
                    <a:pt x="84" y="12"/>
                    <a:pt x="83" y="18"/>
                  </a:cubicBezTo>
                  <a:cubicBezTo>
                    <a:pt x="80" y="18"/>
                    <a:pt x="80" y="18"/>
                    <a:pt x="80" y="18"/>
                  </a:cubicBezTo>
                  <a:cubicBezTo>
                    <a:pt x="80" y="18"/>
                    <a:pt x="80" y="17"/>
                    <a:pt x="80" y="16"/>
                  </a:cubicBezTo>
                  <a:cubicBezTo>
                    <a:pt x="80" y="14"/>
                    <a:pt x="80" y="12"/>
                    <a:pt x="80" y="12"/>
                  </a:cubicBezTo>
                  <a:cubicBezTo>
                    <a:pt x="80" y="12"/>
                    <a:pt x="80" y="11"/>
                    <a:pt x="80" y="11"/>
                  </a:cubicBezTo>
                  <a:cubicBezTo>
                    <a:pt x="80" y="11"/>
                    <a:pt x="80" y="11"/>
                    <a:pt x="80" y="11"/>
                  </a:cubicBezTo>
                  <a:cubicBezTo>
                    <a:pt x="80" y="10"/>
                    <a:pt x="79" y="10"/>
                    <a:pt x="78" y="9"/>
                  </a:cubicBezTo>
                  <a:cubicBezTo>
                    <a:pt x="78" y="9"/>
                    <a:pt x="78" y="10"/>
                    <a:pt x="78" y="10"/>
                  </a:cubicBezTo>
                  <a:cubicBezTo>
                    <a:pt x="78" y="11"/>
                    <a:pt x="78" y="11"/>
                    <a:pt x="78" y="11"/>
                  </a:cubicBezTo>
                  <a:cubicBezTo>
                    <a:pt x="79" y="12"/>
                    <a:pt x="79" y="15"/>
                    <a:pt x="78" y="18"/>
                  </a:cubicBezTo>
                  <a:cubicBezTo>
                    <a:pt x="77" y="18"/>
                    <a:pt x="76" y="18"/>
                    <a:pt x="74" y="18"/>
                  </a:cubicBezTo>
                  <a:cubicBezTo>
                    <a:pt x="74" y="18"/>
                    <a:pt x="73" y="18"/>
                    <a:pt x="74" y="18"/>
                  </a:cubicBezTo>
                  <a:cubicBezTo>
                    <a:pt x="74" y="19"/>
                    <a:pt x="74" y="19"/>
                    <a:pt x="75" y="19"/>
                  </a:cubicBezTo>
                  <a:cubicBezTo>
                    <a:pt x="78" y="19"/>
                    <a:pt x="81" y="19"/>
                    <a:pt x="84" y="19"/>
                  </a:cubicBezTo>
                  <a:cubicBezTo>
                    <a:pt x="85" y="19"/>
                    <a:pt x="87" y="19"/>
                    <a:pt x="88" y="20"/>
                  </a:cubicBezTo>
                  <a:cubicBezTo>
                    <a:pt x="89" y="20"/>
                    <a:pt x="91" y="20"/>
                    <a:pt x="92" y="20"/>
                  </a:cubicBezTo>
                  <a:cubicBezTo>
                    <a:pt x="93" y="20"/>
                    <a:pt x="93" y="20"/>
                    <a:pt x="93" y="20"/>
                  </a:cubicBezTo>
                  <a:cubicBezTo>
                    <a:pt x="93" y="19"/>
                    <a:pt x="92" y="18"/>
                    <a:pt x="91" y="18"/>
                  </a:cubicBezTo>
                  <a:cubicBezTo>
                    <a:pt x="91" y="18"/>
                    <a:pt x="90" y="18"/>
                    <a:pt x="89" y="18"/>
                  </a:cubicBezTo>
                  <a:cubicBezTo>
                    <a:pt x="87" y="18"/>
                    <a:pt x="85" y="18"/>
                    <a:pt x="84" y="18"/>
                  </a:cubicBezTo>
                  <a:cubicBezTo>
                    <a:pt x="85" y="12"/>
                    <a:pt x="85" y="12"/>
                    <a:pt x="85" y="12"/>
                  </a:cubicBezTo>
                  <a:close/>
                  <a:moveTo>
                    <a:pt x="55" y="2"/>
                  </a:moveTo>
                  <a:cubicBezTo>
                    <a:pt x="56" y="3"/>
                    <a:pt x="57" y="4"/>
                    <a:pt x="58" y="4"/>
                  </a:cubicBezTo>
                  <a:cubicBezTo>
                    <a:pt x="59" y="3"/>
                    <a:pt x="59" y="3"/>
                    <a:pt x="58" y="2"/>
                  </a:cubicBezTo>
                  <a:cubicBezTo>
                    <a:pt x="56" y="1"/>
                    <a:pt x="55" y="1"/>
                    <a:pt x="55" y="2"/>
                  </a:cubicBezTo>
                  <a:close/>
                  <a:moveTo>
                    <a:pt x="59" y="5"/>
                  </a:moveTo>
                  <a:cubicBezTo>
                    <a:pt x="59" y="5"/>
                    <a:pt x="58" y="5"/>
                    <a:pt x="57" y="5"/>
                  </a:cubicBezTo>
                  <a:cubicBezTo>
                    <a:pt x="55" y="6"/>
                    <a:pt x="52" y="6"/>
                    <a:pt x="50" y="6"/>
                  </a:cubicBezTo>
                  <a:cubicBezTo>
                    <a:pt x="50" y="6"/>
                    <a:pt x="50" y="6"/>
                    <a:pt x="50" y="7"/>
                  </a:cubicBezTo>
                  <a:cubicBezTo>
                    <a:pt x="51" y="7"/>
                    <a:pt x="51" y="7"/>
                    <a:pt x="52" y="8"/>
                  </a:cubicBezTo>
                  <a:cubicBezTo>
                    <a:pt x="52" y="8"/>
                    <a:pt x="53" y="7"/>
                    <a:pt x="55" y="7"/>
                  </a:cubicBezTo>
                  <a:cubicBezTo>
                    <a:pt x="55" y="9"/>
                    <a:pt x="53" y="12"/>
                    <a:pt x="50" y="15"/>
                  </a:cubicBezTo>
                  <a:cubicBezTo>
                    <a:pt x="49" y="15"/>
                    <a:pt x="49" y="15"/>
                    <a:pt x="50" y="15"/>
                  </a:cubicBezTo>
                  <a:cubicBezTo>
                    <a:pt x="50" y="15"/>
                    <a:pt x="51" y="15"/>
                    <a:pt x="51" y="15"/>
                  </a:cubicBezTo>
                  <a:cubicBezTo>
                    <a:pt x="53" y="13"/>
                    <a:pt x="55" y="12"/>
                    <a:pt x="55" y="10"/>
                  </a:cubicBezTo>
                  <a:cubicBezTo>
                    <a:pt x="55" y="10"/>
                    <a:pt x="55" y="10"/>
                    <a:pt x="56" y="10"/>
                  </a:cubicBezTo>
                  <a:cubicBezTo>
                    <a:pt x="56" y="10"/>
                    <a:pt x="57" y="10"/>
                    <a:pt x="57" y="10"/>
                  </a:cubicBezTo>
                  <a:cubicBezTo>
                    <a:pt x="57" y="11"/>
                    <a:pt x="57" y="12"/>
                    <a:pt x="56" y="13"/>
                  </a:cubicBezTo>
                  <a:cubicBezTo>
                    <a:pt x="56" y="14"/>
                    <a:pt x="55" y="15"/>
                    <a:pt x="55" y="15"/>
                  </a:cubicBezTo>
                  <a:cubicBezTo>
                    <a:pt x="55" y="15"/>
                    <a:pt x="55" y="15"/>
                    <a:pt x="54" y="15"/>
                  </a:cubicBezTo>
                  <a:cubicBezTo>
                    <a:pt x="54" y="14"/>
                    <a:pt x="53" y="14"/>
                    <a:pt x="53" y="14"/>
                  </a:cubicBezTo>
                  <a:cubicBezTo>
                    <a:pt x="54" y="15"/>
                    <a:pt x="54" y="16"/>
                    <a:pt x="54" y="16"/>
                  </a:cubicBezTo>
                  <a:cubicBezTo>
                    <a:pt x="54" y="16"/>
                    <a:pt x="54" y="17"/>
                    <a:pt x="54" y="17"/>
                  </a:cubicBezTo>
                  <a:cubicBezTo>
                    <a:pt x="55" y="17"/>
                    <a:pt x="55" y="17"/>
                    <a:pt x="56" y="16"/>
                  </a:cubicBezTo>
                  <a:cubicBezTo>
                    <a:pt x="57" y="15"/>
                    <a:pt x="57" y="15"/>
                    <a:pt x="57" y="14"/>
                  </a:cubicBezTo>
                  <a:cubicBezTo>
                    <a:pt x="58" y="12"/>
                    <a:pt x="58" y="11"/>
                    <a:pt x="58" y="11"/>
                  </a:cubicBezTo>
                  <a:cubicBezTo>
                    <a:pt x="59" y="10"/>
                    <a:pt x="59" y="10"/>
                    <a:pt x="59" y="10"/>
                  </a:cubicBezTo>
                  <a:cubicBezTo>
                    <a:pt x="58" y="10"/>
                    <a:pt x="58" y="9"/>
                    <a:pt x="58" y="9"/>
                  </a:cubicBezTo>
                  <a:cubicBezTo>
                    <a:pt x="57" y="9"/>
                    <a:pt x="57" y="9"/>
                    <a:pt x="57" y="9"/>
                  </a:cubicBezTo>
                  <a:cubicBezTo>
                    <a:pt x="57" y="9"/>
                    <a:pt x="56" y="9"/>
                    <a:pt x="56" y="9"/>
                  </a:cubicBezTo>
                  <a:cubicBezTo>
                    <a:pt x="56" y="9"/>
                    <a:pt x="56" y="8"/>
                    <a:pt x="56" y="8"/>
                  </a:cubicBezTo>
                  <a:cubicBezTo>
                    <a:pt x="56" y="8"/>
                    <a:pt x="56" y="8"/>
                    <a:pt x="56" y="8"/>
                  </a:cubicBezTo>
                  <a:cubicBezTo>
                    <a:pt x="56" y="8"/>
                    <a:pt x="56" y="7"/>
                    <a:pt x="55" y="7"/>
                  </a:cubicBezTo>
                  <a:cubicBezTo>
                    <a:pt x="57" y="6"/>
                    <a:pt x="58" y="6"/>
                    <a:pt x="59" y="6"/>
                  </a:cubicBezTo>
                  <a:cubicBezTo>
                    <a:pt x="60" y="6"/>
                    <a:pt x="60" y="6"/>
                    <a:pt x="60" y="6"/>
                  </a:cubicBezTo>
                  <a:cubicBezTo>
                    <a:pt x="60" y="5"/>
                    <a:pt x="59" y="5"/>
                    <a:pt x="59" y="5"/>
                  </a:cubicBezTo>
                  <a:close/>
                  <a:moveTo>
                    <a:pt x="62" y="11"/>
                  </a:moveTo>
                  <a:cubicBezTo>
                    <a:pt x="62" y="11"/>
                    <a:pt x="62" y="11"/>
                    <a:pt x="62" y="11"/>
                  </a:cubicBezTo>
                  <a:cubicBezTo>
                    <a:pt x="63" y="12"/>
                    <a:pt x="64" y="13"/>
                    <a:pt x="64" y="13"/>
                  </a:cubicBezTo>
                  <a:cubicBezTo>
                    <a:pt x="65" y="13"/>
                    <a:pt x="65" y="12"/>
                    <a:pt x="64" y="11"/>
                  </a:cubicBezTo>
                  <a:cubicBezTo>
                    <a:pt x="63" y="11"/>
                    <a:pt x="62" y="10"/>
                    <a:pt x="62" y="11"/>
                  </a:cubicBezTo>
                  <a:close/>
                  <a:moveTo>
                    <a:pt x="61" y="15"/>
                  </a:moveTo>
                  <a:cubicBezTo>
                    <a:pt x="62" y="16"/>
                    <a:pt x="63" y="17"/>
                    <a:pt x="64" y="18"/>
                  </a:cubicBezTo>
                  <a:cubicBezTo>
                    <a:pt x="65" y="17"/>
                    <a:pt x="65" y="17"/>
                    <a:pt x="65" y="16"/>
                  </a:cubicBezTo>
                  <a:cubicBezTo>
                    <a:pt x="64" y="15"/>
                    <a:pt x="63" y="15"/>
                    <a:pt x="62" y="14"/>
                  </a:cubicBezTo>
                  <a:cubicBezTo>
                    <a:pt x="61" y="14"/>
                    <a:pt x="61" y="14"/>
                    <a:pt x="61" y="15"/>
                  </a:cubicBezTo>
                  <a:close/>
                  <a:moveTo>
                    <a:pt x="35" y="12"/>
                  </a:moveTo>
                  <a:cubicBezTo>
                    <a:pt x="36" y="12"/>
                    <a:pt x="37" y="12"/>
                    <a:pt x="38" y="12"/>
                  </a:cubicBezTo>
                  <a:cubicBezTo>
                    <a:pt x="39" y="12"/>
                    <a:pt x="39" y="12"/>
                    <a:pt x="39" y="11"/>
                  </a:cubicBezTo>
                  <a:cubicBezTo>
                    <a:pt x="39" y="11"/>
                    <a:pt x="39" y="11"/>
                    <a:pt x="38" y="11"/>
                  </a:cubicBezTo>
                  <a:cubicBezTo>
                    <a:pt x="38" y="11"/>
                    <a:pt x="38" y="11"/>
                    <a:pt x="37" y="11"/>
                  </a:cubicBezTo>
                  <a:cubicBezTo>
                    <a:pt x="37" y="11"/>
                    <a:pt x="36" y="11"/>
                    <a:pt x="35" y="11"/>
                  </a:cubicBezTo>
                  <a:cubicBezTo>
                    <a:pt x="35" y="11"/>
                    <a:pt x="35" y="10"/>
                    <a:pt x="36" y="10"/>
                  </a:cubicBezTo>
                  <a:cubicBezTo>
                    <a:pt x="36" y="10"/>
                    <a:pt x="36" y="10"/>
                    <a:pt x="35" y="10"/>
                  </a:cubicBezTo>
                  <a:cubicBezTo>
                    <a:pt x="34" y="9"/>
                    <a:pt x="34" y="9"/>
                    <a:pt x="33" y="9"/>
                  </a:cubicBezTo>
                  <a:cubicBezTo>
                    <a:pt x="33" y="9"/>
                    <a:pt x="33" y="9"/>
                    <a:pt x="33" y="9"/>
                  </a:cubicBezTo>
                  <a:cubicBezTo>
                    <a:pt x="34" y="10"/>
                    <a:pt x="34" y="11"/>
                    <a:pt x="34" y="12"/>
                  </a:cubicBezTo>
                  <a:cubicBezTo>
                    <a:pt x="33" y="12"/>
                    <a:pt x="33" y="12"/>
                    <a:pt x="32" y="12"/>
                  </a:cubicBezTo>
                  <a:cubicBezTo>
                    <a:pt x="31" y="12"/>
                    <a:pt x="30" y="12"/>
                    <a:pt x="30" y="12"/>
                  </a:cubicBezTo>
                  <a:cubicBezTo>
                    <a:pt x="29" y="13"/>
                    <a:pt x="30" y="13"/>
                    <a:pt x="31" y="13"/>
                  </a:cubicBezTo>
                  <a:cubicBezTo>
                    <a:pt x="32" y="13"/>
                    <a:pt x="33" y="13"/>
                    <a:pt x="34" y="13"/>
                  </a:cubicBezTo>
                  <a:cubicBezTo>
                    <a:pt x="34" y="16"/>
                    <a:pt x="34" y="16"/>
                    <a:pt x="34" y="16"/>
                  </a:cubicBezTo>
                  <a:cubicBezTo>
                    <a:pt x="32" y="16"/>
                    <a:pt x="30" y="16"/>
                    <a:pt x="27" y="16"/>
                  </a:cubicBezTo>
                  <a:cubicBezTo>
                    <a:pt x="27" y="17"/>
                    <a:pt x="27" y="17"/>
                    <a:pt x="27" y="17"/>
                  </a:cubicBezTo>
                  <a:cubicBezTo>
                    <a:pt x="26" y="17"/>
                    <a:pt x="26" y="17"/>
                    <a:pt x="26" y="17"/>
                  </a:cubicBezTo>
                  <a:cubicBezTo>
                    <a:pt x="26" y="17"/>
                    <a:pt x="27" y="17"/>
                    <a:pt x="28" y="17"/>
                  </a:cubicBezTo>
                  <a:cubicBezTo>
                    <a:pt x="28" y="17"/>
                    <a:pt x="28" y="17"/>
                    <a:pt x="28" y="17"/>
                  </a:cubicBezTo>
                  <a:cubicBezTo>
                    <a:pt x="33" y="16"/>
                    <a:pt x="38" y="16"/>
                    <a:pt x="43" y="16"/>
                  </a:cubicBezTo>
                  <a:cubicBezTo>
                    <a:pt x="44" y="16"/>
                    <a:pt x="44" y="16"/>
                    <a:pt x="44" y="15"/>
                  </a:cubicBezTo>
                  <a:cubicBezTo>
                    <a:pt x="44" y="15"/>
                    <a:pt x="43" y="14"/>
                    <a:pt x="42" y="14"/>
                  </a:cubicBezTo>
                  <a:cubicBezTo>
                    <a:pt x="42" y="14"/>
                    <a:pt x="41" y="14"/>
                    <a:pt x="41" y="14"/>
                  </a:cubicBezTo>
                  <a:cubicBezTo>
                    <a:pt x="39" y="15"/>
                    <a:pt x="38" y="15"/>
                    <a:pt x="35" y="15"/>
                  </a:cubicBezTo>
                  <a:cubicBezTo>
                    <a:pt x="35" y="12"/>
                    <a:pt x="35" y="12"/>
                    <a:pt x="35" y="12"/>
                  </a:cubicBezTo>
                  <a:close/>
                  <a:moveTo>
                    <a:pt x="5" y="4"/>
                  </a:moveTo>
                  <a:cubicBezTo>
                    <a:pt x="5" y="4"/>
                    <a:pt x="5" y="4"/>
                    <a:pt x="5" y="4"/>
                  </a:cubicBezTo>
                  <a:cubicBezTo>
                    <a:pt x="5" y="4"/>
                    <a:pt x="5" y="5"/>
                    <a:pt x="6" y="5"/>
                  </a:cubicBezTo>
                  <a:cubicBezTo>
                    <a:pt x="6" y="6"/>
                    <a:pt x="6" y="6"/>
                    <a:pt x="7" y="6"/>
                  </a:cubicBezTo>
                  <a:cubicBezTo>
                    <a:pt x="7" y="5"/>
                    <a:pt x="7" y="5"/>
                    <a:pt x="7" y="5"/>
                  </a:cubicBezTo>
                  <a:cubicBezTo>
                    <a:pt x="7" y="4"/>
                    <a:pt x="6" y="4"/>
                    <a:pt x="5" y="4"/>
                  </a:cubicBezTo>
                  <a:close/>
                  <a:moveTo>
                    <a:pt x="10" y="9"/>
                  </a:moveTo>
                  <a:cubicBezTo>
                    <a:pt x="11" y="9"/>
                    <a:pt x="12" y="9"/>
                    <a:pt x="12" y="8"/>
                  </a:cubicBezTo>
                  <a:cubicBezTo>
                    <a:pt x="13" y="8"/>
                    <a:pt x="13" y="8"/>
                    <a:pt x="12" y="8"/>
                  </a:cubicBezTo>
                  <a:cubicBezTo>
                    <a:pt x="11" y="8"/>
                    <a:pt x="11" y="8"/>
                    <a:pt x="11" y="8"/>
                  </a:cubicBezTo>
                  <a:cubicBezTo>
                    <a:pt x="10" y="8"/>
                    <a:pt x="10" y="8"/>
                    <a:pt x="10" y="8"/>
                  </a:cubicBezTo>
                  <a:cubicBezTo>
                    <a:pt x="10" y="8"/>
                    <a:pt x="10" y="8"/>
                    <a:pt x="10" y="8"/>
                  </a:cubicBezTo>
                  <a:cubicBezTo>
                    <a:pt x="10" y="8"/>
                    <a:pt x="10" y="7"/>
                    <a:pt x="10" y="7"/>
                  </a:cubicBezTo>
                  <a:cubicBezTo>
                    <a:pt x="10" y="7"/>
                    <a:pt x="10" y="7"/>
                    <a:pt x="9" y="7"/>
                  </a:cubicBezTo>
                  <a:cubicBezTo>
                    <a:pt x="11" y="6"/>
                    <a:pt x="13" y="6"/>
                    <a:pt x="13" y="6"/>
                  </a:cubicBezTo>
                  <a:cubicBezTo>
                    <a:pt x="14" y="6"/>
                    <a:pt x="14" y="6"/>
                    <a:pt x="13" y="5"/>
                  </a:cubicBezTo>
                  <a:cubicBezTo>
                    <a:pt x="13" y="5"/>
                    <a:pt x="13" y="5"/>
                    <a:pt x="12" y="5"/>
                  </a:cubicBezTo>
                  <a:cubicBezTo>
                    <a:pt x="12" y="5"/>
                    <a:pt x="12" y="5"/>
                    <a:pt x="12" y="5"/>
                  </a:cubicBezTo>
                  <a:cubicBezTo>
                    <a:pt x="10" y="6"/>
                    <a:pt x="7" y="6"/>
                    <a:pt x="5" y="7"/>
                  </a:cubicBezTo>
                  <a:cubicBezTo>
                    <a:pt x="4" y="7"/>
                    <a:pt x="4" y="7"/>
                    <a:pt x="5" y="7"/>
                  </a:cubicBezTo>
                  <a:cubicBezTo>
                    <a:pt x="5" y="7"/>
                    <a:pt x="5" y="7"/>
                    <a:pt x="6" y="7"/>
                  </a:cubicBezTo>
                  <a:cubicBezTo>
                    <a:pt x="6" y="7"/>
                    <a:pt x="7" y="7"/>
                    <a:pt x="7" y="7"/>
                  </a:cubicBezTo>
                  <a:cubicBezTo>
                    <a:pt x="8" y="7"/>
                    <a:pt x="8" y="8"/>
                    <a:pt x="8" y="9"/>
                  </a:cubicBezTo>
                  <a:cubicBezTo>
                    <a:pt x="7" y="9"/>
                    <a:pt x="7" y="9"/>
                    <a:pt x="6" y="9"/>
                  </a:cubicBezTo>
                  <a:cubicBezTo>
                    <a:pt x="5" y="9"/>
                    <a:pt x="6" y="9"/>
                    <a:pt x="6" y="9"/>
                  </a:cubicBezTo>
                  <a:cubicBezTo>
                    <a:pt x="7" y="9"/>
                    <a:pt x="7" y="9"/>
                    <a:pt x="8" y="9"/>
                  </a:cubicBezTo>
                  <a:cubicBezTo>
                    <a:pt x="8" y="11"/>
                    <a:pt x="8" y="11"/>
                    <a:pt x="8" y="11"/>
                  </a:cubicBezTo>
                  <a:cubicBezTo>
                    <a:pt x="7" y="11"/>
                    <a:pt x="5" y="11"/>
                    <a:pt x="4" y="11"/>
                  </a:cubicBezTo>
                  <a:cubicBezTo>
                    <a:pt x="4" y="11"/>
                    <a:pt x="4" y="12"/>
                    <a:pt x="4" y="12"/>
                  </a:cubicBezTo>
                  <a:cubicBezTo>
                    <a:pt x="5" y="12"/>
                    <a:pt x="5" y="12"/>
                    <a:pt x="6" y="12"/>
                  </a:cubicBezTo>
                  <a:cubicBezTo>
                    <a:pt x="7" y="12"/>
                    <a:pt x="7" y="12"/>
                    <a:pt x="8" y="12"/>
                  </a:cubicBezTo>
                  <a:cubicBezTo>
                    <a:pt x="8" y="11"/>
                    <a:pt x="8" y="11"/>
                    <a:pt x="8" y="11"/>
                  </a:cubicBezTo>
                  <a:cubicBezTo>
                    <a:pt x="9" y="14"/>
                    <a:pt x="9" y="14"/>
                    <a:pt x="9" y="14"/>
                  </a:cubicBezTo>
                  <a:cubicBezTo>
                    <a:pt x="8" y="14"/>
                    <a:pt x="8" y="15"/>
                    <a:pt x="8" y="15"/>
                  </a:cubicBezTo>
                  <a:cubicBezTo>
                    <a:pt x="4" y="15"/>
                    <a:pt x="1" y="15"/>
                    <a:pt x="0" y="15"/>
                  </a:cubicBezTo>
                  <a:cubicBezTo>
                    <a:pt x="0" y="16"/>
                    <a:pt x="0" y="16"/>
                    <a:pt x="0" y="16"/>
                  </a:cubicBezTo>
                  <a:cubicBezTo>
                    <a:pt x="1" y="16"/>
                    <a:pt x="1" y="16"/>
                    <a:pt x="2" y="17"/>
                  </a:cubicBezTo>
                  <a:cubicBezTo>
                    <a:pt x="2" y="17"/>
                    <a:pt x="2" y="16"/>
                    <a:pt x="2" y="16"/>
                  </a:cubicBezTo>
                  <a:cubicBezTo>
                    <a:pt x="4" y="16"/>
                    <a:pt x="7" y="15"/>
                    <a:pt x="13" y="14"/>
                  </a:cubicBezTo>
                  <a:cubicBezTo>
                    <a:pt x="14" y="14"/>
                    <a:pt x="16" y="14"/>
                    <a:pt x="18" y="14"/>
                  </a:cubicBezTo>
                  <a:cubicBezTo>
                    <a:pt x="18" y="14"/>
                    <a:pt x="18" y="14"/>
                    <a:pt x="18" y="14"/>
                  </a:cubicBezTo>
                  <a:cubicBezTo>
                    <a:pt x="19" y="14"/>
                    <a:pt x="19" y="14"/>
                    <a:pt x="19" y="13"/>
                  </a:cubicBezTo>
                  <a:cubicBezTo>
                    <a:pt x="18" y="13"/>
                    <a:pt x="17" y="13"/>
                    <a:pt x="17" y="13"/>
                  </a:cubicBezTo>
                  <a:cubicBezTo>
                    <a:pt x="16" y="13"/>
                    <a:pt x="16" y="13"/>
                    <a:pt x="14" y="13"/>
                  </a:cubicBezTo>
                  <a:cubicBezTo>
                    <a:pt x="13" y="14"/>
                    <a:pt x="13" y="14"/>
                    <a:pt x="13" y="14"/>
                  </a:cubicBezTo>
                  <a:cubicBezTo>
                    <a:pt x="13" y="13"/>
                    <a:pt x="14" y="12"/>
                    <a:pt x="14" y="12"/>
                  </a:cubicBezTo>
                  <a:cubicBezTo>
                    <a:pt x="14" y="12"/>
                    <a:pt x="14" y="12"/>
                    <a:pt x="14" y="11"/>
                  </a:cubicBezTo>
                  <a:cubicBezTo>
                    <a:pt x="13" y="11"/>
                    <a:pt x="13" y="11"/>
                    <a:pt x="12" y="11"/>
                  </a:cubicBezTo>
                  <a:cubicBezTo>
                    <a:pt x="12" y="11"/>
                    <a:pt x="12" y="11"/>
                    <a:pt x="12" y="12"/>
                  </a:cubicBezTo>
                  <a:cubicBezTo>
                    <a:pt x="12" y="12"/>
                    <a:pt x="12" y="12"/>
                    <a:pt x="12" y="12"/>
                  </a:cubicBezTo>
                  <a:cubicBezTo>
                    <a:pt x="12" y="13"/>
                    <a:pt x="12" y="14"/>
                    <a:pt x="12" y="14"/>
                  </a:cubicBezTo>
                  <a:cubicBezTo>
                    <a:pt x="10" y="14"/>
                    <a:pt x="10" y="14"/>
                    <a:pt x="10" y="14"/>
                  </a:cubicBezTo>
                  <a:cubicBezTo>
                    <a:pt x="10" y="11"/>
                    <a:pt x="10" y="11"/>
                    <a:pt x="10" y="11"/>
                  </a:cubicBezTo>
                  <a:cubicBezTo>
                    <a:pt x="10" y="11"/>
                    <a:pt x="11" y="11"/>
                    <a:pt x="12" y="11"/>
                  </a:cubicBezTo>
                  <a:cubicBezTo>
                    <a:pt x="13" y="11"/>
                    <a:pt x="14" y="11"/>
                    <a:pt x="14" y="10"/>
                  </a:cubicBezTo>
                  <a:cubicBezTo>
                    <a:pt x="15" y="10"/>
                    <a:pt x="15" y="10"/>
                    <a:pt x="14" y="10"/>
                  </a:cubicBezTo>
                  <a:cubicBezTo>
                    <a:pt x="14" y="10"/>
                    <a:pt x="14" y="10"/>
                    <a:pt x="13" y="10"/>
                  </a:cubicBezTo>
                  <a:cubicBezTo>
                    <a:pt x="13" y="10"/>
                    <a:pt x="13" y="10"/>
                    <a:pt x="12" y="10"/>
                  </a:cubicBezTo>
                  <a:cubicBezTo>
                    <a:pt x="11" y="10"/>
                    <a:pt x="10" y="10"/>
                    <a:pt x="10" y="10"/>
                  </a:cubicBezTo>
                  <a:cubicBezTo>
                    <a:pt x="10" y="9"/>
                    <a:pt x="10" y="9"/>
                    <a:pt x="10" y="9"/>
                  </a:cubicBezTo>
                  <a:close/>
                  <a:moveTo>
                    <a:pt x="7" y="13"/>
                  </a:moveTo>
                  <a:cubicBezTo>
                    <a:pt x="7" y="13"/>
                    <a:pt x="6" y="12"/>
                    <a:pt x="5" y="12"/>
                  </a:cubicBezTo>
                  <a:cubicBezTo>
                    <a:pt x="5" y="12"/>
                    <a:pt x="5" y="13"/>
                    <a:pt x="5" y="13"/>
                  </a:cubicBezTo>
                  <a:cubicBezTo>
                    <a:pt x="6" y="14"/>
                    <a:pt x="6" y="14"/>
                    <a:pt x="6" y="14"/>
                  </a:cubicBezTo>
                  <a:cubicBezTo>
                    <a:pt x="7" y="14"/>
                    <a:pt x="7" y="14"/>
                    <a:pt x="7" y="13"/>
                  </a:cubicBezTo>
                  <a:close/>
                  <a:moveTo>
                    <a:pt x="13" y="16"/>
                  </a:moveTo>
                  <a:cubicBezTo>
                    <a:pt x="13" y="16"/>
                    <a:pt x="12" y="16"/>
                    <a:pt x="11" y="16"/>
                  </a:cubicBezTo>
                  <a:cubicBezTo>
                    <a:pt x="9" y="17"/>
                    <a:pt x="8" y="17"/>
                    <a:pt x="7" y="17"/>
                  </a:cubicBezTo>
                  <a:cubicBezTo>
                    <a:pt x="6" y="17"/>
                    <a:pt x="6" y="17"/>
                    <a:pt x="5" y="17"/>
                  </a:cubicBezTo>
                  <a:cubicBezTo>
                    <a:pt x="5" y="17"/>
                    <a:pt x="5" y="17"/>
                    <a:pt x="5" y="17"/>
                  </a:cubicBezTo>
                  <a:cubicBezTo>
                    <a:pt x="6" y="18"/>
                    <a:pt x="6" y="18"/>
                    <a:pt x="6" y="19"/>
                  </a:cubicBezTo>
                  <a:cubicBezTo>
                    <a:pt x="6" y="20"/>
                    <a:pt x="6" y="20"/>
                    <a:pt x="7" y="21"/>
                  </a:cubicBezTo>
                  <a:cubicBezTo>
                    <a:pt x="7" y="21"/>
                    <a:pt x="7" y="21"/>
                    <a:pt x="7" y="21"/>
                  </a:cubicBezTo>
                  <a:cubicBezTo>
                    <a:pt x="7" y="21"/>
                    <a:pt x="8" y="21"/>
                    <a:pt x="7" y="21"/>
                  </a:cubicBezTo>
                  <a:cubicBezTo>
                    <a:pt x="8" y="21"/>
                    <a:pt x="8" y="21"/>
                    <a:pt x="9" y="20"/>
                  </a:cubicBezTo>
                  <a:cubicBezTo>
                    <a:pt x="12" y="20"/>
                    <a:pt x="14" y="20"/>
                    <a:pt x="14" y="20"/>
                  </a:cubicBezTo>
                  <a:cubicBezTo>
                    <a:pt x="14" y="20"/>
                    <a:pt x="15" y="20"/>
                    <a:pt x="14" y="19"/>
                  </a:cubicBezTo>
                  <a:cubicBezTo>
                    <a:pt x="14" y="19"/>
                    <a:pt x="14" y="19"/>
                    <a:pt x="14" y="19"/>
                  </a:cubicBezTo>
                  <a:cubicBezTo>
                    <a:pt x="14" y="18"/>
                    <a:pt x="14" y="17"/>
                    <a:pt x="15" y="17"/>
                  </a:cubicBezTo>
                  <a:cubicBezTo>
                    <a:pt x="15" y="17"/>
                    <a:pt x="15" y="17"/>
                    <a:pt x="15" y="16"/>
                  </a:cubicBezTo>
                  <a:cubicBezTo>
                    <a:pt x="14" y="16"/>
                    <a:pt x="13" y="16"/>
                    <a:pt x="13" y="16"/>
                  </a:cubicBezTo>
                  <a:close/>
                  <a:moveTo>
                    <a:pt x="7" y="18"/>
                  </a:moveTo>
                  <a:cubicBezTo>
                    <a:pt x="7" y="18"/>
                    <a:pt x="7" y="18"/>
                    <a:pt x="8" y="18"/>
                  </a:cubicBezTo>
                  <a:cubicBezTo>
                    <a:pt x="9" y="17"/>
                    <a:pt x="11" y="17"/>
                    <a:pt x="12" y="17"/>
                  </a:cubicBezTo>
                  <a:cubicBezTo>
                    <a:pt x="12" y="17"/>
                    <a:pt x="13" y="17"/>
                    <a:pt x="13" y="18"/>
                  </a:cubicBezTo>
                  <a:cubicBezTo>
                    <a:pt x="13" y="18"/>
                    <a:pt x="12" y="19"/>
                    <a:pt x="12" y="19"/>
                  </a:cubicBezTo>
                  <a:cubicBezTo>
                    <a:pt x="7" y="20"/>
                    <a:pt x="7" y="20"/>
                    <a:pt x="7" y="20"/>
                  </a:cubicBezTo>
                  <a:cubicBezTo>
                    <a:pt x="7" y="18"/>
                    <a:pt x="7" y="18"/>
                    <a:pt x="7"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sp>
          <p:nvSpPr>
            <p:cNvPr id="31" name="Freeform 24"/>
            <p:cNvSpPr>
              <a:spLocks noEditPoints="1"/>
            </p:cNvSpPr>
            <p:nvPr/>
          </p:nvSpPr>
          <p:spPr bwMode="auto">
            <a:xfrm>
              <a:off x="4200526" y="1946275"/>
              <a:ext cx="735013" cy="388938"/>
            </a:xfrm>
            <a:custGeom>
              <a:avLst/>
              <a:gdLst>
                <a:gd name="T0" fmla="*/ 152 w 195"/>
                <a:gd name="T1" fmla="*/ 59 h 103"/>
                <a:gd name="T2" fmla="*/ 160 w 195"/>
                <a:gd name="T3" fmla="*/ 39 h 103"/>
                <a:gd name="T4" fmla="*/ 168 w 195"/>
                <a:gd name="T5" fmla="*/ 23 h 103"/>
                <a:gd name="T6" fmla="*/ 167 w 195"/>
                <a:gd name="T7" fmla="*/ 0 h 103"/>
                <a:gd name="T8" fmla="*/ 193 w 195"/>
                <a:gd name="T9" fmla="*/ 9 h 103"/>
                <a:gd name="T10" fmla="*/ 189 w 195"/>
                <a:gd name="T11" fmla="*/ 30 h 103"/>
                <a:gd name="T12" fmla="*/ 178 w 195"/>
                <a:gd name="T13" fmla="*/ 69 h 103"/>
                <a:gd name="T14" fmla="*/ 174 w 195"/>
                <a:gd name="T15" fmla="*/ 83 h 103"/>
                <a:gd name="T16" fmla="*/ 158 w 195"/>
                <a:gd name="T17" fmla="*/ 94 h 103"/>
                <a:gd name="T18" fmla="*/ 147 w 195"/>
                <a:gd name="T19" fmla="*/ 103 h 103"/>
                <a:gd name="T20" fmla="*/ 42 w 195"/>
                <a:gd name="T21" fmla="*/ 101 h 103"/>
                <a:gd name="T22" fmla="*/ 31 w 195"/>
                <a:gd name="T23" fmla="*/ 79 h 103"/>
                <a:gd name="T24" fmla="*/ 17 w 195"/>
                <a:gd name="T25" fmla="*/ 78 h 103"/>
                <a:gd name="T26" fmla="*/ 3 w 195"/>
                <a:gd name="T27" fmla="*/ 34 h 103"/>
                <a:gd name="T28" fmla="*/ 6 w 195"/>
                <a:gd name="T29" fmla="*/ 15 h 103"/>
                <a:gd name="T30" fmla="*/ 24 w 195"/>
                <a:gd name="T31" fmla="*/ 7 h 103"/>
                <a:gd name="T32" fmla="*/ 28 w 195"/>
                <a:gd name="T33" fmla="*/ 15 h 103"/>
                <a:gd name="T34" fmla="*/ 24 w 195"/>
                <a:gd name="T35" fmla="*/ 39 h 103"/>
                <a:gd name="T36" fmla="*/ 47 w 195"/>
                <a:gd name="T37" fmla="*/ 54 h 103"/>
                <a:gd name="T38" fmla="*/ 44 w 195"/>
                <a:gd name="T39" fmla="*/ 72 h 103"/>
                <a:gd name="T40" fmla="*/ 149 w 195"/>
                <a:gd name="T41" fmla="*/ 99 h 103"/>
                <a:gd name="T42" fmla="*/ 45 w 195"/>
                <a:gd name="T43" fmla="*/ 74 h 103"/>
                <a:gd name="T44" fmla="*/ 49 w 195"/>
                <a:gd name="T45" fmla="*/ 100 h 103"/>
                <a:gd name="T46" fmla="*/ 43 w 195"/>
                <a:gd name="T47" fmla="*/ 89 h 103"/>
                <a:gd name="T48" fmla="*/ 40 w 195"/>
                <a:gd name="T49" fmla="*/ 60 h 103"/>
                <a:gd name="T50" fmla="*/ 23 w 195"/>
                <a:gd name="T51" fmla="*/ 41 h 103"/>
                <a:gd name="T52" fmla="*/ 28 w 195"/>
                <a:gd name="T53" fmla="*/ 77 h 103"/>
                <a:gd name="T54" fmla="*/ 37 w 195"/>
                <a:gd name="T55" fmla="*/ 89 h 103"/>
                <a:gd name="T56" fmla="*/ 21 w 195"/>
                <a:gd name="T57" fmla="*/ 41 h 103"/>
                <a:gd name="T58" fmla="*/ 26 w 195"/>
                <a:gd name="T59" fmla="*/ 16 h 103"/>
                <a:gd name="T60" fmla="*/ 5 w 195"/>
                <a:gd name="T61" fmla="*/ 34 h 103"/>
                <a:gd name="T62" fmla="*/ 6 w 195"/>
                <a:gd name="T63" fmla="*/ 49 h 103"/>
                <a:gd name="T64" fmla="*/ 20 w 195"/>
                <a:gd name="T65" fmla="*/ 69 h 103"/>
                <a:gd name="T66" fmla="*/ 26 w 195"/>
                <a:gd name="T67" fmla="*/ 78 h 103"/>
                <a:gd name="T68" fmla="*/ 20 w 195"/>
                <a:gd name="T69" fmla="*/ 46 h 103"/>
                <a:gd name="T70" fmla="*/ 15 w 195"/>
                <a:gd name="T71" fmla="*/ 19 h 103"/>
                <a:gd name="T72" fmla="*/ 8 w 195"/>
                <a:gd name="T73" fmla="*/ 27 h 103"/>
                <a:gd name="T74" fmla="*/ 13 w 195"/>
                <a:gd name="T75" fmla="*/ 4 h 103"/>
                <a:gd name="T76" fmla="*/ 8 w 195"/>
                <a:gd name="T77" fmla="*/ 13 h 103"/>
                <a:gd name="T78" fmla="*/ 151 w 195"/>
                <a:gd name="T79" fmla="*/ 100 h 103"/>
                <a:gd name="T80" fmla="*/ 154 w 195"/>
                <a:gd name="T81" fmla="*/ 73 h 103"/>
                <a:gd name="T82" fmla="*/ 158 w 195"/>
                <a:gd name="T83" fmla="*/ 41 h 103"/>
                <a:gd name="T84" fmla="*/ 167 w 195"/>
                <a:gd name="T85" fmla="*/ 67 h 103"/>
                <a:gd name="T86" fmla="*/ 160 w 195"/>
                <a:gd name="T87" fmla="*/ 80 h 103"/>
                <a:gd name="T88" fmla="*/ 151 w 195"/>
                <a:gd name="T89" fmla="*/ 100 h 103"/>
                <a:gd name="T90" fmla="*/ 171 w 195"/>
                <a:gd name="T91" fmla="*/ 23 h 103"/>
                <a:gd name="T92" fmla="*/ 179 w 195"/>
                <a:gd name="T93" fmla="*/ 22 h 103"/>
                <a:gd name="T94" fmla="*/ 189 w 195"/>
                <a:gd name="T95" fmla="*/ 49 h 103"/>
                <a:gd name="T96" fmla="*/ 187 w 195"/>
                <a:gd name="T97" fmla="*/ 51 h 103"/>
                <a:gd name="T98" fmla="*/ 173 w 195"/>
                <a:gd name="T99" fmla="*/ 80 h 103"/>
                <a:gd name="T100" fmla="*/ 173 w 195"/>
                <a:gd name="T101" fmla="*/ 56 h 103"/>
                <a:gd name="T102" fmla="*/ 187 w 195"/>
                <a:gd name="T103" fmla="*/ 27 h 103"/>
                <a:gd name="T104" fmla="*/ 187 w 195"/>
                <a:gd name="T105" fmla="*/ 15 h 103"/>
                <a:gd name="T106" fmla="*/ 172 w 195"/>
                <a:gd name="T107" fmla="*/ 9 h 103"/>
                <a:gd name="T108" fmla="*/ 189 w 195"/>
                <a:gd name="T109" fmla="*/ 13 h 103"/>
                <a:gd name="T110" fmla="*/ 175 w 195"/>
                <a:gd name="T111" fmla="*/ 1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5" h="103">
                  <a:moveTo>
                    <a:pt x="151" y="72"/>
                  </a:moveTo>
                  <a:cubicBezTo>
                    <a:pt x="154" y="69"/>
                    <a:pt x="154" y="67"/>
                    <a:pt x="154" y="65"/>
                  </a:cubicBezTo>
                  <a:cubicBezTo>
                    <a:pt x="154" y="62"/>
                    <a:pt x="153" y="61"/>
                    <a:pt x="152" y="59"/>
                  </a:cubicBezTo>
                  <a:cubicBezTo>
                    <a:pt x="150" y="57"/>
                    <a:pt x="149" y="56"/>
                    <a:pt x="148" y="54"/>
                  </a:cubicBezTo>
                  <a:cubicBezTo>
                    <a:pt x="148" y="52"/>
                    <a:pt x="148" y="50"/>
                    <a:pt x="149" y="47"/>
                  </a:cubicBezTo>
                  <a:cubicBezTo>
                    <a:pt x="150" y="42"/>
                    <a:pt x="155" y="39"/>
                    <a:pt x="160" y="39"/>
                  </a:cubicBezTo>
                  <a:cubicBezTo>
                    <a:pt x="171" y="39"/>
                    <a:pt x="171" y="39"/>
                    <a:pt x="171" y="39"/>
                  </a:cubicBezTo>
                  <a:cubicBezTo>
                    <a:pt x="172" y="33"/>
                    <a:pt x="172" y="33"/>
                    <a:pt x="172" y="33"/>
                  </a:cubicBezTo>
                  <a:cubicBezTo>
                    <a:pt x="172" y="29"/>
                    <a:pt x="170" y="26"/>
                    <a:pt x="168" y="23"/>
                  </a:cubicBezTo>
                  <a:cubicBezTo>
                    <a:pt x="167" y="20"/>
                    <a:pt x="167" y="18"/>
                    <a:pt x="167" y="15"/>
                  </a:cubicBezTo>
                  <a:cubicBezTo>
                    <a:pt x="167" y="0"/>
                    <a:pt x="167" y="0"/>
                    <a:pt x="167" y="0"/>
                  </a:cubicBezTo>
                  <a:cubicBezTo>
                    <a:pt x="167" y="0"/>
                    <a:pt x="167" y="0"/>
                    <a:pt x="167" y="0"/>
                  </a:cubicBezTo>
                  <a:cubicBezTo>
                    <a:pt x="168" y="3"/>
                    <a:pt x="170" y="5"/>
                    <a:pt x="171" y="7"/>
                  </a:cubicBezTo>
                  <a:cubicBezTo>
                    <a:pt x="173" y="4"/>
                    <a:pt x="177" y="2"/>
                    <a:pt x="182" y="2"/>
                  </a:cubicBezTo>
                  <a:cubicBezTo>
                    <a:pt x="188" y="2"/>
                    <a:pt x="193" y="5"/>
                    <a:pt x="193" y="9"/>
                  </a:cubicBezTo>
                  <a:cubicBezTo>
                    <a:pt x="193" y="11"/>
                    <a:pt x="192" y="13"/>
                    <a:pt x="189" y="15"/>
                  </a:cubicBezTo>
                  <a:cubicBezTo>
                    <a:pt x="189" y="30"/>
                    <a:pt x="189" y="30"/>
                    <a:pt x="189" y="30"/>
                  </a:cubicBezTo>
                  <a:cubicBezTo>
                    <a:pt x="189" y="30"/>
                    <a:pt x="189" y="30"/>
                    <a:pt x="189" y="30"/>
                  </a:cubicBezTo>
                  <a:cubicBezTo>
                    <a:pt x="190" y="31"/>
                    <a:pt x="191" y="32"/>
                    <a:pt x="192" y="34"/>
                  </a:cubicBezTo>
                  <a:cubicBezTo>
                    <a:pt x="194" y="37"/>
                    <a:pt x="195" y="40"/>
                    <a:pt x="194" y="43"/>
                  </a:cubicBezTo>
                  <a:cubicBezTo>
                    <a:pt x="192" y="52"/>
                    <a:pt x="178" y="60"/>
                    <a:pt x="178" y="69"/>
                  </a:cubicBezTo>
                  <a:cubicBezTo>
                    <a:pt x="178" y="71"/>
                    <a:pt x="178" y="75"/>
                    <a:pt x="178" y="78"/>
                  </a:cubicBezTo>
                  <a:cubicBezTo>
                    <a:pt x="178" y="80"/>
                    <a:pt x="178" y="81"/>
                    <a:pt x="177" y="82"/>
                  </a:cubicBezTo>
                  <a:cubicBezTo>
                    <a:pt x="177" y="83"/>
                    <a:pt x="175" y="83"/>
                    <a:pt x="174" y="83"/>
                  </a:cubicBezTo>
                  <a:cubicBezTo>
                    <a:pt x="171" y="82"/>
                    <a:pt x="167" y="78"/>
                    <a:pt x="165" y="79"/>
                  </a:cubicBezTo>
                  <a:cubicBezTo>
                    <a:pt x="162" y="80"/>
                    <a:pt x="162" y="82"/>
                    <a:pt x="161" y="84"/>
                  </a:cubicBezTo>
                  <a:cubicBezTo>
                    <a:pt x="161" y="88"/>
                    <a:pt x="160" y="91"/>
                    <a:pt x="158" y="94"/>
                  </a:cubicBezTo>
                  <a:cubicBezTo>
                    <a:pt x="157" y="97"/>
                    <a:pt x="155" y="99"/>
                    <a:pt x="154" y="101"/>
                  </a:cubicBezTo>
                  <a:cubicBezTo>
                    <a:pt x="153" y="102"/>
                    <a:pt x="152" y="103"/>
                    <a:pt x="151" y="103"/>
                  </a:cubicBezTo>
                  <a:cubicBezTo>
                    <a:pt x="150" y="103"/>
                    <a:pt x="148" y="103"/>
                    <a:pt x="147" y="103"/>
                  </a:cubicBezTo>
                  <a:cubicBezTo>
                    <a:pt x="116" y="94"/>
                    <a:pt x="79" y="94"/>
                    <a:pt x="48" y="103"/>
                  </a:cubicBezTo>
                  <a:cubicBezTo>
                    <a:pt x="47" y="103"/>
                    <a:pt x="46" y="103"/>
                    <a:pt x="45" y="103"/>
                  </a:cubicBezTo>
                  <a:cubicBezTo>
                    <a:pt x="44" y="103"/>
                    <a:pt x="43" y="102"/>
                    <a:pt x="42" y="101"/>
                  </a:cubicBezTo>
                  <a:cubicBezTo>
                    <a:pt x="40" y="99"/>
                    <a:pt x="39" y="97"/>
                    <a:pt x="37" y="94"/>
                  </a:cubicBezTo>
                  <a:cubicBezTo>
                    <a:pt x="36" y="91"/>
                    <a:pt x="35" y="88"/>
                    <a:pt x="34" y="84"/>
                  </a:cubicBezTo>
                  <a:cubicBezTo>
                    <a:pt x="34" y="82"/>
                    <a:pt x="33" y="80"/>
                    <a:pt x="31" y="79"/>
                  </a:cubicBezTo>
                  <a:cubicBezTo>
                    <a:pt x="28" y="78"/>
                    <a:pt x="24" y="82"/>
                    <a:pt x="21" y="83"/>
                  </a:cubicBezTo>
                  <a:cubicBezTo>
                    <a:pt x="20" y="83"/>
                    <a:pt x="19" y="83"/>
                    <a:pt x="18" y="82"/>
                  </a:cubicBezTo>
                  <a:cubicBezTo>
                    <a:pt x="18" y="81"/>
                    <a:pt x="18" y="80"/>
                    <a:pt x="17" y="78"/>
                  </a:cubicBezTo>
                  <a:cubicBezTo>
                    <a:pt x="17" y="75"/>
                    <a:pt x="17" y="71"/>
                    <a:pt x="17" y="69"/>
                  </a:cubicBezTo>
                  <a:cubicBezTo>
                    <a:pt x="17" y="60"/>
                    <a:pt x="3" y="52"/>
                    <a:pt x="1" y="43"/>
                  </a:cubicBezTo>
                  <a:cubicBezTo>
                    <a:pt x="0" y="40"/>
                    <a:pt x="1" y="37"/>
                    <a:pt x="3" y="34"/>
                  </a:cubicBezTo>
                  <a:cubicBezTo>
                    <a:pt x="4" y="32"/>
                    <a:pt x="5" y="31"/>
                    <a:pt x="6" y="30"/>
                  </a:cubicBezTo>
                  <a:cubicBezTo>
                    <a:pt x="6" y="30"/>
                    <a:pt x="6" y="30"/>
                    <a:pt x="6" y="30"/>
                  </a:cubicBezTo>
                  <a:cubicBezTo>
                    <a:pt x="6" y="15"/>
                    <a:pt x="6" y="15"/>
                    <a:pt x="6" y="15"/>
                  </a:cubicBezTo>
                  <a:cubicBezTo>
                    <a:pt x="3" y="13"/>
                    <a:pt x="2" y="11"/>
                    <a:pt x="2" y="9"/>
                  </a:cubicBezTo>
                  <a:cubicBezTo>
                    <a:pt x="2" y="5"/>
                    <a:pt x="7" y="2"/>
                    <a:pt x="13" y="2"/>
                  </a:cubicBezTo>
                  <a:cubicBezTo>
                    <a:pt x="18" y="2"/>
                    <a:pt x="22" y="4"/>
                    <a:pt x="24" y="7"/>
                  </a:cubicBezTo>
                  <a:cubicBezTo>
                    <a:pt x="25" y="5"/>
                    <a:pt x="27" y="3"/>
                    <a:pt x="28" y="0"/>
                  </a:cubicBezTo>
                  <a:cubicBezTo>
                    <a:pt x="28" y="0"/>
                    <a:pt x="28" y="0"/>
                    <a:pt x="28" y="0"/>
                  </a:cubicBezTo>
                  <a:cubicBezTo>
                    <a:pt x="28" y="15"/>
                    <a:pt x="28" y="15"/>
                    <a:pt x="28" y="15"/>
                  </a:cubicBezTo>
                  <a:cubicBezTo>
                    <a:pt x="28" y="18"/>
                    <a:pt x="28" y="20"/>
                    <a:pt x="27" y="23"/>
                  </a:cubicBezTo>
                  <a:cubicBezTo>
                    <a:pt x="25" y="26"/>
                    <a:pt x="24" y="29"/>
                    <a:pt x="24" y="33"/>
                  </a:cubicBezTo>
                  <a:cubicBezTo>
                    <a:pt x="24" y="39"/>
                    <a:pt x="24" y="39"/>
                    <a:pt x="24" y="39"/>
                  </a:cubicBezTo>
                  <a:cubicBezTo>
                    <a:pt x="35" y="39"/>
                    <a:pt x="35" y="39"/>
                    <a:pt x="35" y="39"/>
                  </a:cubicBezTo>
                  <a:cubicBezTo>
                    <a:pt x="40" y="39"/>
                    <a:pt x="45" y="42"/>
                    <a:pt x="46" y="47"/>
                  </a:cubicBezTo>
                  <a:cubicBezTo>
                    <a:pt x="47" y="50"/>
                    <a:pt x="47" y="52"/>
                    <a:pt x="47" y="54"/>
                  </a:cubicBezTo>
                  <a:cubicBezTo>
                    <a:pt x="46" y="56"/>
                    <a:pt x="45" y="57"/>
                    <a:pt x="43" y="59"/>
                  </a:cubicBezTo>
                  <a:cubicBezTo>
                    <a:pt x="42" y="61"/>
                    <a:pt x="41" y="62"/>
                    <a:pt x="41" y="65"/>
                  </a:cubicBezTo>
                  <a:cubicBezTo>
                    <a:pt x="41" y="67"/>
                    <a:pt x="41" y="69"/>
                    <a:pt x="44" y="72"/>
                  </a:cubicBezTo>
                  <a:cubicBezTo>
                    <a:pt x="82" y="64"/>
                    <a:pt x="112" y="64"/>
                    <a:pt x="151" y="72"/>
                  </a:cubicBezTo>
                  <a:close/>
                  <a:moveTo>
                    <a:pt x="146" y="100"/>
                  </a:moveTo>
                  <a:cubicBezTo>
                    <a:pt x="148" y="101"/>
                    <a:pt x="149" y="101"/>
                    <a:pt x="149" y="99"/>
                  </a:cubicBezTo>
                  <a:cubicBezTo>
                    <a:pt x="151" y="93"/>
                    <a:pt x="149" y="85"/>
                    <a:pt x="149" y="79"/>
                  </a:cubicBezTo>
                  <a:cubicBezTo>
                    <a:pt x="149" y="77"/>
                    <a:pt x="149" y="76"/>
                    <a:pt x="150" y="74"/>
                  </a:cubicBezTo>
                  <a:cubicBezTo>
                    <a:pt x="114" y="66"/>
                    <a:pt x="81" y="66"/>
                    <a:pt x="45" y="74"/>
                  </a:cubicBezTo>
                  <a:cubicBezTo>
                    <a:pt x="46" y="76"/>
                    <a:pt x="46" y="77"/>
                    <a:pt x="46" y="79"/>
                  </a:cubicBezTo>
                  <a:cubicBezTo>
                    <a:pt x="46" y="85"/>
                    <a:pt x="44" y="93"/>
                    <a:pt x="46" y="99"/>
                  </a:cubicBezTo>
                  <a:cubicBezTo>
                    <a:pt x="46" y="101"/>
                    <a:pt x="48" y="101"/>
                    <a:pt x="49" y="100"/>
                  </a:cubicBezTo>
                  <a:cubicBezTo>
                    <a:pt x="80" y="92"/>
                    <a:pt x="115" y="92"/>
                    <a:pt x="146" y="100"/>
                  </a:cubicBezTo>
                  <a:close/>
                  <a:moveTo>
                    <a:pt x="44" y="100"/>
                  </a:moveTo>
                  <a:cubicBezTo>
                    <a:pt x="43" y="97"/>
                    <a:pt x="43" y="93"/>
                    <a:pt x="43" y="89"/>
                  </a:cubicBezTo>
                  <a:cubicBezTo>
                    <a:pt x="43" y="84"/>
                    <a:pt x="44" y="80"/>
                    <a:pt x="44" y="77"/>
                  </a:cubicBezTo>
                  <a:cubicBezTo>
                    <a:pt x="43" y="75"/>
                    <a:pt x="42" y="74"/>
                    <a:pt x="41" y="73"/>
                  </a:cubicBezTo>
                  <a:cubicBezTo>
                    <a:pt x="38" y="69"/>
                    <a:pt x="37" y="64"/>
                    <a:pt x="40" y="60"/>
                  </a:cubicBezTo>
                  <a:cubicBezTo>
                    <a:pt x="42" y="57"/>
                    <a:pt x="45" y="55"/>
                    <a:pt x="45" y="52"/>
                  </a:cubicBezTo>
                  <a:cubicBezTo>
                    <a:pt x="45" y="49"/>
                    <a:pt x="44" y="43"/>
                    <a:pt x="37" y="41"/>
                  </a:cubicBezTo>
                  <a:cubicBezTo>
                    <a:pt x="23" y="41"/>
                    <a:pt x="23" y="41"/>
                    <a:pt x="23" y="41"/>
                  </a:cubicBezTo>
                  <a:cubicBezTo>
                    <a:pt x="22" y="44"/>
                    <a:pt x="22" y="50"/>
                    <a:pt x="23" y="53"/>
                  </a:cubicBezTo>
                  <a:cubicBezTo>
                    <a:pt x="25" y="57"/>
                    <a:pt x="28" y="61"/>
                    <a:pt x="28" y="67"/>
                  </a:cubicBezTo>
                  <a:cubicBezTo>
                    <a:pt x="28" y="77"/>
                    <a:pt x="28" y="77"/>
                    <a:pt x="28" y="77"/>
                  </a:cubicBezTo>
                  <a:cubicBezTo>
                    <a:pt x="29" y="77"/>
                    <a:pt x="29" y="77"/>
                    <a:pt x="29" y="77"/>
                  </a:cubicBezTo>
                  <a:cubicBezTo>
                    <a:pt x="29" y="77"/>
                    <a:pt x="33" y="75"/>
                    <a:pt x="35" y="80"/>
                  </a:cubicBezTo>
                  <a:cubicBezTo>
                    <a:pt x="36" y="82"/>
                    <a:pt x="36" y="86"/>
                    <a:pt x="37" y="89"/>
                  </a:cubicBezTo>
                  <a:cubicBezTo>
                    <a:pt x="38" y="92"/>
                    <a:pt x="40" y="95"/>
                    <a:pt x="41" y="97"/>
                  </a:cubicBezTo>
                  <a:cubicBezTo>
                    <a:pt x="42" y="98"/>
                    <a:pt x="43" y="100"/>
                    <a:pt x="44" y="100"/>
                  </a:cubicBezTo>
                  <a:close/>
                  <a:moveTo>
                    <a:pt x="21" y="41"/>
                  </a:moveTo>
                  <a:cubicBezTo>
                    <a:pt x="21" y="40"/>
                    <a:pt x="21" y="34"/>
                    <a:pt x="21" y="31"/>
                  </a:cubicBezTo>
                  <a:cubicBezTo>
                    <a:pt x="22" y="28"/>
                    <a:pt x="23" y="25"/>
                    <a:pt x="25" y="23"/>
                  </a:cubicBezTo>
                  <a:cubicBezTo>
                    <a:pt x="26" y="20"/>
                    <a:pt x="26" y="18"/>
                    <a:pt x="26" y="16"/>
                  </a:cubicBezTo>
                  <a:cubicBezTo>
                    <a:pt x="26" y="13"/>
                    <a:pt x="26" y="10"/>
                    <a:pt x="26" y="7"/>
                  </a:cubicBezTo>
                  <a:cubicBezTo>
                    <a:pt x="26" y="7"/>
                    <a:pt x="22" y="14"/>
                    <a:pt x="16" y="22"/>
                  </a:cubicBezTo>
                  <a:cubicBezTo>
                    <a:pt x="13" y="26"/>
                    <a:pt x="8" y="30"/>
                    <a:pt x="5" y="34"/>
                  </a:cubicBezTo>
                  <a:cubicBezTo>
                    <a:pt x="4" y="37"/>
                    <a:pt x="2" y="41"/>
                    <a:pt x="4" y="45"/>
                  </a:cubicBezTo>
                  <a:cubicBezTo>
                    <a:pt x="5" y="46"/>
                    <a:pt x="5" y="48"/>
                    <a:pt x="6" y="49"/>
                  </a:cubicBezTo>
                  <a:cubicBezTo>
                    <a:pt x="6" y="49"/>
                    <a:pt x="6" y="49"/>
                    <a:pt x="6" y="49"/>
                  </a:cubicBezTo>
                  <a:cubicBezTo>
                    <a:pt x="6" y="49"/>
                    <a:pt x="15" y="49"/>
                    <a:pt x="21" y="41"/>
                  </a:cubicBezTo>
                  <a:close/>
                  <a:moveTo>
                    <a:pt x="8" y="51"/>
                  </a:moveTo>
                  <a:cubicBezTo>
                    <a:pt x="13" y="56"/>
                    <a:pt x="19" y="62"/>
                    <a:pt x="20" y="69"/>
                  </a:cubicBezTo>
                  <a:cubicBezTo>
                    <a:pt x="20" y="71"/>
                    <a:pt x="19" y="80"/>
                    <a:pt x="20" y="80"/>
                  </a:cubicBezTo>
                  <a:cubicBezTo>
                    <a:pt x="20" y="81"/>
                    <a:pt x="21" y="81"/>
                    <a:pt x="22" y="80"/>
                  </a:cubicBezTo>
                  <a:cubicBezTo>
                    <a:pt x="22" y="80"/>
                    <a:pt x="24" y="79"/>
                    <a:pt x="26" y="78"/>
                  </a:cubicBezTo>
                  <a:cubicBezTo>
                    <a:pt x="26" y="76"/>
                    <a:pt x="26" y="72"/>
                    <a:pt x="26" y="67"/>
                  </a:cubicBezTo>
                  <a:cubicBezTo>
                    <a:pt x="26" y="64"/>
                    <a:pt x="24" y="59"/>
                    <a:pt x="22" y="56"/>
                  </a:cubicBezTo>
                  <a:cubicBezTo>
                    <a:pt x="20" y="53"/>
                    <a:pt x="20" y="49"/>
                    <a:pt x="20" y="46"/>
                  </a:cubicBezTo>
                  <a:cubicBezTo>
                    <a:pt x="20" y="46"/>
                    <a:pt x="14" y="50"/>
                    <a:pt x="8" y="51"/>
                  </a:cubicBezTo>
                  <a:close/>
                  <a:moveTo>
                    <a:pt x="8" y="27"/>
                  </a:moveTo>
                  <a:cubicBezTo>
                    <a:pt x="11" y="24"/>
                    <a:pt x="13" y="22"/>
                    <a:pt x="15" y="19"/>
                  </a:cubicBezTo>
                  <a:cubicBezTo>
                    <a:pt x="16" y="18"/>
                    <a:pt x="17" y="17"/>
                    <a:pt x="18" y="15"/>
                  </a:cubicBezTo>
                  <a:cubicBezTo>
                    <a:pt x="8" y="15"/>
                    <a:pt x="8" y="15"/>
                    <a:pt x="8" y="15"/>
                  </a:cubicBezTo>
                  <a:cubicBezTo>
                    <a:pt x="8" y="27"/>
                    <a:pt x="8" y="27"/>
                    <a:pt x="8" y="27"/>
                  </a:cubicBezTo>
                  <a:close/>
                  <a:moveTo>
                    <a:pt x="20" y="13"/>
                  </a:moveTo>
                  <a:cubicBezTo>
                    <a:pt x="21" y="12"/>
                    <a:pt x="22" y="10"/>
                    <a:pt x="23" y="9"/>
                  </a:cubicBezTo>
                  <a:cubicBezTo>
                    <a:pt x="22" y="6"/>
                    <a:pt x="18" y="4"/>
                    <a:pt x="13" y="4"/>
                  </a:cubicBezTo>
                  <a:cubicBezTo>
                    <a:pt x="8" y="4"/>
                    <a:pt x="4" y="6"/>
                    <a:pt x="4" y="9"/>
                  </a:cubicBezTo>
                  <a:cubicBezTo>
                    <a:pt x="4" y="11"/>
                    <a:pt x="5" y="12"/>
                    <a:pt x="7" y="13"/>
                  </a:cubicBezTo>
                  <a:cubicBezTo>
                    <a:pt x="7" y="13"/>
                    <a:pt x="8" y="13"/>
                    <a:pt x="8" y="13"/>
                  </a:cubicBezTo>
                  <a:cubicBezTo>
                    <a:pt x="19" y="13"/>
                    <a:pt x="19" y="13"/>
                    <a:pt x="19" y="13"/>
                  </a:cubicBezTo>
                  <a:cubicBezTo>
                    <a:pt x="20" y="13"/>
                    <a:pt x="20" y="13"/>
                    <a:pt x="20" y="13"/>
                  </a:cubicBezTo>
                  <a:close/>
                  <a:moveTo>
                    <a:pt x="151" y="100"/>
                  </a:moveTo>
                  <a:cubicBezTo>
                    <a:pt x="153" y="97"/>
                    <a:pt x="152" y="93"/>
                    <a:pt x="152" y="89"/>
                  </a:cubicBezTo>
                  <a:cubicBezTo>
                    <a:pt x="152" y="84"/>
                    <a:pt x="151" y="80"/>
                    <a:pt x="152" y="77"/>
                  </a:cubicBezTo>
                  <a:cubicBezTo>
                    <a:pt x="152" y="75"/>
                    <a:pt x="153" y="74"/>
                    <a:pt x="154" y="73"/>
                  </a:cubicBezTo>
                  <a:cubicBezTo>
                    <a:pt x="157" y="69"/>
                    <a:pt x="158" y="64"/>
                    <a:pt x="155" y="60"/>
                  </a:cubicBezTo>
                  <a:cubicBezTo>
                    <a:pt x="153" y="57"/>
                    <a:pt x="150" y="55"/>
                    <a:pt x="150" y="52"/>
                  </a:cubicBezTo>
                  <a:cubicBezTo>
                    <a:pt x="150" y="49"/>
                    <a:pt x="151" y="43"/>
                    <a:pt x="158" y="41"/>
                  </a:cubicBezTo>
                  <a:cubicBezTo>
                    <a:pt x="172" y="41"/>
                    <a:pt x="172" y="41"/>
                    <a:pt x="172" y="41"/>
                  </a:cubicBezTo>
                  <a:cubicBezTo>
                    <a:pt x="173" y="44"/>
                    <a:pt x="174" y="50"/>
                    <a:pt x="172" y="53"/>
                  </a:cubicBezTo>
                  <a:cubicBezTo>
                    <a:pt x="170" y="57"/>
                    <a:pt x="167" y="61"/>
                    <a:pt x="167" y="67"/>
                  </a:cubicBezTo>
                  <a:cubicBezTo>
                    <a:pt x="167" y="77"/>
                    <a:pt x="167" y="77"/>
                    <a:pt x="167" y="77"/>
                  </a:cubicBezTo>
                  <a:cubicBezTo>
                    <a:pt x="167" y="77"/>
                    <a:pt x="166" y="77"/>
                    <a:pt x="166" y="77"/>
                  </a:cubicBezTo>
                  <a:cubicBezTo>
                    <a:pt x="166" y="77"/>
                    <a:pt x="162" y="75"/>
                    <a:pt x="160" y="80"/>
                  </a:cubicBezTo>
                  <a:cubicBezTo>
                    <a:pt x="159" y="82"/>
                    <a:pt x="159" y="86"/>
                    <a:pt x="158" y="89"/>
                  </a:cubicBezTo>
                  <a:cubicBezTo>
                    <a:pt x="157" y="92"/>
                    <a:pt x="155" y="95"/>
                    <a:pt x="154" y="97"/>
                  </a:cubicBezTo>
                  <a:cubicBezTo>
                    <a:pt x="153" y="98"/>
                    <a:pt x="152" y="100"/>
                    <a:pt x="151" y="100"/>
                  </a:cubicBezTo>
                  <a:close/>
                  <a:moveTo>
                    <a:pt x="174" y="41"/>
                  </a:moveTo>
                  <a:cubicBezTo>
                    <a:pt x="174" y="40"/>
                    <a:pt x="174" y="34"/>
                    <a:pt x="174" y="31"/>
                  </a:cubicBezTo>
                  <a:cubicBezTo>
                    <a:pt x="174" y="28"/>
                    <a:pt x="172" y="25"/>
                    <a:pt x="171" y="23"/>
                  </a:cubicBezTo>
                  <a:cubicBezTo>
                    <a:pt x="170" y="20"/>
                    <a:pt x="169" y="18"/>
                    <a:pt x="169" y="16"/>
                  </a:cubicBezTo>
                  <a:cubicBezTo>
                    <a:pt x="169" y="13"/>
                    <a:pt x="169" y="10"/>
                    <a:pt x="169" y="7"/>
                  </a:cubicBezTo>
                  <a:cubicBezTo>
                    <a:pt x="169" y="7"/>
                    <a:pt x="173" y="14"/>
                    <a:pt x="179" y="22"/>
                  </a:cubicBezTo>
                  <a:cubicBezTo>
                    <a:pt x="183" y="26"/>
                    <a:pt x="187" y="30"/>
                    <a:pt x="190" y="34"/>
                  </a:cubicBezTo>
                  <a:cubicBezTo>
                    <a:pt x="192" y="37"/>
                    <a:pt x="193" y="41"/>
                    <a:pt x="191" y="45"/>
                  </a:cubicBezTo>
                  <a:cubicBezTo>
                    <a:pt x="191" y="46"/>
                    <a:pt x="190" y="48"/>
                    <a:pt x="189" y="49"/>
                  </a:cubicBezTo>
                  <a:cubicBezTo>
                    <a:pt x="189" y="49"/>
                    <a:pt x="189" y="49"/>
                    <a:pt x="189" y="49"/>
                  </a:cubicBezTo>
                  <a:cubicBezTo>
                    <a:pt x="189" y="49"/>
                    <a:pt x="180" y="49"/>
                    <a:pt x="174" y="41"/>
                  </a:cubicBezTo>
                  <a:close/>
                  <a:moveTo>
                    <a:pt x="187" y="51"/>
                  </a:moveTo>
                  <a:cubicBezTo>
                    <a:pt x="182" y="56"/>
                    <a:pt x="176" y="62"/>
                    <a:pt x="176" y="69"/>
                  </a:cubicBezTo>
                  <a:cubicBezTo>
                    <a:pt x="176" y="71"/>
                    <a:pt x="176" y="80"/>
                    <a:pt x="175" y="80"/>
                  </a:cubicBezTo>
                  <a:cubicBezTo>
                    <a:pt x="175" y="81"/>
                    <a:pt x="174" y="81"/>
                    <a:pt x="173" y="80"/>
                  </a:cubicBezTo>
                  <a:cubicBezTo>
                    <a:pt x="173" y="80"/>
                    <a:pt x="171" y="79"/>
                    <a:pt x="169" y="78"/>
                  </a:cubicBezTo>
                  <a:cubicBezTo>
                    <a:pt x="169" y="76"/>
                    <a:pt x="169" y="72"/>
                    <a:pt x="169" y="67"/>
                  </a:cubicBezTo>
                  <a:cubicBezTo>
                    <a:pt x="169" y="64"/>
                    <a:pt x="171" y="59"/>
                    <a:pt x="173" y="56"/>
                  </a:cubicBezTo>
                  <a:cubicBezTo>
                    <a:pt x="175" y="53"/>
                    <a:pt x="176" y="49"/>
                    <a:pt x="175" y="46"/>
                  </a:cubicBezTo>
                  <a:cubicBezTo>
                    <a:pt x="175" y="46"/>
                    <a:pt x="181" y="50"/>
                    <a:pt x="187" y="51"/>
                  </a:cubicBezTo>
                  <a:close/>
                  <a:moveTo>
                    <a:pt x="187" y="27"/>
                  </a:moveTo>
                  <a:cubicBezTo>
                    <a:pt x="184" y="24"/>
                    <a:pt x="182" y="22"/>
                    <a:pt x="180" y="19"/>
                  </a:cubicBezTo>
                  <a:cubicBezTo>
                    <a:pt x="179" y="18"/>
                    <a:pt x="178" y="17"/>
                    <a:pt x="177" y="15"/>
                  </a:cubicBezTo>
                  <a:cubicBezTo>
                    <a:pt x="187" y="15"/>
                    <a:pt x="187" y="15"/>
                    <a:pt x="187" y="15"/>
                  </a:cubicBezTo>
                  <a:cubicBezTo>
                    <a:pt x="187" y="27"/>
                    <a:pt x="187" y="27"/>
                    <a:pt x="187" y="27"/>
                  </a:cubicBezTo>
                  <a:close/>
                  <a:moveTo>
                    <a:pt x="175" y="13"/>
                  </a:moveTo>
                  <a:cubicBezTo>
                    <a:pt x="174" y="12"/>
                    <a:pt x="173" y="10"/>
                    <a:pt x="172" y="9"/>
                  </a:cubicBezTo>
                  <a:cubicBezTo>
                    <a:pt x="173" y="6"/>
                    <a:pt x="177" y="4"/>
                    <a:pt x="182" y="4"/>
                  </a:cubicBezTo>
                  <a:cubicBezTo>
                    <a:pt x="187" y="4"/>
                    <a:pt x="191" y="6"/>
                    <a:pt x="191" y="9"/>
                  </a:cubicBezTo>
                  <a:cubicBezTo>
                    <a:pt x="191" y="11"/>
                    <a:pt x="190" y="12"/>
                    <a:pt x="189" y="13"/>
                  </a:cubicBezTo>
                  <a:cubicBezTo>
                    <a:pt x="188" y="13"/>
                    <a:pt x="187" y="13"/>
                    <a:pt x="187" y="13"/>
                  </a:cubicBezTo>
                  <a:cubicBezTo>
                    <a:pt x="176" y="13"/>
                    <a:pt x="176" y="13"/>
                    <a:pt x="176" y="13"/>
                  </a:cubicBezTo>
                  <a:cubicBezTo>
                    <a:pt x="176" y="13"/>
                    <a:pt x="175" y="13"/>
                    <a:pt x="175"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bg1"/>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tags/tag1.xml><?xml version="1.0" encoding="utf-8"?>
<p:tagLst xmlns:p="http://schemas.openxmlformats.org/presentationml/2006/main">
  <p:tag name="AS_NET" val="4.0.30319.42000"/>
  <p:tag name="AS_OS" val="Microsoft Windows NT 6.2.9200.0"/>
  <p:tag name="AS_RELEASE_DATE" val="2020.04.14"/>
  <p:tag name="AS_TITLE" val="Aspose.Slides for .NET 4.0 Client Profile"/>
  <p:tag name="AS_VERSION" val="20.4"/>
  <p:tag name="ISPRING_PRESENTATION_TITLE" val="当图网 www.99ppt.com"/>
</p:tagLst>
</file>

<file path=ppt/theme/theme1.xml><?xml version="1.0" encoding="utf-8"?>
<a:theme xmlns:a="http://schemas.openxmlformats.org/drawingml/2006/main">
  <a:themeElements>
    <a:clrScheme name="深蓝质感1">
      <a:dk1>
        <a:sysClr val="windowText" lastClr="000000"/>
      </a:dk1>
      <a:lt1>
        <a:sysClr val="window" lastClr="FFFFFF"/>
      </a:lt1>
      <a:dk2>
        <a:srgbClr val="44546A"/>
      </a:dk2>
      <a:lt2>
        <a:srgbClr val="E7E6E6"/>
      </a:lt2>
      <a:accent1>
        <a:srgbClr val="212834"/>
      </a:accent1>
      <a:accent2>
        <a:srgbClr val="FEDA5B"/>
      </a:accent2>
      <a:accent3>
        <a:srgbClr val="F5821F"/>
      </a:accent3>
      <a:accent4>
        <a:srgbClr val="BCBEC0"/>
      </a:accent4>
      <a:accent5>
        <a:srgbClr val="4472C4"/>
      </a:accent5>
      <a:accent6>
        <a:srgbClr val="70AD47"/>
      </a:accent6>
      <a:hlink>
        <a:srgbClr val="000000"/>
      </a:hlink>
      <a:folHlink>
        <a:srgbClr val="954F72"/>
      </a:folHlink>
    </a:clrScheme>
    <a:fontScheme name="标准1">
      <a:majorFont>
        <a:latin typeface="微软雅黑"/>
        <a:ea typeface="微软雅黑"/>
        <a:cs typeface="Arial"/>
      </a:majorFont>
      <a:minorFont>
        <a:latin typeface="Calibri Light"/>
        <a:ea typeface="微软雅黑 Light"/>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11306</Words>
  <Application>WPS 演示</Application>
  <PresentationFormat>On-screen Show (16:9)</PresentationFormat>
  <Paragraphs>374</Paragraphs>
  <Slides>38</Slides>
  <Notes>21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38</vt:i4>
      </vt:variant>
    </vt:vector>
  </HeadingPairs>
  <TitlesOfParts>
    <vt:vector size="55" baseType="lpstr">
      <vt:lpstr>Arial</vt:lpstr>
      <vt:lpstr>宋体</vt:lpstr>
      <vt:lpstr>Wingdings</vt:lpstr>
      <vt:lpstr>微软雅黑</vt:lpstr>
      <vt:lpstr>Calibri</vt:lpstr>
      <vt:lpstr>黑体</vt:lpstr>
      <vt:lpstr>Calibri Light</vt:lpstr>
      <vt:lpstr>方正宋刻本秀楷简体</vt:lpstr>
      <vt:lpstr>方正兰亭黑_GBK</vt:lpstr>
      <vt:lpstr>方正兰亭黑_GBK</vt:lpstr>
      <vt:lpstr>Gill Sans</vt:lpstr>
      <vt:lpstr>Arial Unicode MS</vt:lpstr>
      <vt:lpstr>微软雅黑 Light</vt:lpstr>
      <vt:lpstr>Segoe UI</vt:lpstr>
      <vt:lpstr>Gill Sans MT</vt:lpstr>
      <vt:lpstr>Saturday Sans Regular</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犇犇</cp:lastModifiedBy>
  <cp:revision>2</cp:revision>
  <cp:lastPrinted>2026-06-02T03:48:00Z</cp:lastPrinted>
  <dcterms:created xsi:type="dcterms:W3CDTF">2026-07-03T12:00:12Z</dcterms:created>
  <dcterms:modified xsi:type="dcterms:W3CDTF">2026-07-03T12:04:29Z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CCD90CCFB94A9CA8C646196A8893B6FA_42</vt:lpwstr>
  </property>
  <property fmtid="{D5CDD505-2E9C-101B-9397-08002B2CF9AE}" pid="3" name="KSOProductBuildVer">
    <vt:lpwstr>2052-12.1.0.26895</vt:lpwstr>
  </property>
</Properties>
</file>